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0" y="0"/>
            <a:ext cx="3474720" cy="3108960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0" y="0"/>
            <a:ext cx="3474720" cy="3108960"/>
          </a:xfrm>
          <a:prstGeom prst="rect">
            <a:avLst/>
          </a:prstGeom>
          <a:solidFill>
            <a:srgbClr val="020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03520" y="0"/>
            <a:ext cx="457200" cy="5138928"/>
          </a:xfrm>
          <a:prstGeom prst="rect">
            <a:avLst/>
          </a:prstGeom>
          <a:solidFill>
            <a:srgbClr val="142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705856" y="0"/>
            <a:ext cx="54864" cy="5138928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73152" cy="5138928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7744" y="256032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800" b="1" i="0">
                <a:solidFill>
                  <a:srgbClr val="C6F135"/>
                </a:solidFill>
                <a:latin typeface="League Spartan"/>
              </a:rPr>
              <a:t>NUUL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" y="1938528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77777"/>
                </a:solidFill>
                <a:latin typeface="Courier New"/>
              </a:rPr>
              <a:t>NotTheBestPlaceToBuyStuff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" y="2304288"/>
            <a:ext cx="5120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League Spartan"/>
              </a:rPr>
              <a:t>One garment. Four modes. Nothing like it exists.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7744" y="2743200"/>
            <a:ext cx="3474720" cy="36576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744" y="2816352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C8A84B"/>
                </a:solidFill>
                <a:latin typeface="Courier New"/>
              </a:rPr>
              <a:t>Cohort 5  |  Application Pitch Deck</a:t>
            </a:r>
          </a:p>
          <a:p>
            <a:pPr algn="l"/>
          </a:p>
          <a:p>
            <a:pPr algn="l"/>
            <a:r>
              <a:rPr sz="950" b="0">
                <a:solidFill>
                  <a:srgbClr val="AAAAAA"/>
                </a:solidFill>
                <a:latin typeface="Courier New"/>
              </a:rPr>
              <a:t>Founder:  [ Your Name ]</a:t>
            </a:r>
          </a:p>
          <a:p>
            <a:pPr algn="l"/>
            <a:r>
              <a:rPr sz="950" b="0">
                <a:solidFill>
                  <a:srgbClr val="AAAAAA"/>
                </a:solidFill>
                <a:latin typeface="Courier New"/>
              </a:rPr>
              <a:t>Domain:   D2C / Fashion-Tech / Wearable Systems</a:t>
            </a:r>
          </a:p>
          <a:p>
            <a:pPr algn="l"/>
            <a:r>
              <a:rPr sz="950" b="0">
                <a:solidFill>
                  <a:srgbClr val="AAAAAA"/>
                </a:solidFill>
                <a:latin typeface="Courier New"/>
              </a:rPr>
              <a:t>Stage:    Prototype / Pre-Revenue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88736" y="201168"/>
            <a:ext cx="3017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League Spartan"/>
              </a:rPr>
              <a:t>BATCH 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88736" y="676656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  <a:latin typeface="Courier New"/>
              </a:rPr>
              <a:t>— Limited Run Drop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88736" y="950976"/>
            <a:ext cx="3017520" cy="3657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888736" y="1042415"/>
            <a:ext cx="1444752" cy="932688"/>
          </a:xfrm>
          <a:prstGeom prst="rect">
            <a:avLst/>
          </a:prstGeom>
          <a:solidFill>
            <a:srgbClr val="1A2606"/>
          </a:solidFill>
          <a:ln w="9525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88736" y="1133855"/>
            <a:ext cx="14447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6F135"/>
                </a:solidFill>
                <a:latin typeface="League Spartan"/>
              </a:rPr>
              <a:t>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88736" y="1700783"/>
            <a:ext cx="14447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777777"/>
                </a:solidFill>
                <a:latin typeface="Courier New"/>
              </a:rPr>
              <a:t>PIECES ONLY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24928" y="1042415"/>
            <a:ext cx="1444752" cy="932688"/>
          </a:xfrm>
          <a:prstGeom prst="rect">
            <a:avLst/>
          </a:prstGeom>
          <a:solidFill>
            <a:srgbClr val="220610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24928" y="1133855"/>
            <a:ext cx="14447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League Spartan"/>
              </a:rPr>
              <a:t>₹6,500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4928" y="1700783"/>
            <a:ext cx="14447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777777"/>
                </a:solidFill>
                <a:latin typeface="Courier New"/>
              </a:rPr>
              <a:t>SELL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88736" y="2066543"/>
            <a:ext cx="1444752" cy="932688"/>
          </a:xfrm>
          <a:prstGeom prst="rect">
            <a:avLst/>
          </a:prstGeom>
          <a:solidFill>
            <a:srgbClr val="221E00"/>
          </a:solidFill>
          <a:ln w="9525">
            <a:solidFill>
              <a:srgbClr val="FFE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88736" y="2157983"/>
            <a:ext cx="14447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E500"/>
                </a:solidFill>
                <a:latin typeface="League Spartan"/>
              </a:rPr>
              <a:t>57%+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88736" y="2724911"/>
            <a:ext cx="14447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777777"/>
                </a:solidFill>
                <a:latin typeface="Courier New"/>
              </a:rPr>
              <a:t>GROSS MARGIN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24928" y="2066543"/>
            <a:ext cx="1444752" cy="932688"/>
          </a:xfrm>
          <a:prstGeom prst="rect">
            <a:avLst/>
          </a:prstGeom>
          <a:solidFill>
            <a:srgbClr val="220610"/>
          </a:solidFill>
          <a:ln w="9525">
            <a:solidFill>
              <a:srgbClr val="FF2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24928" y="2157983"/>
            <a:ext cx="14447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2D78"/>
                </a:solidFill>
                <a:latin typeface="League Spartan"/>
              </a:rPr>
              <a:t>4 Modes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24928" y="2724911"/>
            <a:ext cx="14447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777777"/>
                </a:solidFill>
                <a:latin typeface="Courier New"/>
              </a:rPr>
              <a:t>ONE GARMENT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8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0"/>
            <a:ext cx="2286000" cy="5138928"/>
          </a:xfrm>
          <a:prstGeom prst="rect">
            <a:avLst/>
          </a:prstGeom>
          <a:solidFill>
            <a:srgbClr val="220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0" y="0"/>
            <a:ext cx="54864" cy="5138928"/>
          </a:xfrm>
          <a:prstGeom prst="rect">
            <a:avLst/>
          </a:prstGeom>
          <a:solidFill>
            <a:srgbClr val="FF2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5138928"/>
          </a:xfrm>
          <a:prstGeom prst="rect">
            <a:avLst/>
          </a:prstGeom>
          <a:solidFill>
            <a:srgbClr val="FF2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09728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FF2D78"/>
                </a:solidFill>
                <a:latin typeface="Courier New"/>
              </a:rPr>
              <a:t>SLIDE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" y="109728"/>
            <a:ext cx="6858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2D78"/>
                </a:solidFill>
                <a:latin typeface="League Spartan"/>
              </a:rPr>
              <a:t>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" y="51206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  <a:latin typeface="Courier New"/>
              </a:rPr>
              <a:t>What pain point are you solving, and who feels it most?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" y="822960"/>
            <a:ext cx="6547104" cy="566928"/>
          </a:xfrm>
          <a:prstGeom prst="rect">
            <a:avLst/>
          </a:prstGeom>
          <a:solidFill>
            <a:srgbClr val="220610"/>
          </a:solidFill>
          <a:ln w="10160">
            <a:solidFill>
              <a:srgbClr val="FF2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" y="914400"/>
            <a:ext cx="6309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eague Spartan"/>
              </a:rPr>
              <a:t>Fashion-forward Indian consumers spend ₹8,000+ on four separate items — just not this smartly.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7744" y="1481328"/>
            <a:ext cx="1463040" cy="749808"/>
          </a:xfrm>
          <a:prstGeom prst="rect">
            <a:avLst/>
          </a:prstGeom>
          <a:solidFill>
            <a:srgbClr val="1C1C1C"/>
          </a:solidFill>
          <a:ln w="6350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744" y="1536192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6F135"/>
                </a:solidFill>
                <a:latin typeface="League Spartan"/>
              </a:rPr>
              <a:t>₹2–3K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" y="188366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777777"/>
                </a:solidFill>
                <a:latin typeface="Courier New"/>
              </a:rPr>
              <a:t>Watch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37360" y="1481328"/>
            <a:ext cx="1463040" cy="749808"/>
          </a:xfrm>
          <a:prstGeom prst="rect">
            <a:avLst/>
          </a:prstGeom>
          <a:solidFill>
            <a:srgbClr val="1C1C1C"/>
          </a:solidFill>
          <a:ln w="6350">
            <a:solidFill>
              <a:srgbClr val="FFE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37360" y="1536192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E500"/>
                </a:solidFill>
                <a:latin typeface="League Spartan"/>
              </a:rPr>
              <a:t>₹1–2K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188366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777777"/>
                </a:solidFill>
                <a:latin typeface="Courier New"/>
              </a:rPr>
              <a:t>Wallet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36976" y="1481328"/>
            <a:ext cx="1463040" cy="749808"/>
          </a:xfrm>
          <a:prstGeom prst="rect">
            <a:avLst/>
          </a:prstGeom>
          <a:solidFill>
            <a:srgbClr val="1C1C1C"/>
          </a:solidFill>
          <a:ln w="6350">
            <a:solidFill>
              <a:srgbClr val="FF2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36976" y="1536192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2D78"/>
                </a:solidFill>
                <a:latin typeface="League Spartan"/>
              </a:rPr>
              <a:t>₹1–2K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36976" y="188366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777777"/>
                </a:solidFill>
                <a:latin typeface="Courier New"/>
              </a:rPr>
              <a:t>T-Shirt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36592" y="1481328"/>
            <a:ext cx="1463040" cy="749808"/>
          </a:xfrm>
          <a:prstGeom prst="rect">
            <a:avLst/>
          </a:prstGeom>
          <a:solidFill>
            <a:srgbClr val="1C1C1C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6592" y="1536192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League Spartan"/>
              </a:rPr>
              <a:t>₹1–2K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6592" y="188366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777777"/>
                </a:solidFill>
                <a:latin typeface="Courier New"/>
              </a:rPr>
              <a:t>Utility Bag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1627632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6F135"/>
                </a:solidFill>
                <a:latin typeface="League Spartan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55664" y="1481328"/>
            <a:ext cx="329184" cy="749808"/>
          </a:xfrm>
          <a:prstGeom prst="rect">
            <a:avLst/>
          </a:prstGeom>
          <a:solidFill>
            <a:srgbClr val="1A2606"/>
          </a:solidFill>
          <a:ln w="15240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5664" y="1536192"/>
            <a:ext cx="3291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C6F135"/>
                </a:solidFill>
                <a:latin typeface="Courier New"/>
              </a:rPr>
              <a:t>₹6,500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5664" y="1883664"/>
            <a:ext cx="3291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1" i="0">
                <a:solidFill>
                  <a:srgbClr val="C6F135"/>
                </a:solidFill>
                <a:latin typeface="Courier New"/>
              </a:rPr>
              <a:t>NUUL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37744" y="2340864"/>
            <a:ext cx="2157984" cy="1316736"/>
          </a:xfrm>
          <a:prstGeom prst="rect">
            <a:avLst/>
          </a:prstGeom>
          <a:solidFill>
            <a:srgbClr val="1C1C1C"/>
          </a:solidFill>
          <a:ln w="6350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37744" y="2340864"/>
            <a:ext cx="45720" cy="1316736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" y="2432304"/>
            <a:ext cx="19933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6F135"/>
                </a:solidFill>
                <a:latin typeface="Courier New"/>
              </a:rPr>
              <a:t>👤  WHO FEELS 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7472" y="2688336"/>
            <a:ext cx="199339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</a:pPr>
            <a:r>
              <a:rPr sz="950" b="0">
                <a:solidFill>
                  <a:srgbClr val="CCCCCC"/>
                </a:solidFill>
                <a:latin typeface="Calibri"/>
              </a:rPr>
              <a:t>Urban Indian consumer, 18–30, fashion-forward, style-conscious. Buys 4 separate items with zero integration between them.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68880" y="2340864"/>
            <a:ext cx="2157984" cy="1316736"/>
          </a:xfrm>
          <a:prstGeom prst="rect">
            <a:avLst/>
          </a:prstGeom>
          <a:solidFill>
            <a:srgbClr val="1C1C1C"/>
          </a:solidFill>
          <a:ln w="6350">
            <a:solidFill>
              <a:srgbClr val="FFE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468880" y="2340864"/>
            <a:ext cx="45720" cy="1316736"/>
          </a:xfrm>
          <a:prstGeom prst="rect">
            <a:avLst/>
          </a:prstGeom>
          <a:solidFill>
            <a:srgbClr val="FF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578608" y="2432304"/>
            <a:ext cx="19933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E500"/>
                </a:solidFill>
                <a:latin typeface="Courier New"/>
              </a:rPr>
              <a:t>📊  HOW BIG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78608" y="2688336"/>
            <a:ext cx="199339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</a:pPr>
            <a:r>
              <a:rPr sz="950" b="0">
                <a:solidFill>
                  <a:srgbClr val="CCCCCC"/>
                </a:solidFill>
                <a:latin typeface="Calibri"/>
              </a:rPr>
              <a:t>₹5K–9K spent per person on disconnected items. India premium apparel market: ₹2.5L Cr+ growing 12% YoY.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00016" y="2340864"/>
            <a:ext cx="2157984" cy="1316736"/>
          </a:xfrm>
          <a:prstGeom prst="rect">
            <a:avLst/>
          </a:prstGeom>
          <a:solidFill>
            <a:srgbClr val="1C1C1C"/>
          </a:solidFill>
          <a:ln w="6350">
            <a:solidFill>
              <a:srgbClr val="FF2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700016" y="2340864"/>
            <a:ext cx="45720" cy="1316736"/>
          </a:xfrm>
          <a:prstGeom prst="rect">
            <a:avLst/>
          </a:prstGeom>
          <a:solidFill>
            <a:srgbClr val="FF2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09744" y="2432304"/>
            <a:ext cx="19933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2D78"/>
                </a:solidFill>
                <a:latin typeface="Courier New"/>
              </a:rPr>
              <a:t>🔍  HOW DISCOVERED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9744" y="2688336"/>
            <a:ext cx="199339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</a:pPr>
            <a:r>
              <a:rPr sz="950" b="0">
                <a:solidFill>
                  <a:srgbClr val="CCCCCC"/>
                </a:solidFill>
                <a:latin typeface="Calibri"/>
              </a:rPr>
              <a:t>Built from personal frustration. No Indian brand combined thermochromic aesthetics + modular carry + accessory integration.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081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0" cy="5138928"/>
          </a:xfrm>
          <a:prstGeom prst="rect">
            <a:avLst/>
          </a:prstGeom>
          <a:solidFill>
            <a:srgbClr val="1A26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419856" y="0"/>
            <a:ext cx="54864" cy="5138928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5138928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09728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C6F135"/>
                </a:solidFill>
                <a:latin typeface="Courier New"/>
              </a:rPr>
              <a:t>SLIDE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" y="109728"/>
            <a:ext cx="6858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6F135"/>
                </a:solidFill>
                <a:latin typeface="League Spartan"/>
              </a:rPr>
              <a:t>YOUR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" y="51206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  <a:latin typeface="Courier New"/>
              </a:rPr>
              <a:t>What are you building, and how does it solve the problem?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" y="822960"/>
            <a:ext cx="8668512" cy="493776"/>
          </a:xfrm>
          <a:prstGeom prst="rect">
            <a:avLst/>
          </a:prstGeom>
          <a:solidFill>
            <a:srgbClr val="1A2606"/>
          </a:solidFill>
          <a:ln w="10160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" y="896112"/>
            <a:ext cx="84856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League Spartan"/>
              </a:rPr>
              <a:t>NUUL 01 — a single modular garment that is T-shirt, carry bag, wallet, and watch carrier. Simultaneously.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7744" y="1426464"/>
            <a:ext cx="2816352" cy="2176272"/>
          </a:xfrm>
          <a:prstGeom prst="rect">
            <a:avLst/>
          </a:prstGeom>
          <a:solidFill>
            <a:srgbClr val="1C1C1C"/>
          </a:solidFill>
          <a:ln w="7620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7744" y="1426464"/>
            <a:ext cx="2816352" cy="45720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1517904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C6F135"/>
                </a:solidFill>
                <a:latin typeface="League Spartan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1572768"/>
            <a:ext cx="208483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6F135"/>
                </a:solidFill>
                <a:latin typeface="League Spartan"/>
              </a:rPr>
              <a:t>WEAR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" y="1938528"/>
            <a:ext cx="261518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  <a:latin typeface="Calibri"/>
              </a:rPr>
              <a:t>Put it on. T-shirt with built-in watch pocket, front wallet patch (NUUL embroidered, hides a 2-card wallet), and a structured back panel with ghost-print design underneath.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45536" y="1426464"/>
            <a:ext cx="2816352" cy="2176272"/>
          </a:xfrm>
          <a:prstGeom prst="rect">
            <a:avLst/>
          </a:prstGeom>
          <a:solidFill>
            <a:srgbClr val="1C1C1C"/>
          </a:solidFill>
          <a:ln w="7620">
            <a:solidFill>
              <a:srgbClr val="FFE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145536" y="1426464"/>
            <a:ext cx="2816352" cy="45720"/>
          </a:xfrm>
          <a:prstGeom prst="rect">
            <a:avLst/>
          </a:prstGeom>
          <a:solidFill>
            <a:srgbClr val="FF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55264" y="1517904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E500"/>
                </a:solidFill>
                <a:latin typeface="League Spartan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03904" y="1572768"/>
            <a:ext cx="208483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E500"/>
                </a:solidFill>
                <a:latin typeface="League Spartan"/>
              </a:rPr>
              <a:t>STEP OUTSIDE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55264" y="1938528"/>
            <a:ext cx="261518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  <a:latin typeface="Calibri"/>
              </a:rPr>
              <a:t>Thermochromic coating reacts to body heat + sunlight at 31°C. Hidden design reveals front and back simultaneously. Customer discovers it post-purchase — no explanation needed.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53328" y="1426464"/>
            <a:ext cx="2816352" cy="2176272"/>
          </a:xfrm>
          <a:prstGeom prst="rect">
            <a:avLst/>
          </a:prstGeom>
          <a:solidFill>
            <a:srgbClr val="1C1C1C"/>
          </a:solidFill>
          <a:ln w="7620">
            <a:solidFill>
              <a:srgbClr val="FF2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53328" y="1426464"/>
            <a:ext cx="2816352" cy="45720"/>
          </a:xfrm>
          <a:prstGeom prst="rect">
            <a:avLst/>
          </a:prstGeom>
          <a:solidFill>
            <a:srgbClr val="FF2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63056" y="1517904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2D78"/>
                </a:solidFill>
                <a:latin typeface="League Spartan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11696" y="1572768"/>
            <a:ext cx="208483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2D78"/>
                </a:solidFill>
                <a:latin typeface="League Spartan"/>
              </a:rPr>
              <a:t>DETACH &amp; CARRY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63056" y="1938528"/>
            <a:ext cx="261518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  <a:latin typeface="Calibri"/>
              </a:rPr>
              <a:t>Unsnap the back panel. One fold. Gussets expand. POM snaps close the bag. 40cm × 23cm × 3cm carry bag — watch pocket built in. Zero extra hardware.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37744" y="3730752"/>
            <a:ext cx="8668512" cy="566928"/>
          </a:xfrm>
          <a:prstGeom prst="rect">
            <a:avLst/>
          </a:prstGeom>
          <a:solidFill>
            <a:srgbClr val="121212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9184" y="3785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6F135"/>
                </a:solidFill>
                <a:latin typeface="Courier New"/>
              </a:rPr>
              <a:t>THE 4 MODES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00784" y="3785616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6F135"/>
                </a:solidFill>
                <a:latin typeface="League Spartan"/>
              </a:rPr>
              <a:t>WEAR MODE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1296" y="3785616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E500"/>
                </a:solidFill>
                <a:latin typeface="League Spartan"/>
              </a:rPr>
              <a:t>BAG MODE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21808" y="3785616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2D78"/>
                </a:solidFill>
                <a:latin typeface="League Spartan"/>
              </a:rPr>
              <a:t>ART MODE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0" y="3785616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League Spartan"/>
              </a:rPr>
              <a:t>GHOST PRINT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080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0" y="0"/>
            <a:ext cx="3200400" cy="5138928"/>
          </a:xfrm>
          <a:prstGeom prst="rect">
            <a:avLst/>
          </a:prstGeom>
          <a:solidFill>
            <a:srgbClr val="221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0" y="0"/>
            <a:ext cx="54864" cy="5138928"/>
          </a:xfrm>
          <a:prstGeom prst="rect">
            <a:avLst/>
          </a:prstGeom>
          <a:solidFill>
            <a:srgbClr val="FF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5138928"/>
          </a:xfrm>
          <a:prstGeom prst="rect">
            <a:avLst/>
          </a:prstGeom>
          <a:solidFill>
            <a:srgbClr val="FF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09728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FFE500"/>
                </a:solidFill>
                <a:latin typeface="Courier New"/>
              </a:rPr>
              <a:t>SLIDE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" y="109728"/>
            <a:ext cx="6858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E500"/>
                </a:solidFill>
                <a:latin typeface="League Spartan"/>
              </a:rPr>
              <a:t>MARKET OPPORTUNITY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" y="51206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  <a:latin typeface="Courier New"/>
              </a:rPr>
              <a:t>How large is the market you are going after?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" y="822960"/>
            <a:ext cx="1883664" cy="1572768"/>
          </a:xfrm>
          <a:prstGeom prst="rect">
            <a:avLst/>
          </a:prstGeom>
          <a:solidFill>
            <a:srgbClr val="1C1C1C"/>
          </a:solidFill>
          <a:ln w="7620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7744" y="822960"/>
            <a:ext cx="1883664" cy="45720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914400"/>
            <a:ext cx="1371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C6F135"/>
                </a:solidFill>
                <a:latin typeface="League Spartan"/>
              </a:rPr>
              <a:t>TAM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" y="133502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League Spartan"/>
              </a:rPr>
              <a:t>₹2.5L Cr+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" y="1719072"/>
            <a:ext cx="17373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  <a:latin typeface="Calibri"/>
              </a:rPr>
              <a:t>India Premium Apparel Market — growing 12% YoY (Redseer 2024)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94560" y="822960"/>
            <a:ext cx="1883664" cy="1572768"/>
          </a:xfrm>
          <a:prstGeom prst="rect">
            <a:avLst/>
          </a:prstGeom>
          <a:solidFill>
            <a:srgbClr val="1C1C1C"/>
          </a:solidFill>
          <a:ln w="7620">
            <a:solidFill>
              <a:srgbClr val="FFE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94560" y="822960"/>
            <a:ext cx="1883664" cy="45720"/>
          </a:xfrm>
          <a:prstGeom prst="rect">
            <a:avLst/>
          </a:prstGeom>
          <a:solidFill>
            <a:srgbClr val="FF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04288" y="914400"/>
            <a:ext cx="1371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E500"/>
                </a:solidFill>
                <a:latin typeface="League Spartan"/>
              </a:rPr>
              <a:t>SAM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04288" y="133502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League Spartan"/>
              </a:rPr>
              <a:t>₹15,000 Cr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1719072"/>
            <a:ext cx="17373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  <a:latin typeface="Calibri"/>
              </a:rPr>
              <a:t>Urban streetwear &amp; utility fashion, 18–30, top-8 metros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51376" y="822960"/>
            <a:ext cx="1883664" cy="1572768"/>
          </a:xfrm>
          <a:prstGeom prst="rect">
            <a:avLst/>
          </a:prstGeom>
          <a:solidFill>
            <a:srgbClr val="1C1C1C"/>
          </a:solidFill>
          <a:ln w="7620">
            <a:solidFill>
              <a:srgbClr val="FF2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51376" y="822960"/>
            <a:ext cx="1883664" cy="45720"/>
          </a:xfrm>
          <a:prstGeom prst="rect">
            <a:avLst/>
          </a:prstGeom>
          <a:solidFill>
            <a:srgbClr val="FF2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61104" y="914400"/>
            <a:ext cx="1371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2D78"/>
                </a:solidFill>
                <a:latin typeface="League Spartan"/>
              </a:rPr>
              <a:t>SOM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61104" y="133502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League Spartan"/>
              </a:rPr>
              <a:t>₹65L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61104" y="1719072"/>
            <a:ext cx="17373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  <a:latin typeface="Calibri"/>
              </a:rPr>
              <a:t>Batch 01: 100 units × ₹6,500. Scale via limited drops each season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7744" y="2505456"/>
            <a:ext cx="5650992" cy="292608"/>
          </a:xfrm>
          <a:prstGeom prst="rect">
            <a:avLst/>
          </a:prstGeom>
          <a:solidFill>
            <a:srgbClr val="221E00"/>
          </a:solidFill>
          <a:ln w="6350">
            <a:solidFill>
              <a:srgbClr val="FFE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" y="2560320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E500"/>
                </a:solidFill>
                <a:latin typeface="Courier New"/>
              </a:rPr>
              <a:t>WHY NOW?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37744" y="2907791"/>
            <a:ext cx="54864" cy="274320"/>
          </a:xfrm>
          <a:prstGeom prst="rect">
            <a:avLst/>
          </a:prstGeom>
          <a:solidFill>
            <a:srgbClr val="FF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2944367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  <a:latin typeface="Calibri"/>
              </a:rPr>
              <a:t>Gen-Z demands utility AND aesthetics in a single product — not a compromise.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37744" y="3255263"/>
            <a:ext cx="54864" cy="274320"/>
          </a:xfrm>
          <a:prstGeom prst="rect">
            <a:avLst/>
          </a:prstGeom>
          <a:solidFill>
            <a:srgbClr val="FF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4048" y="3291839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  <a:latin typeface="Calibri"/>
              </a:rPr>
              <a:t>No Indian brand has shipped thermochromic + modular carry + accessory integration.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37744" y="3602735"/>
            <a:ext cx="54864" cy="274320"/>
          </a:xfrm>
          <a:prstGeom prst="rect">
            <a:avLst/>
          </a:prstGeom>
          <a:solidFill>
            <a:srgbClr val="FF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4048" y="363931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  <a:latin typeface="Calibri"/>
              </a:rPr>
              <a:t>India streetwear is exploding — Batch 01 enters a gap, not a crowd.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7744" y="3950207"/>
            <a:ext cx="54864" cy="274320"/>
          </a:xfrm>
          <a:prstGeom prst="rect">
            <a:avLst/>
          </a:prstGeom>
          <a:solidFill>
            <a:srgbClr val="FF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4048" y="398678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  <a:latin typeface="Calibri"/>
              </a:rPr>
              <a:t>"Make in India" premium moment — Chennai manufacture gives full supply chain control.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0"/>
            <a:ext cx="9144000" cy="914400"/>
          </a:xfrm>
          <a:prstGeom prst="rect">
            <a:avLst/>
          </a:prstGeom>
          <a:solidFill>
            <a:srgbClr val="1A26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40480"/>
            <a:ext cx="9144000" cy="45720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5138928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09728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C6F135"/>
                </a:solidFill>
                <a:latin typeface="Courier New"/>
              </a:rPr>
              <a:t>SLIDE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" y="109728"/>
            <a:ext cx="6858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6F135"/>
                </a:solidFill>
                <a:latin typeface="League Spartan"/>
              </a:rPr>
              <a:t>TRACTION &amp; VALIDATION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" y="51206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  <a:latin typeface="Courier New"/>
              </a:rPr>
              <a:t>What have you built, tested, or sold so far?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" y="822960"/>
            <a:ext cx="1682496" cy="457200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44" y="896112"/>
            <a:ext cx="16824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Idea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93392" y="822960"/>
            <a:ext cx="1682496" cy="457200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93392" y="896112"/>
            <a:ext cx="16824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Research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49040" y="822960"/>
            <a:ext cx="1682496" cy="457200"/>
          </a:xfrm>
          <a:prstGeom prst="rect">
            <a:avLst/>
          </a:prstGeom>
          <a:solidFill>
            <a:srgbClr val="1A2606"/>
          </a:solidFill>
          <a:ln w="19050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40" y="896112"/>
            <a:ext cx="16824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F135"/>
                </a:solidFill>
                <a:latin typeface="League Spartan"/>
              </a:rPr>
              <a:t>Prototype/MVP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04688" y="822960"/>
            <a:ext cx="1682496" cy="457200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04688" y="896112"/>
            <a:ext cx="16824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Pilot Users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60336" y="822960"/>
            <a:ext cx="1682496" cy="457200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60336" y="896112"/>
            <a:ext cx="16824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Early Revenue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15968" y="1316736"/>
            <a:ext cx="168249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C6F135"/>
                </a:solidFill>
                <a:latin typeface="Courier New"/>
              </a:rPr>
              <a:t>▲ Current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7744" y="1645920"/>
            <a:ext cx="2706624" cy="822960"/>
          </a:xfrm>
          <a:prstGeom prst="rect">
            <a:avLst/>
          </a:prstGeom>
          <a:solidFill>
            <a:srgbClr val="1A2606"/>
          </a:solidFill>
          <a:ln w="9525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7744" y="1737360"/>
            <a:ext cx="2706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6F135"/>
                </a:solidFill>
                <a:latin typeface="League Spartan"/>
              </a:rPr>
              <a:t>Pre-Revenue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" y="2194560"/>
            <a:ext cx="27066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777777"/>
                </a:solidFill>
                <a:latin typeface="Courier New"/>
              </a:rPr>
              <a:t>REVENUE / GMV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1645920"/>
            <a:ext cx="2706624" cy="822960"/>
          </a:xfrm>
          <a:prstGeom prst="rect">
            <a:avLst/>
          </a:prstGeom>
          <a:solidFill>
            <a:srgbClr val="221E00"/>
          </a:solidFill>
          <a:ln w="9525">
            <a:solidFill>
              <a:srgbClr val="FFE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17520" y="1737360"/>
            <a:ext cx="2706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E500"/>
                </a:solidFill>
                <a:latin typeface="League Spartan"/>
              </a:rPr>
              <a:t>10 Spots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17520" y="2194560"/>
            <a:ext cx="27066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777777"/>
                </a:solidFill>
                <a:latin typeface="Courier New"/>
              </a:rPr>
              <a:t>₹1K DEPOSIT PRE-BOOK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97296" y="1645920"/>
            <a:ext cx="2706624" cy="822960"/>
          </a:xfrm>
          <a:prstGeom prst="rect">
            <a:avLst/>
          </a:prstGeom>
          <a:solidFill>
            <a:srgbClr val="220610"/>
          </a:solidFill>
          <a:ln w="9525">
            <a:solidFill>
              <a:srgbClr val="FF2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97296" y="1737360"/>
            <a:ext cx="2706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2D78"/>
                </a:solidFill>
                <a:latin typeface="League Spartan"/>
              </a:rPr>
              <a:t>4 / 4 Built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97296" y="2194560"/>
            <a:ext cx="27066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777777"/>
                </a:solidFill>
                <a:latin typeface="Courier New"/>
              </a:rPr>
              <a:t>MODULES COMPLETE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7744" y="2615184"/>
            <a:ext cx="2706624" cy="1225296"/>
          </a:xfrm>
          <a:prstGeom prst="rect">
            <a:avLst/>
          </a:prstGeom>
          <a:solidFill>
            <a:srgbClr val="1C1C1C"/>
          </a:solidFill>
          <a:ln w="6350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37744" y="2615184"/>
            <a:ext cx="45720" cy="1225296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7472" y="2706624"/>
            <a:ext cx="25420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6F135"/>
                </a:solidFill>
                <a:latin typeface="Courier New"/>
              </a:rPr>
              <a:t>✅  WHAT WE BUILT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" y="2962656"/>
            <a:ext cx="25420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</a:pPr>
            <a:r>
              <a:rPr sz="950" b="0">
                <a:solidFill>
                  <a:srgbClr val="CCCCCC"/>
                </a:solidFill>
                <a:latin typeface="Calibri"/>
              </a:rPr>
              <a:t>Working prototype across all 4 modules: thermochromic T-shirt, fold-to-bag back panel, front wallet patch, embedded 38mm watch pocket.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17520" y="2615184"/>
            <a:ext cx="2706624" cy="1225296"/>
          </a:xfrm>
          <a:prstGeom prst="rect">
            <a:avLst/>
          </a:prstGeom>
          <a:solidFill>
            <a:srgbClr val="1C1C1C"/>
          </a:solidFill>
          <a:ln w="6350">
            <a:solidFill>
              <a:srgbClr val="FFE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017520" y="2615184"/>
            <a:ext cx="45720" cy="1225296"/>
          </a:xfrm>
          <a:prstGeom prst="rect">
            <a:avLst/>
          </a:prstGeom>
          <a:solidFill>
            <a:srgbClr val="FF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127248" y="2706624"/>
            <a:ext cx="25420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E500"/>
                </a:solidFill>
                <a:latin typeface="Courier New"/>
              </a:rPr>
              <a:t>💡  WHAT WE LEARNED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27248" y="2962656"/>
            <a:ext cx="25420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</a:pPr>
            <a:r>
              <a:rPr sz="950" b="0">
                <a:solidFill>
                  <a:srgbClr val="CCCCCC"/>
                </a:solidFill>
                <a:latin typeface="Calibri"/>
              </a:rPr>
              <a:t>Thermochromic activation confirmed at 31°C. Fold-to-bag mechanism reliable. Magnetic + POM hybrid attachment holds through repeated cycles.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97296" y="2615184"/>
            <a:ext cx="2706624" cy="1225296"/>
          </a:xfrm>
          <a:prstGeom prst="rect">
            <a:avLst/>
          </a:prstGeom>
          <a:solidFill>
            <a:srgbClr val="1C1C1C"/>
          </a:solidFill>
          <a:ln w="6350">
            <a:solidFill>
              <a:srgbClr val="FF2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797296" y="2615184"/>
            <a:ext cx="45720" cy="1225296"/>
          </a:xfrm>
          <a:prstGeom prst="rect">
            <a:avLst/>
          </a:prstGeom>
          <a:solidFill>
            <a:srgbClr val="FF2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07024" y="2706624"/>
            <a:ext cx="25420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2D78"/>
                </a:solidFill>
                <a:latin typeface="Courier New"/>
              </a:rPr>
              <a:t>🔄  WHAT WE CHANGED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07024" y="2962656"/>
            <a:ext cx="25420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</a:pPr>
            <a:r>
              <a:rPr sz="950" b="0">
                <a:solidFill>
                  <a:srgbClr val="CCCCCC"/>
                </a:solidFill>
                <a:latin typeface="Calibri"/>
              </a:rPr>
              <a:t>Switched hook-and-loop to POM snap + neodymium hybrid for cleaner open/close. Added finger-release flaps that look like design elements.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" y="3822191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6F135"/>
                </a:solidFill>
                <a:latin typeface="Courier New"/>
              </a:rPr>
              <a:t>PRE-BOOKING MODEL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37744" y="4078224"/>
            <a:ext cx="2011680" cy="512064"/>
          </a:xfrm>
          <a:prstGeom prst="rect">
            <a:avLst/>
          </a:prstGeom>
          <a:solidFill>
            <a:srgbClr val="1C1C1C"/>
          </a:solidFill>
          <a:ln w="635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7744" y="4096512"/>
            <a:ext cx="6400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777777"/>
                </a:solidFill>
                <a:latin typeface="League Spartan"/>
              </a:rPr>
              <a:t>T-3W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6112" y="4096512"/>
            <a:ext cx="129844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AAAAA"/>
                </a:solidFill>
                <a:latin typeface="Calibri"/>
              </a:rPr>
              <a:t>Microsite live
+ email capture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322575" y="4078224"/>
            <a:ext cx="2011680" cy="512064"/>
          </a:xfrm>
          <a:prstGeom prst="rect">
            <a:avLst/>
          </a:prstGeom>
          <a:solidFill>
            <a:srgbClr val="1C1C1C"/>
          </a:solidFill>
          <a:ln w="635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322575" y="4096512"/>
            <a:ext cx="6400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777777"/>
                </a:solidFill>
                <a:latin typeface="League Spartan"/>
              </a:rPr>
              <a:t>T-2W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80943" y="4096512"/>
            <a:ext cx="129844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AAAAA"/>
                </a:solidFill>
                <a:latin typeface="Calibri"/>
              </a:rPr>
              <a:t>First signal:
thermochromic clip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407406" y="4078224"/>
            <a:ext cx="2011680" cy="512064"/>
          </a:xfrm>
          <a:prstGeom prst="rect">
            <a:avLst/>
          </a:prstGeom>
          <a:solidFill>
            <a:srgbClr val="1C1C1C"/>
          </a:solidFill>
          <a:ln w="6350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407406" y="4096512"/>
            <a:ext cx="6400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6F135"/>
                </a:solidFill>
                <a:latin typeface="League Spartan"/>
              </a:rPr>
              <a:t>T-1W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65774" y="4096512"/>
            <a:ext cx="129844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AAAAA"/>
                </a:solidFill>
                <a:latin typeface="Calibri"/>
              </a:rPr>
              <a:t>Pre-booking OPENS
10 spots · ₹1,000 deposit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92237" y="4078224"/>
            <a:ext cx="2011680" cy="512064"/>
          </a:xfrm>
          <a:prstGeom prst="rect">
            <a:avLst/>
          </a:prstGeom>
          <a:solidFill>
            <a:srgbClr val="1C1C1C"/>
          </a:solidFill>
          <a:ln w="6350">
            <a:solidFill>
              <a:srgbClr val="FFE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92237" y="4096512"/>
            <a:ext cx="6400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E500"/>
                </a:solidFill>
                <a:latin typeface="League Spartan"/>
              </a:rPr>
              <a:t>DROP
DAY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50605" y="4096512"/>
            <a:ext cx="129844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AAAAA"/>
                </a:solidFill>
                <a:latin typeface="Calibri"/>
              </a:rPr>
              <a:t>Pay ₹5,500 balance
90 units go live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0"/>
            <a:ext cx="4114800" cy="5138928"/>
          </a:xfrm>
          <a:prstGeom prst="rect">
            <a:avLst/>
          </a:prstGeom>
          <a:solidFill>
            <a:srgbClr val="1A26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0" y="0"/>
            <a:ext cx="54864" cy="5138928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5138928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09728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C6F135"/>
                </a:solidFill>
                <a:latin typeface="Courier New"/>
              </a:rPr>
              <a:t>SLIDE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" y="109728"/>
            <a:ext cx="6858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6F135"/>
                </a:solidFill>
                <a:latin typeface="League Spartan"/>
              </a:rPr>
              <a:t>BUSINESS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" y="51206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  <a:latin typeface="Courier New"/>
              </a:rPr>
              <a:t>How do you make money? Is it sustainable?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" y="822960"/>
            <a:ext cx="4645152" cy="969264"/>
          </a:xfrm>
          <a:prstGeom prst="rect">
            <a:avLst/>
          </a:prstGeom>
          <a:solidFill>
            <a:srgbClr val="1C1C1C"/>
          </a:solidFill>
          <a:ln w="6350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7744" y="822960"/>
            <a:ext cx="45720" cy="969264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914400"/>
            <a:ext cx="4480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6F135"/>
                </a:solidFill>
                <a:latin typeface="Courier New"/>
              </a:rPr>
              <a:t>💰  REVENUE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" y="1170432"/>
            <a:ext cx="4480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</a:pPr>
            <a:r>
              <a:rPr sz="950" b="0">
                <a:solidFill>
                  <a:srgbClr val="CCCCCC"/>
                </a:solidFill>
                <a:latin typeface="Calibri"/>
              </a:rPr>
              <a:t>D2C limited drops. 100 pieces. 10 pre-book spots open at T-1W — ₹1,000 deposit secures your unit. Balance of ₹5,500 due on drop day. Remaining 90 units go live on drop day. No restock unless the batch earns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7744" y="1865375"/>
            <a:ext cx="4645152" cy="859536"/>
          </a:xfrm>
          <a:prstGeom prst="rect">
            <a:avLst/>
          </a:prstGeom>
          <a:solidFill>
            <a:srgbClr val="1C1C1C"/>
          </a:solidFill>
          <a:ln w="6350">
            <a:solidFill>
              <a:srgbClr val="FFE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7744" y="1865375"/>
            <a:ext cx="45720" cy="859536"/>
          </a:xfrm>
          <a:prstGeom prst="rect">
            <a:avLst/>
          </a:prstGeom>
          <a:solidFill>
            <a:srgbClr val="FF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1956815"/>
            <a:ext cx="4480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E500"/>
                </a:solidFill>
                <a:latin typeface="Courier New"/>
              </a:rPr>
              <a:t>🎯  WHO PAYS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" y="2212847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</a:pPr>
            <a:r>
              <a:rPr sz="950" b="0">
                <a:solidFill>
                  <a:srgbClr val="CCCCCC"/>
                </a:solidFill>
                <a:latin typeface="Calibri"/>
              </a:rPr>
              <a:t>Fashion-forward Indian consumer, 18–30, urban, style-conscious. Values exclusivity. Direct-to-consumer — no retail intermediary, full margin stays in-brand.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7744" y="2816352"/>
            <a:ext cx="4645152" cy="292608"/>
          </a:xfrm>
          <a:prstGeom prst="rect">
            <a:avLst/>
          </a:prstGeom>
          <a:solidFill>
            <a:srgbClr val="121212"/>
          </a:solidFill>
          <a:ln w="6350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2871216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6F135"/>
                </a:solidFill>
                <a:latin typeface="Courier New"/>
              </a:rPr>
              <a:t>UNIT ECONOMICS — BATCH 01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7744" y="3182112"/>
            <a:ext cx="4645152" cy="347472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323697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AAAA"/>
                </a:solidFill>
                <a:latin typeface="Calibri"/>
              </a:rPr>
              <a:t>Production Cost / Unit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36976" y="3236976"/>
            <a:ext cx="15361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777777"/>
                </a:solidFill>
                <a:latin typeface="League Spartan"/>
              </a:rPr>
              <a:t>₹2,500–₹3,000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7744" y="3547872"/>
            <a:ext cx="4645152" cy="347472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" y="360273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AAAA"/>
                </a:solidFill>
                <a:latin typeface="Calibri"/>
              </a:rPr>
              <a:t>Sell Price / Unit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36976" y="3602736"/>
            <a:ext cx="15361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League Spartan"/>
              </a:rPr>
              <a:t>₹6,500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7744" y="3913632"/>
            <a:ext cx="4645152" cy="347472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472" y="396849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AAAA"/>
                </a:solidFill>
                <a:latin typeface="Calibri"/>
              </a:rPr>
              <a:t>Gross Margin / Unit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36976" y="3968496"/>
            <a:ext cx="15361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C6F135"/>
                </a:solidFill>
                <a:latin typeface="League Spartan"/>
              </a:rPr>
              <a:t>~57%+ (₹3,500–₹4,000)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37744" y="4279392"/>
            <a:ext cx="4645152" cy="347472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" y="433425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AAAA"/>
                </a:solidFill>
                <a:latin typeface="Calibri"/>
              </a:rPr>
              <a:t>Batch 01 Revenue (100u)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36976" y="4334256"/>
            <a:ext cx="15361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E500"/>
                </a:solidFill>
                <a:latin typeface="League Spartan"/>
              </a:rPr>
              <a:t>₹6,50,000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37744" y="4645152"/>
            <a:ext cx="4645152" cy="347472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7472" y="470001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AAAA"/>
                </a:solidFill>
                <a:latin typeface="Calibri"/>
              </a:rPr>
              <a:t>Batch 01 Gross Profit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36976" y="4700016"/>
            <a:ext cx="15361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C6F135"/>
                </a:solidFill>
                <a:latin typeface="League Spartan"/>
              </a:rPr>
              <a:t>₹3,50,000–₹4,00,000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30368" y="822960"/>
            <a:ext cx="3621024" cy="1773936"/>
          </a:xfrm>
          <a:prstGeom prst="rect">
            <a:avLst/>
          </a:prstGeom>
          <a:solidFill>
            <a:srgbClr val="1C1C1C"/>
          </a:solidFill>
          <a:ln w="6350">
            <a:solidFill>
              <a:srgbClr val="FF2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230368" y="822960"/>
            <a:ext cx="45720" cy="1773936"/>
          </a:xfrm>
          <a:prstGeom prst="rect">
            <a:avLst/>
          </a:prstGeom>
          <a:solidFill>
            <a:srgbClr val="FF2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40096" y="914400"/>
            <a:ext cx="3456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2D78"/>
                </a:solidFill>
                <a:latin typeface="Courier New"/>
              </a:rPr>
              <a:t>📈  PATH TO PROFITABILITY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40096" y="1170432"/>
            <a:ext cx="345643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</a:pPr>
            <a:r>
              <a:rPr sz="950" b="0">
                <a:solidFill>
                  <a:srgbClr val="CCCCCC"/>
                </a:solidFill>
                <a:latin typeface="Calibri"/>
              </a:rPr>
              <a:t>Batch 01 is the proof of concept. 100 units. If it sells out: Batch 02 drops with the same scarcity model.</a:t>
            </a:r>
          </a:p>
          <a:p>
            <a:pPr algn="l">
              <a:lnSpc>
                <a:spcPts val="1400"/>
              </a:lnSpc>
            </a:pPr>
          </a:p>
          <a:p>
            <a:pPr algn="l">
              <a:lnSpc>
                <a:spcPts val="1400"/>
              </a:lnSpc>
            </a:pPr>
            <a:r>
              <a:rPr sz="950" b="0">
                <a:solidFill>
                  <a:srgbClr val="CCCCCC"/>
                </a:solidFill>
                <a:latin typeface="Calibri"/>
              </a:rPr>
              <a:t>Scale driver: drop cadence + community. Each sold-out batch funds the next. No retail. No markdown. No leftover stock.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30368" y="2670048"/>
            <a:ext cx="3621024" cy="1243584"/>
          </a:xfrm>
          <a:prstGeom prst="rect">
            <a:avLst/>
          </a:prstGeom>
          <a:solidFill>
            <a:srgbClr val="1C1C1C"/>
          </a:solidFill>
          <a:ln w="6350">
            <a:solidFill>
              <a:srgbClr val="FFE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230368" y="2670048"/>
            <a:ext cx="45720" cy="1243584"/>
          </a:xfrm>
          <a:prstGeom prst="rect">
            <a:avLst/>
          </a:prstGeom>
          <a:solidFill>
            <a:srgbClr val="FF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0096" y="2761488"/>
            <a:ext cx="3456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E500"/>
                </a:solidFill>
                <a:latin typeface="Courier New"/>
              </a:rPr>
              <a:t>🔄  PATH TO BATCH 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40096" y="3017520"/>
            <a:ext cx="3456432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</a:pPr>
            <a:r>
              <a:rPr sz="950" b="0">
                <a:solidFill>
                  <a:srgbClr val="CCCCCC"/>
                </a:solidFill>
                <a:latin typeface="Calibri"/>
              </a:rPr>
              <a:t>Analyse sell-through speed and feedback from Batch 01. File design IP. Brief improvements. Repeat the drop — with proof of demand behind 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9144000" cy="1938528"/>
          </a:xfrm>
          <a:prstGeom prst="rect">
            <a:avLst/>
          </a:prstGeom>
          <a:solidFill>
            <a:srgbClr val="220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200400"/>
            <a:ext cx="9144000" cy="45720"/>
          </a:xfrm>
          <a:prstGeom prst="rect">
            <a:avLst/>
          </a:prstGeom>
          <a:solidFill>
            <a:srgbClr val="FF2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5138928"/>
          </a:xfrm>
          <a:prstGeom prst="rect">
            <a:avLst/>
          </a:prstGeom>
          <a:solidFill>
            <a:srgbClr val="FF2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09728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FF2D78"/>
                </a:solidFill>
                <a:latin typeface="Courier New"/>
              </a:rPr>
              <a:t>SLIDE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" y="109728"/>
            <a:ext cx="6858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2D78"/>
                </a:solidFill>
                <a:latin typeface="League Spartan"/>
              </a:rPr>
              <a:t>COMPETITION &amp; YOUR EDGE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" y="51206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  <a:latin typeface="Courier New"/>
              </a:rPr>
              <a:t>Who else is playing in this space, and why will you win?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" y="822960"/>
            <a:ext cx="969264" cy="493776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859536"/>
            <a:ext cx="8961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777777"/>
                </a:solidFill>
                <a:latin typeface="Calibri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243584" y="822960"/>
            <a:ext cx="1609344" cy="493776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859536"/>
            <a:ext cx="15361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777777"/>
                </a:solidFill>
                <a:latin typeface="Calibri"/>
              </a:rPr>
              <a:t>Regular
Streetwear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89504" y="822960"/>
            <a:ext cx="1609344" cy="493776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6080" y="859536"/>
            <a:ext cx="15361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777777"/>
                </a:solidFill>
                <a:latin typeface="Calibri"/>
              </a:rPr>
              <a:t>Indian
Tech Accessories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35424" y="822960"/>
            <a:ext cx="1609344" cy="493776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859536"/>
            <a:ext cx="15361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777777"/>
                </a:solidFill>
                <a:latin typeface="Calibri"/>
              </a:rPr>
              <a:t>Global Modular
Fashion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81344" y="822960"/>
            <a:ext cx="2523744" cy="493776"/>
          </a:xfrm>
          <a:prstGeom prst="rect">
            <a:avLst/>
          </a:prstGeom>
          <a:solidFill>
            <a:srgbClr val="1A2606"/>
          </a:solidFill>
          <a:ln w="15240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859536"/>
            <a:ext cx="24505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C6F135"/>
                </a:solidFill>
                <a:latin typeface="Courier New"/>
              </a:rPr>
              <a:t>NUUL 01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7744" y="1353312"/>
            <a:ext cx="969264" cy="384048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2608" y="142646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  <a:latin typeface="Calibri"/>
              </a:rPr>
              <a:t>Thermo reveal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43584" y="1353312"/>
            <a:ext cx="1609344" cy="384048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43584" y="1408176"/>
            <a:ext cx="1609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2D78"/>
                </a:solidFill>
                <a:latin typeface="Calibri"/>
              </a:rPr>
              <a:t>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9504" y="1353312"/>
            <a:ext cx="1609344" cy="384048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89504" y="1408176"/>
            <a:ext cx="1609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2D78"/>
                </a:solidFill>
                <a:latin typeface="Calibri"/>
              </a:rPr>
              <a:t>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35424" y="1353312"/>
            <a:ext cx="1609344" cy="384048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35424" y="1408176"/>
            <a:ext cx="1609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2D78"/>
                </a:solidFill>
                <a:latin typeface="Calibri"/>
              </a:rPr>
              <a:t>✗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1344" y="1353312"/>
            <a:ext cx="2523744" cy="384048"/>
          </a:xfrm>
          <a:prstGeom prst="rect">
            <a:avLst/>
          </a:prstGeom>
          <a:solidFill>
            <a:srgbClr val="1A2606"/>
          </a:solidFill>
          <a:ln w="12700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81344" y="1408176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6F135"/>
                </a:solidFill>
                <a:latin typeface="Calibri"/>
              </a:rPr>
              <a:t>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7744" y="1755648"/>
            <a:ext cx="969264" cy="384048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2608" y="1828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  <a:latin typeface="Calibri"/>
              </a:rPr>
              <a:t>Fold-to-bag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43584" y="1755648"/>
            <a:ext cx="1609344" cy="384048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43584" y="1810512"/>
            <a:ext cx="1609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2D78"/>
                </a:solidFill>
                <a:latin typeface="Calibri"/>
              </a:rPr>
              <a:t>✗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89504" y="1755648"/>
            <a:ext cx="1609344" cy="384048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89504" y="1810512"/>
            <a:ext cx="1609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2D78"/>
                </a:solidFill>
                <a:latin typeface="Calibri"/>
              </a:rPr>
              <a:t>✗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35424" y="1755648"/>
            <a:ext cx="1609344" cy="384048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5424" y="1810512"/>
            <a:ext cx="1609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E500"/>
                </a:solidFill>
                <a:latin typeface="Calibri"/>
              </a:rPr>
              <a:t>Partial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81344" y="1755648"/>
            <a:ext cx="2523744" cy="384048"/>
          </a:xfrm>
          <a:prstGeom prst="rect">
            <a:avLst/>
          </a:prstGeom>
          <a:solidFill>
            <a:srgbClr val="1A2606"/>
          </a:solidFill>
          <a:ln w="12700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81344" y="1810512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6F135"/>
                </a:solidFill>
                <a:latin typeface="Calibri"/>
              </a:rPr>
              <a:t>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37744" y="2157984"/>
            <a:ext cx="969264" cy="384048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92608" y="223113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  <a:latin typeface="Calibri"/>
              </a:rPr>
              <a:t>Watch pocket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43584" y="2157984"/>
            <a:ext cx="1609344" cy="384048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43584" y="2212848"/>
            <a:ext cx="1609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2D78"/>
                </a:solidFill>
                <a:latin typeface="Calibri"/>
              </a:rPr>
              <a:t>✗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889504" y="2157984"/>
            <a:ext cx="1609344" cy="384048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89504" y="2212848"/>
            <a:ext cx="1609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2D78"/>
                </a:solidFill>
                <a:latin typeface="Calibri"/>
              </a:rPr>
              <a:t>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35424" y="2157984"/>
            <a:ext cx="1609344" cy="384048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35424" y="2212848"/>
            <a:ext cx="1609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2D78"/>
                </a:solidFill>
                <a:latin typeface="Calibri"/>
              </a:rPr>
              <a:t>✗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81344" y="2157984"/>
            <a:ext cx="2523744" cy="384048"/>
          </a:xfrm>
          <a:prstGeom prst="rect">
            <a:avLst/>
          </a:prstGeom>
          <a:solidFill>
            <a:srgbClr val="1A2606"/>
          </a:solidFill>
          <a:ln w="12700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81344" y="2212848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6F135"/>
                </a:solidFill>
                <a:latin typeface="Calibri"/>
              </a:rPr>
              <a:t>✓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37744" y="2560320"/>
            <a:ext cx="969264" cy="384048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92608" y="263347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  <a:latin typeface="Calibri"/>
              </a:rPr>
              <a:t>India-made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43584" y="2560320"/>
            <a:ext cx="1609344" cy="384048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243584" y="2615184"/>
            <a:ext cx="1609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6F135"/>
                </a:solidFill>
                <a:latin typeface="Calibri"/>
              </a:rPr>
              <a:t>✓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889504" y="2560320"/>
            <a:ext cx="1609344" cy="384048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889504" y="2615184"/>
            <a:ext cx="1609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6F135"/>
                </a:solidFill>
                <a:latin typeface="Calibri"/>
              </a:rPr>
              <a:t>✓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35424" y="2560320"/>
            <a:ext cx="1609344" cy="384048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35424" y="2615184"/>
            <a:ext cx="1609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2D78"/>
                </a:solidFill>
                <a:latin typeface="Calibri"/>
              </a:rPr>
              <a:t>✗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181344" y="2560320"/>
            <a:ext cx="2523744" cy="384048"/>
          </a:xfrm>
          <a:prstGeom prst="rect">
            <a:avLst/>
          </a:prstGeom>
          <a:solidFill>
            <a:srgbClr val="1A2606"/>
          </a:solidFill>
          <a:ln w="12700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81344" y="2615184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6F135"/>
                </a:solidFill>
                <a:latin typeface="Calibri"/>
              </a:rPr>
              <a:t>✓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37744" y="2962656"/>
            <a:ext cx="969264" cy="384048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92608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  <a:latin typeface="Calibri"/>
              </a:rPr>
              <a:t>Price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243584" y="2962656"/>
            <a:ext cx="1609344" cy="384048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243584" y="3017520"/>
            <a:ext cx="1609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E500"/>
                </a:solidFill>
                <a:latin typeface="Calibri"/>
              </a:rPr>
              <a:t>₹1–2K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889504" y="2962656"/>
            <a:ext cx="1609344" cy="384048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889504" y="3017520"/>
            <a:ext cx="1609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E500"/>
                </a:solidFill>
                <a:latin typeface="Calibri"/>
              </a:rPr>
              <a:t>₹1–3K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35424" y="2962656"/>
            <a:ext cx="1609344" cy="384048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535424" y="3017520"/>
            <a:ext cx="1609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E500"/>
                </a:solidFill>
                <a:latin typeface="Calibri"/>
              </a:rPr>
              <a:t>₹6K+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181344" y="2962656"/>
            <a:ext cx="2523744" cy="384048"/>
          </a:xfrm>
          <a:prstGeom prst="rect">
            <a:avLst/>
          </a:prstGeom>
          <a:solidFill>
            <a:srgbClr val="1A2606"/>
          </a:solidFill>
          <a:ln w="12700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81344" y="3017520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6F135"/>
                </a:solidFill>
                <a:latin typeface="Calibri"/>
              </a:rPr>
              <a:t>₹6,500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47472" y="327355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6F135"/>
                </a:solidFill>
                <a:latin typeface="Courier New"/>
              </a:rPr>
              <a:t>OUR UNFAIR ADVANTAGE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37744" y="3584448"/>
            <a:ext cx="54864" cy="932688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3602736"/>
            <a:ext cx="195681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CC"/>
                </a:solidFill>
                <a:latin typeface="Calibri"/>
              </a:rPr>
              <a:t>Patent-protectable fold-to-bag mechanism. No existing product replicates this.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414016" y="3584448"/>
            <a:ext cx="54864" cy="932688"/>
          </a:xfrm>
          <a:prstGeom prst="rect">
            <a:avLst/>
          </a:prstGeom>
          <a:solidFill>
            <a:srgbClr val="FF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542032" y="3602736"/>
            <a:ext cx="195681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CC"/>
                </a:solidFill>
                <a:latin typeface="Calibri"/>
              </a:rPr>
              <a:t>Custom 38mm watch built for the garment pocket — zero crossover with any production watch.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90288" y="3584448"/>
            <a:ext cx="54864" cy="932688"/>
          </a:xfrm>
          <a:prstGeom prst="rect">
            <a:avLst/>
          </a:prstGeom>
          <a:solidFill>
            <a:srgbClr val="FF2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718304" y="3602736"/>
            <a:ext cx="195681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CC"/>
                </a:solidFill>
                <a:latin typeface="Calibri"/>
              </a:rPr>
              <a:t>Scarcity-first drops: 100 pieces, 50 pre-book spots. You have it or you do not.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766560" y="3584448"/>
            <a:ext cx="54864" cy="932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894576" y="3602736"/>
            <a:ext cx="195681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CC"/>
                </a:solidFill>
                <a:latin typeface="Calibri"/>
              </a:rPr>
              <a:t>Solo founder as obsessed product architect. Built from personal need, not a brief.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0" y="0"/>
            <a:ext cx="4572000" cy="5138928"/>
          </a:xfrm>
          <a:prstGeom prst="rect">
            <a:avLst/>
          </a:prstGeom>
          <a:solidFill>
            <a:srgbClr val="1A26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0" y="0"/>
            <a:ext cx="54864" cy="5138928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5138928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09728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C6F135"/>
                </a:solidFill>
                <a:latin typeface="Courier New"/>
              </a:rPr>
              <a:t>SLIDE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" y="109728"/>
            <a:ext cx="6858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6F135"/>
                </a:solidFill>
                <a:latin typeface="League Spartan"/>
              </a:rPr>
              <a:t>THE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" y="51206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  <a:latin typeface="Courier New"/>
              </a:rPr>
              <a:t>Why are you the right person to build this?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" y="822960"/>
            <a:ext cx="4169663" cy="1883664"/>
          </a:xfrm>
          <a:prstGeom prst="rect">
            <a:avLst/>
          </a:prstGeom>
          <a:solidFill>
            <a:srgbClr val="1C1C1C"/>
          </a:solidFill>
          <a:ln w="10160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7744" y="822960"/>
            <a:ext cx="4169663" cy="45720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" y="950976"/>
            <a:ext cx="914400" cy="914400"/>
          </a:xfrm>
          <a:prstGeom prst="rect">
            <a:avLst/>
          </a:prstGeom>
          <a:solidFill>
            <a:srgbClr val="1A2608"/>
          </a:solidFill>
          <a:ln w="6350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060704"/>
            <a:ext cx="914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C6F135"/>
                </a:solidFill>
                <a:latin typeface="Calibri"/>
              </a:rPr>
              <a:t>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950976"/>
            <a:ext cx="2944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6F135"/>
                </a:solidFill>
                <a:latin typeface="Courier New"/>
              </a:rPr>
              <a:t>Founder &amp; Product Architect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53312" y="1225296"/>
            <a:ext cx="29443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League Spartan"/>
              </a:rPr>
              <a:t>[ Your Name 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3312" y="1627632"/>
            <a:ext cx="2944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77777"/>
                </a:solidFill>
                <a:latin typeface="Calibri"/>
              </a:rPr>
              <a:t>Solo founder. Chennai, India.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" y="1956816"/>
            <a:ext cx="39136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AAAA"/>
                </a:solidFill>
                <a:latin typeface="Calibri"/>
              </a:rPr>
              <a:t>[ Your background — 2 lines 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7744" y="2816352"/>
            <a:ext cx="4169663" cy="1170432"/>
          </a:xfrm>
          <a:prstGeom prst="rect">
            <a:avLst/>
          </a:prstGeom>
          <a:solidFill>
            <a:srgbClr val="121212"/>
          </a:solidFill>
          <a:ln w="6350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2889503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6F135"/>
                </a:solidFill>
                <a:latin typeface="Courier New"/>
              </a:rPr>
              <a:t>WHY THIS FOUNDER?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" y="3163824"/>
            <a:ext cx="391363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  <a:latin typeface="Calibri"/>
              </a:rPr>
              <a:t>Built entirely from personal frustration. Designed every module from first principles — no brief, no agency, no committee. The product is the pitch.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82896" y="822960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6F135"/>
                </a:solidFill>
                <a:latin typeface="Courier New"/>
              </a:rPr>
              <a:t>BUILT SOLO — ALL OF THIS: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91456" y="1207008"/>
            <a:ext cx="256032" cy="310896"/>
          </a:xfrm>
          <a:prstGeom prst="rect">
            <a:avLst/>
          </a:prstGeom>
          <a:solidFill>
            <a:srgbClr val="1A2606"/>
          </a:solidFill>
          <a:ln w="5080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91456" y="1207008"/>
            <a:ext cx="256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6F135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02352" y="1243584"/>
            <a:ext cx="39867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  <a:latin typeface="Calibri"/>
              </a:rPr>
              <a:t>Thermochromic T-shirt base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91456" y="1572768"/>
            <a:ext cx="256032" cy="310896"/>
          </a:xfrm>
          <a:prstGeom prst="rect">
            <a:avLst/>
          </a:prstGeom>
          <a:solidFill>
            <a:srgbClr val="1A2606"/>
          </a:solidFill>
          <a:ln w="5080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91456" y="1572768"/>
            <a:ext cx="256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6F135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2352" y="1609344"/>
            <a:ext cx="39867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  <a:latin typeface="Calibri"/>
              </a:rPr>
              <a:t>Fold-to-bag back panel mechanism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91456" y="1938528"/>
            <a:ext cx="256032" cy="310896"/>
          </a:xfrm>
          <a:prstGeom prst="rect">
            <a:avLst/>
          </a:prstGeom>
          <a:solidFill>
            <a:srgbClr val="1A2606"/>
          </a:solidFill>
          <a:ln w="5080">
            <a:solidFill>
              <a:srgbClr val="FFE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1938528"/>
            <a:ext cx="256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E500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02352" y="1975104"/>
            <a:ext cx="39867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  <a:latin typeface="Calibri"/>
              </a:rPr>
              <a:t>Front patch wallet system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91456" y="2304288"/>
            <a:ext cx="256032" cy="310896"/>
          </a:xfrm>
          <a:prstGeom prst="rect">
            <a:avLst/>
          </a:prstGeom>
          <a:solidFill>
            <a:srgbClr val="1A2606"/>
          </a:solidFill>
          <a:ln w="5080">
            <a:solidFill>
              <a:srgbClr val="FFE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91456" y="2304288"/>
            <a:ext cx="256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E500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02352" y="2340864"/>
            <a:ext cx="39867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  <a:latin typeface="Calibri"/>
              </a:rPr>
              <a:t>Custom 38mm watch (Pocket Pebble)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91456" y="2670048"/>
            <a:ext cx="256032" cy="310896"/>
          </a:xfrm>
          <a:prstGeom prst="rect">
            <a:avLst/>
          </a:prstGeom>
          <a:solidFill>
            <a:srgbClr val="1A2606"/>
          </a:solidFill>
          <a:ln w="5080">
            <a:solidFill>
              <a:srgbClr val="FF2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91456" y="2670048"/>
            <a:ext cx="256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2D78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02352" y="2706624"/>
            <a:ext cx="39867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  <a:latin typeface="Calibri"/>
              </a:rPr>
              <a:t>Password-only pitch website (live)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791456" y="3035808"/>
            <a:ext cx="256032" cy="310896"/>
          </a:xfrm>
          <a:prstGeom prst="rect">
            <a:avLst/>
          </a:prstGeom>
          <a:solidFill>
            <a:srgbClr val="1A2606"/>
          </a:solidFill>
          <a:ln w="5080">
            <a:solidFill>
              <a:srgbClr val="FF2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91456" y="3035808"/>
            <a:ext cx="256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2D78"/>
                </a:solidFill>
                <a:latin typeface="Calibri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02352" y="3072384"/>
            <a:ext cx="39867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  <a:latin typeface="Calibri"/>
              </a:rPr>
              <a:t>Modular snap system (mag + POM)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791456" y="3401568"/>
            <a:ext cx="256032" cy="310896"/>
          </a:xfrm>
          <a:prstGeom prst="rect">
            <a:avLst/>
          </a:prstGeom>
          <a:solidFill>
            <a:srgbClr val="1A2606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91456" y="3401568"/>
            <a:ext cx="256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02352" y="3438144"/>
            <a:ext cx="39867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  <a:latin typeface="Calibri"/>
              </a:rPr>
              <a:t>Technical spec sheets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791456" y="3767328"/>
            <a:ext cx="256032" cy="310896"/>
          </a:xfrm>
          <a:prstGeom prst="rect">
            <a:avLst/>
          </a:prstGeom>
          <a:solidFill>
            <a:srgbClr val="1A2606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91456" y="3767328"/>
            <a:ext cx="256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02352" y="3803904"/>
            <a:ext cx="39867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  <a:latin typeface="Calibri"/>
              </a:rPr>
              <a:t>This pitch deck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008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017520"/>
            <a:ext cx="9144000" cy="1645920"/>
          </a:xfrm>
          <a:prstGeom prst="rect">
            <a:avLst/>
          </a:prstGeom>
          <a:solidFill>
            <a:srgbClr val="0C0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5138928"/>
          </a:xfrm>
          <a:prstGeom prst="rect">
            <a:avLst/>
          </a:prstGeom>
          <a:solidFill>
            <a:srgbClr val="FF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0" y="109728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FFE500"/>
                </a:solidFill>
                <a:latin typeface="Courier New"/>
              </a:rPr>
              <a:t>SLIDE 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" y="109728"/>
            <a:ext cx="6858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E500"/>
                </a:solidFill>
                <a:latin typeface="League Spartan"/>
              </a:rPr>
              <a:t>ROADMAP &amp; WHAT WE NEED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" y="51206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  <a:latin typeface="Courier New"/>
              </a:rPr>
              <a:t>Where are you going, and what will IVI help us achieve?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4" y="822960"/>
            <a:ext cx="2798064" cy="1993392"/>
          </a:xfrm>
          <a:prstGeom prst="rect">
            <a:avLst/>
          </a:prstGeom>
          <a:solidFill>
            <a:srgbClr val="1C1C1C"/>
          </a:solidFill>
          <a:ln w="7620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37744" y="822960"/>
            <a:ext cx="2798064" cy="45720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" y="914400"/>
            <a:ext cx="2633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6F135"/>
                </a:solidFill>
                <a:latin typeface="Courier New"/>
              </a:rPr>
              <a:t>Month 1–2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" y="1152144"/>
            <a:ext cx="2633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League Spartan"/>
              </a:rPr>
              <a:t>Finalise Production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" y="1572768"/>
            <a:ext cx="2615184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  <a:latin typeface="Calibri"/>
              </a:rPr>
              <a:t>Complete all 100 units. QC every module. Confirm thermochromic activation. Prepare pre-booking landing page.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27248" y="822960"/>
            <a:ext cx="2798064" cy="1993392"/>
          </a:xfrm>
          <a:prstGeom prst="rect">
            <a:avLst/>
          </a:prstGeom>
          <a:solidFill>
            <a:srgbClr val="1C1C1C"/>
          </a:solidFill>
          <a:ln w="7620">
            <a:solidFill>
              <a:srgbClr val="FFE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127248" y="822960"/>
            <a:ext cx="2798064" cy="45720"/>
          </a:xfrm>
          <a:prstGeom prst="rect">
            <a:avLst/>
          </a:prstGeom>
          <a:solidFill>
            <a:srgbClr val="FF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36976" y="914400"/>
            <a:ext cx="2633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E500"/>
                </a:solidFill>
                <a:latin typeface="Courier New"/>
              </a:rPr>
              <a:t>Month 3–4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36976" y="1152144"/>
            <a:ext cx="2633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League Spartan"/>
              </a:rPr>
              <a:t>Execute the Drop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36976" y="1572768"/>
            <a:ext cx="2615184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  <a:latin typeface="Calibri"/>
              </a:rPr>
              <a:t>Pre-booking opens — 10 spots, ₹1,000 deposit each. On drop day: pre-bookers pay ₹5,500 balance. Remaining 90 units go live. Real-time counter. We find out.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16752" y="822960"/>
            <a:ext cx="2798064" cy="1993392"/>
          </a:xfrm>
          <a:prstGeom prst="rect">
            <a:avLst/>
          </a:prstGeom>
          <a:solidFill>
            <a:srgbClr val="1C1C1C"/>
          </a:solidFill>
          <a:ln w="7620">
            <a:solidFill>
              <a:srgbClr val="FF2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16752" y="822960"/>
            <a:ext cx="2798064" cy="45720"/>
          </a:xfrm>
          <a:prstGeom prst="rect">
            <a:avLst/>
          </a:prstGeom>
          <a:solidFill>
            <a:srgbClr val="FF2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0" y="914400"/>
            <a:ext cx="2633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2D78"/>
                </a:solidFill>
                <a:latin typeface="Courier New"/>
              </a:rPr>
              <a:t>Month 5–6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1152144"/>
            <a:ext cx="2633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League Spartan"/>
              </a:rPr>
              <a:t>Analyse + Batch 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1572768"/>
            <a:ext cx="2615184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  <a:latin typeface="Calibri"/>
              </a:rPr>
              <a:t>Review sell-through speed, customer feedback. File design IP. Brief Batch 02 improvements. Repeat — with proof behind us.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7744" y="2926080"/>
            <a:ext cx="5212080" cy="256032"/>
          </a:xfrm>
          <a:prstGeom prst="rect">
            <a:avLst/>
          </a:prstGeom>
          <a:solidFill>
            <a:srgbClr val="120E1E"/>
          </a:solidFill>
          <a:ln w="6350">
            <a:solidFill>
              <a:srgbClr val="FFE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7472" y="2980944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E500"/>
                </a:solidFill>
                <a:latin typeface="Courier New"/>
              </a:rPr>
              <a:t>WHAT WE WANT FROM IVI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7744" y="3291840"/>
            <a:ext cx="54864" cy="274320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3310128"/>
            <a:ext cx="4956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  <a:latin typeface="Calibri"/>
              </a:rPr>
              <a:t>Manufacturing network — Chennai garment + textile partners for Batch 02 scale-up.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37744" y="3621024"/>
            <a:ext cx="54864" cy="274320"/>
          </a:xfrm>
          <a:prstGeom prst="rect">
            <a:avLst/>
          </a:prstGeom>
          <a:solidFill>
            <a:srgbClr val="FF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4048" y="3639312"/>
            <a:ext cx="4956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  <a:latin typeface="Calibri"/>
              </a:rPr>
              <a:t>Mentorship in D2C brand strategy — how to build a product cult, not just a product.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7744" y="3950208"/>
            <a:ext cx="54864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3968496"/>
            <a:ext cx="4956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  <a:latin typeface="Calibri"/>
              </a:rPr>
              <a:t>Legal guidance on design IP — protecting fold mechanism and thermochromic system.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37744" y="4279392"/>
            <a:ext cx="54864" cy="274320"/>
          </a:xfrm>
          <a:prstGeom prst="rect">
            <a:avLst/>
          </a:prstGeom>
          <a:solidFill>
            <a:srgbClr val="FF2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4048" y="4297680"/>
            <a:ext cx="4956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  <a:latin typeface="Calibri"/>
              </a:rPr>
              <a:t>Fashion/retail industry network access for distribution conversations post-Batch 01.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577840" y="2926080"/>
            <a:ext cx="3328416" cy="1682496"/>
          </a:xfrm>
          <a:prstGeom prst="rect">
            <a:avLst/>
          </a:prstGeom>
          <a:solidFill>
            <a:srgbClr val="1C1C1C"/>
          </a:solidFill>
          <a:ln w="10160">
            <a:solidFill>
              <a:srgbClr val="FFE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577840" y="2926080"/>
            <a:ext cx="3328416" cy="45720"/>
          </a:xfrm>
          <a:prstGeom prst="rect">
            <a:avLst/>
          </a:prstGeom>
          <a:solidFill>
            <a:srgbClr val="FF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87568" y="2999232"/>
            <a:ext cx="3108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E500"/>
                </a:solidFill>
                <a:latin typeface="Courier New"/>
              </a:rPr>
              <a:t>FUNDING SOUGHT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87568" y="3255264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League Spartan"/>
              </a:rPr>
              <a:t>Open to discussion.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87568" y="3621024"/>
            <a:ext cx="310896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AAAA"/>
                </a:solidFill>
                <a:latin typeface="Calibri"/>
              </a:rPr>
              <a:t>Primary ask is mentorship + network, not capital at this stage. If ISB DLabs funding is available, it would go toward Batch 02 tooling, IP filing, and brand marketing.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5138928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03520" y="0"/>
            <a:ext cx="3840480" cy="5138928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03520" y="0"/>
            <a:ext cx="54864" cy="5138928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9456" y="201168"/>
            <a:ext cx="4937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080808"/>
                </a:solidFill>
                <a:latin typeface="League Spartan"/>
              </a:rPr>
              <a:t>ONE
GARMENT.
FOUR
MODES.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19456" y="3072384"/>
            <a:ext cx="4389120" cy="45720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3163824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80808"/>
                </a:solidFill>
                <a:latin typeface="League Spartan"/>
              </a:rPr>
              <a:t>Nothing like it exists.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" y="3621024"/>
            <a:ext cx="4937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If you are building the next generation of Indian consumer
products — this is what one looks like.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04688" y="25603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6F135"/>
                </a:solidFill>
                <a:latin typeface="Courier New"/>
              </a:rPr>
              <a:t>GET IN TOUCH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04688" y="530352"/>
            <a:ext cx="3401568" cy="36576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4688" y="658368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6F135"/>
                </a:solidFill>
                <a:latin typeface="Courier New"/>
              </a:rPr>
              <a:t>Startup: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1072" y="658368"/>
            <a:ext cx="2615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  <a:latin typeface="Calibri"/>
              </a:rPr>
              <a:t>NUUL — NotTheBestPlaceToBuyStuff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04688" y="100584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6F135"/>
                </a:solidFill>
                <a:latin typeface="Courier New"/>
              </a:rPr>
              <a:t>Founder: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1072" y="1005840"/>
            <a:ext cx="2615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  <a:latin typeface="Calibri"/>
              </a:rPr>
              <a:t>[ Your Name ]  |  [ email@email.com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04688" y="1353312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6F135"/>
                </a:solidFill>
                <a:latin typeface="Courier New"/>
              </a:rPr>
              <a:t>Website: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1072" y="1353312"/>
            <a:ext cx="2615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  <a:latin typeface="Calibri"/>
              </a:rPr>
              <a:t>chipper-biscochitos-48c023.netlify.app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04688" y="1700784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6F135"/>
                </a:solidFill>
                <a:latin typeface="Courier New"/>
              </a:rPr>
              <a:t>Deck: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072" y="1700784"/>
            <a:ext cx="2615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  <a:latin typeface="Calibri"/>
              </a:rPr>
              <a:t>June 2025  |  IVI Cohort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04688" y="2212848"/>
            <a:ext cx="3401568" cy="3657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04688" y="2304288"/>
            <a:ext cx="34015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777777"/>
                </a:solidFill>
                <a:latin typeface="Courier New"/>
              </a:rPr>
              <a:t>BATCH 01 AT A GLANCE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04688" y="2615184"/>
            <a:ext cx="1645920" cy="804672"/>
          </a:xfrm>
          <a:prstGeom prst="rect">
            <a:avLst/>
          </a:prstGeom>
          <a:solidFill>
            <a:srgbClr val="1A2606"/>
          </a:solidFill>
          <a:ln w="9525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04688" y="2706624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6F135"/>
                </a:solidFill>
                <a:latin typeface="League Spartan"/>
              </a:rPr>
              <a:t>100 pieces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04688" y="3145536"/>
            <a:ext cx="1645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777777"/>
                </a:solidFill>
                <a:latin typeface="Courier New"/>
              </a:rPr>
              <a:t>PASSWORD-ONLY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42048" y="2615184"/>
            <a:ext cx="1645920" cy="804672"/>
          </a:xfrm>
          <a:prstGeom prst="rect">
            <a:avLst/>
          </a:prstGeom>
          <a:solidFill>
            <a:srgbClr val="220610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42048" y="2706624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League Spartan"/>
              </a:rPr>
              <a:t>₹6,500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42048" y="3145536"/>
            <a:ext cx="1645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777777"/>
                </a:solidFill>
                <a:latin typeface="Courier New"/>
              </a:rPr>
              <a:t>SELL PRICE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504688" y="3511296"/>
            <a:ext cx="1645920" cy="804672"/>
          </a:xfrm>
          <a:prstGeom prst="rect">
            <a:avLst/>
          </a:prstGeom>
          <a:solidFill>
            <a:srgbClr val="221E00"/>
          </a:solidFill>
          <a:ln w="9525">
            <a:solidFill>
              <a:srgbClr val="FFE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04688" y="3602736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E500"/>
                </a:solidFill>
                <a:latin typeface="League Spartan"/>
              </a:rPr>
              <a:t>57%+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04688" y="4041648"/>
            <a:ext cx="1645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777777"/>
                </a:solidFill>
                <a:latin typeface="Courier New"/>
              </a:rPr>
              <a:t>GROSS MARGIN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42048" y="3511296"/>
            <a:ext cx="1645920" cy="804672"/>
          </a:xfrm>
          <a:prstGeom prst="rect">
            <a:avLst/>
          </a:prstGeom>
          <a:solidFill>
            <a:srgbClr val="220610"/>
          </a:solidFill>
          <a:ln w="9525">
            <a:solidFill>
              <a:srgbClr val="FF2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42048" y="3602736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2D78"/>
                </a:solidFill>
                <a:latin typeface="League Spartan"/>
              </a:rPr>
              <a:t>10 spots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42048" y="4041648"/>
            <a:ext cx="1645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777777"/>
                </a:solidFill>
                <a:latin typeface="Courier New"/>
              </a:rPr>
              <a:t>₹1K DEPOSIT EACH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