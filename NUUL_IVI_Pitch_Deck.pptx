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89136" y="0"/>
            <a:ext cx="54864" cy="513892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5084064"/>
            <a:ext cx="9144000"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9456" y="384048"/>
            <a:ext cx="5486400" cy="1463040"/>
          </a:xfrm>
          <a:prstGeom prst="rect">
            <a:avLst/>
          </a:prstGeom>
          <a:noFill/>
        </p:spPr>
        <p:txBody>
          <a:bodyPr wrap="square">
            <a:spAutoFit/>
          </a:bodyPr>
          <a:lstStyle/>
          <a:p>
            <a:pPr algn="l"/>
            <a:r>
              <a:rPr sz="11000" b="1" i="0">
                <a:solidFill>
                  <a:srgbClr val="C6F135"/>
                </a:solidFill>
                <a:latin typeface="League Spartan"/>
              </a:rPr>
              <a:t>NUUL</a:t>
            </a:r>
          </a:p>
        </p:txBody>
      </p:sp>
      <p:sp>
        <p:nvSpPr>
          <p:cNvPr id="8" name="TextBox 7"/>
          <p:cNvSpPr txBox="1"/>
          <p:nvPr/>
        </p:nvSpPr>
        <p:spPr>
          <a:xfrm>
            <a:off x="237744" y="1664208"/>
            <a:ext cx="5486400" cy="310896"/>
          </a:xfrm>
          <a:prstGeom prst="rect">
            <a:avLst/>
          </a:prstGeom>
          <a:noFill/>
        </p:spPr>
        <p:txBody>
          <a:bodyPr wrap="square">
            <a:spAutoFit/>
          </a:bodyPr>
          <a:lstStyle/>
          <a:p>
            <a:pPr algn="l"/>
            <a:r>
              <a:rPr sz="900" b="0" i="0">
                <a:solidFill>
                  <a:srgbClr val="888888"/>
                </a:solidFill>
                <a:latin typeface="Courier New"/>
              </a:rPr>
              <a:t>NotTheBestPlaceToBuyStuff</a:t>
            </a:r>
          </a:p>
        </p:txBody>
      </p:sp>
      <p:sp>
        <p:nvSpPr>
          <p:cNvPr id="9" name="TextBox 8"/>
          <p:cNvSpPr txBox="1"/>
          <p:nvPr/>
        </p:nvSpPr>
        <p:spPr>
          <a:xfrm>
            <a:off x="237744" y="2029968"/>
            <a:ext cx="5943600" cy="384048"/>
          </a:xfrm>
          <a:prstGeom prst="rect">
            <a:avLst/>
          </a:prstGeom>
          <a:noFill/>
        </p:spPr>
        <p:txBody>
          <a:bodyPr wrap="square">
            <a:spAutoFit/>
          </a:bodyPr>
          <a:lstStyle/>
          <a:p>
            <a:pPr algn="l"/>
            <a:r>
              <a:rPr sz="1800" b="1" i="0">
                <a:solidFill>
                  <a:srgbClr val="FFFFFF"/>
                </a:solidFill>
                <a:latin typeface="League Spartan"/>
              </a:rPr>
              <a:t>One garment. Four modes. Nothing like it.</a:t>
            </a:r>
          </a:p>
        </p:txBody>
      </p:sp>
      <p:sp>
        <p:nvSpPr>
          <p:cNvPr id="10" name="Rectangle 9"/>
          <p:cNvSpPr/>
          <p:nvPr/>
        </p:nvSpPr>
        <p:spPr>
          <a:xfrm>
            <a:off x="237744" y="2578608"/>
            <a:ext cx="868680" cy="237744"/>
          </a:xfrm>
          <a:prstGeom prst="rect">
            <a:avLst/>
          </a:prstGeom>
          <a:solidFill>
            <a:srgbClr val="202010"/>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 y="2587752"/>
            <a:ext cx="822960" cy="219456"/>
          </a:xfrm>
          <a:prstGeom prst="rect">
            <a:avLst/>
          </a:prstGeom>
          <a:noFill/>
        </p:spPr>
        <p:txBody>
          <a:bodyPr wrap="square">
            <a:spAutoFit/>
          </a:bodyPr>
          <a:lstStyle/>
          <a:p>
            <a:pPr algn="l"/>
            <a:r>
              <a:rPr sz="650" b="1" i="0">
                <a:solidFill>
                  <a:srgbClr val="C6F135"/>
                </a:solidFill>
                <a:latin typeface="Courier New"/>
              </a:rPr>
              <a:t>D2C · Fashion-Tech</a:t>
            </a:r>
          </a:p>
        </p:txBody>
      </p:sp>
      <p:sp>
        <p:nvSpPr>
          <p:cNvPr id="12" name="Rectangle 11"/>
          <p:cNvSpPr/>
          <p:nvPr/>
        </p:nvSpPr>
        <p:spPr>
          <a:xfrm>
            <a:off x="1188720" y="2578608"/>
            <a:ext cx="777240" cy="237744"/>
          </a:xfrm>
          <a:prstGeom prst="rect">
            <a:avLst/>
          </a:prstGeom>
          <a:solidFill>
            <a:srgbClr val="201000"/>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2587752"/>
            <a:ext cx="749808" cy="219456"/>
          </a:xfrm>
          <a:prstGeom prst="rect">
            <a:avLst/>
          </a:prstGeom>
          <a:noFill/>
        </p:spPr>
        <p:txBody>
          <a:bodyPr wrap="square">
            <a:spAutoFit/>
          </a:bodyPr>
          <a:lstStyle/>
          <a:p>
            <a:pPr algn="l"/>
            <a:r>
              <a:rPr sz="650" b="1" i="0">
                <a:solidFill>
                  <a:srgbClr val="FFE500"/>
                </a:solidFill>
                <a:latin typeface="Courier New"/>
              </a:rPr>
              <a:t>Prototype Stage</a:t>
            </a:r>
          </a:p>
        </p:txBody>
      </p:sp>
      <p:sp>
        <p:nvSpPr>
          <p:cNvPr id="14" name="Rectangle 13"/>
          <p:cNvSpPr/>
          <p:nvPr/>
        </p:nvSpPr>
        <p:spPr>
          <a:xfrm>
            <a:off x="2048256" y="2578608"/>
            <a:ext cx="658368" cy="237744"/>
          </a:xfrm>
          <a:prstGeom prst="rect">
            <a:avLst/>
          </a:prstGeom>
          <a:solidFill>
            <a:srgbClr val="200008"/>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66543" y="2587752"/>
            <a:ext cx="640080" cy="219456"/>
          </a:xfrm>
          <a:prstGeom prst="rect">
            <a:avLst/>
          </a:prstGeom>
          <a:noFill/>
        </p:spPr>
        <p:txBody>
          <a:bodyPr wrap="square">
            <a:spAutoFit/>
          </a:bodyPr>
          <a:lstStyle/>
          <a:p>
            <a:pPr algn="l"/>
            <a:r>
              <a:rPr sz="650" b="1" i="0">
                <a:solidFill>
                  <a:srgbClr val="FF2D78"/>
                </a:solidFill>
                <a:latin typeface="Courier New"/>
              </a:rPr>
              <a:t>Chennai · 2025</a:t>
            </a:r>
          </a:p>
        </p:txBody>
      </p:sp>
      <p:sp>
        <p:nvSpPr>
          <p:cNvPr id="16" name="Rectangle 15"/>
          <p:cNvSpPr/>
          <p:nvPr/>
        </p:nvSpPr>
        <p:spPr>
          <a:xfrm>
            <a:off x="237744" y="2926080"/>
            <a:ext cx="4572000" cy="13716"/>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 y="3017520"/>
            <a:ext cx="5029200" cy="914400"/>
          </a:xfrm>
          <a:prstGeom prst="rect">
            <a:avLst/>
          </a:prstGeom>
          <a:noFill/>
        </p:spPr>
        <p:txBody>
          <a:bodyPr wrap="square">
            <a:spAutoFit/>
          </a:bodyPr>
          <a:lstStyle/>
          <a:p>
            <a:pPr algn="l"/>
            <a:r>
              <a:rPr sz="750" b="1">
                <a:solidFill>
                  <a:srgbClr val="C8A84B"/>
                </a:solidFill>
                <a:latin typeface="Courier New"/>
              </a:rPr>
              <a:t>Cohort 5 | Application Pitch Deck</a:t>
            </a:r>
          </a:p>
          <a:p>
            <a:pPr algn="l"/>
            <a:r>
              <a:rPr sz="400" b="0">
                <a:solidFill>
                  <a:srgbClr val="FFFFFF"/>
                </a:solidFill>
                <a:latin typeface="Courier New"/>
              </a:rPr>
              <a:t/>
            </a:r>
          </a:p>
          <a:p>
            <a:pPr algn="l"/>
            <a:r>
              <a:rPr sz="850" b="0">
                <a:solidFill>
                  <a:srgbClr val="AAAAAA"/>
                </a:solidFill>
                <a:latin typeface="Courier New"/>
              </a:rPr>
              <a:t>Founder:  [ Your Name ]</a:t>
            </a:r>
          </a:p>
          <a:p>
            <a:pPr algn="l"/>
            <a:r>
              <a:rPr sz="850" b="0">
                <a:solidFill>
                  <a:srgbClr val="AAAAAA"/>
                </a:solidFill>
                <a:latin typeface="Courier New"/>
              </a:rPr>
              <a:t>Domain:   D2C / Fashion-Tech / Wearable Systems</a:t>
            </a:r>
          </a:p>
          <a:p>
            <a:pPr algn="l"/>
            <a:r>
              <a:rPr sz="850" b="0">
                <a:solidFill>
                  <a:srgbClr val="AAAAAA"/>
                </a:solidFill>
                <a:latin typeface="Courier New"/>
              </a:rPr>
              <a:t>Stage:    Prototype / Pre-Revenue</a:t>
            </a:r>
          </a:p>
        </p:txBody>
      </p:sp>
      <p:sp>
        <p:nvSpPr>
          <p:cNvPr id="18" name="Rectangle 17"/>
          <p:cNvSpPr/>
          <p:nvPr/>
        </p:nvSpPr>
        <p:spPr>
          <a:xfrm>
            <a:off x="6217920" y="731520"/>
            <a:ext cx="2743200" cy="3200400"/>
          </a:xfrm>
          <a:prstGeom prst="rect">
            <a:avLst/>
          </a:prstGeom>
          <a:solidFill>
            <a:srgbClr val="121212"/>
          </a:solidFill>
          <a:ln w="63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868680"/>
            <a:ext cx="2560320" cy="329184"/>
          </a:xfrm>
          <a:prstGeom prst="rect">
            <a:avLst/>
          </a:prstGeom>
          <a:noFill/>
        </p:spPr>
        <p:txBody>
          <a:bodyPr wrap="square">
            <a:spAutoFit/>
          </a:bodyPr>
          <a:lstStyle/>
          <a:p>
            <a:pPr algn="l"/>
            <a:r>
              <a:rPr sz="2200" b="1" i="0">
                <a:solidFill>
                  <a:srgbClr val="C6F135"/>
                </a:solidFill>
                <a:latin typeface="League Spartan"/>
              </a:rPr>
              <a:t>BATCH 01</a:t>
            </a:r>
          </a:p>
        </p:txBody>
      </p:sp>
      <p:sp>
        <p:nvSpPr>
          <p:cNvPr id="20" name="TextBox 19"/>
          <p:cNvSpPr txBox="1"/>
          <p:nvPr/>
        </p:nvSpPr>
        <p:spPr>
          <a:xfrm>
            <a:off x="6309360" y="1207008"/>
            <a:ext cx="2560320" cy="219456"/>
          </a:xfrm>
          <a:prstGeom prst="rect">
            <a:avLst/>
          </a:prstGeom>
          <a:noFill/>
        </p:spPr>
        <p:txBody>
          <a:bodyPr wrap="square">
            <a:spAutoFit/>
          </a:bodyPr>
          <a:lstStyle/>
          <a:p>
            <a:pPr algn="l"/>
            <a:r>
              <a:rPr sz="800" b="0" i="0">
                <a:solidFill>
                  <a:srgbClr val="888888"/>
                </a:solidFill>
                <a:latin typeface="Courier New"/>
              </a:rPr>
              <a:t>— Limited Run</a:t>
            </a:r>
          </a:p>
        </p:txBody>
      </p:sp>
      <p:sp>
        <p:nvSpPr>
          <p:cNvPr id="21" name="Rectangle 20"/>
          <p:cNvSpPr/>
          <p:nvPr/>
        </p:nvSpPr>
        <p:spPr>
          <a:xfrm>
            <a:off x="6309360" y="1536192"/>
            <a:ext cx="1261872" cy="804672"/>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1700784"/>
            <a:ext cx="1261872" cy="384048"/>
          </a:xfrm>
          <a:prstGeom prst="rect">
            <a:avLst/>
          </a:prstGeom>
          <a:noFill/>
        </p:spPr>
        <p:txBody>
          <a:bodyPr wrap="square">
            <a:spAutoFit/>
          </a:bodyPr>
          <a:lstStyle/>
          <a:p>
            <a:pPr algn="ctr"/>
            <a:r>
              <a:rPr sz="2800" b="1" i="0">
                <a:solidFill>
                  <a:srgbClr val="C6F135"/>
                </a:solidFill>
                <a:latin typeface="League Spartan"/>
              </a:rPr>
              <a:t>100</a:t>
            </a:r>
          </a:p>
        </p:txBody>
      </p:sp>
      <p:sp>
        <p:nvSpPr>
          <p:cNvPr id="23" name="TextBox 22"/>
          <p:cNvSpPr txBox="1"/>
          <p:nvPr/>
        </p:nvSpPr>
        <p:spPr>
          <a:xfrm>
            <a:off x="6309360" y="2084832"/>
            <a:ext cx="1261872" cy="201168"/>
          </a:xfrm>
          <a:prstGeom prst="rect">
            <a:avLst/>
          </a:prstGeom>
          <a:noFill/>
        </p:spPr>
        <p:txBody>
          <a:bodyPr wrap="square">
            <a:spAutoFit/>
          </a:bodyPr>
          <a:lstStyle/>
          <a:p>
            <a:pPr algn="ctr"/>
            <a:r>
              <a:rPr sz="650" b="1" i="0">
                <a:solidFill>
                  <a:srgbClr val="888888"/>
                </a:solidFill>
                <a:latin typeface="Courier New"/>
              </a:rPr>
              <a:t>PIECES ONLY</a:t>
            </a:r>
          </a:p>
        </p:txBody>
      </p:sp>
      <p:sp>
        <p:nvSpPr>
          <p:cNvPr id="24" name="Rectangle 23"/>
          <p:cNvSpPr/>
          <p:nvPr/>
        </p:nvSpPr>
        <p:spPr>
          <a:xfrm>
            <a:off x="7662672" y="1536192"/>
            <a:ext cx="1261872" cy="804672"/>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62672" y="1700784"/>
            <a:ext cx="1261872" cy="384048"/>
          </a:xfrm>
          <a:prstGeom prst="rect">
            <a:avLst/>
          </a:prstGeom>
          <a:noFill/>
        </p:spPr>
        <p:txBody>
          <a:bodyPr wrap="square">
            <a:spAutoFit/>
          </a:bodyPr>
          <a:lstStyle/>
          <a:p>
            <a:pPr algn="ctr"/>
            <a:r>
              <a:rPr sz="2800" b="1" i="0">
                <a:solidFill>
                  <a:srgbClr val="FFE500"/>
                </a:solidFill>
                <a:latin typeface="League Spartan"/>
              </a:rPr>
              <a:t>₹6,500</a:t>
            </a:r>
          </a:p>
        </p:txBody>
      </p:sp>
      <p:sp>
        <p:nvSpPr>
          <p:cNvPr id="26" name="TextBox 25"/>
          <p:cNvSpPr txBox="1"/>
          <p:nvPr/>
        </p:nvSpPr>
        <p:spPr>
          <a:xfrm>
            <a:off x="7662672" y="2084832"/>
            <a:ext cx="1261872" cy="201168"/>
          </a:xfrm>
          <a:prstGeom prst="rect">
            <a:avLst/>
          </a:prstGeom>
          <a:noFill/>
        </p:spPr>
        <p:txBody>
          <a:bodyPr wrap="square">
            <a:spAutoFit/>
          </a:bodyPr>
          <a:lstStyle/>
          <a:p>
            <a:pPr algn="ctr"/>
            <a:r>
              <a:rPr sz="650" b="1" i="0">
                <a:solidFill>
                  <a:srgbClr val="888888"/>
                </a:solidFill>
                <a:latin typeface="Courier New"/>
              </a:rPr>
              <a:t>SELL PRICE</a:t>
            </a:r>
          </a:p>
        </p:txBody>
      </p:sp>
      <p:sp>
        <p:nvSpPr>
          <p:cNvPr id="27" name="Rectangle 26"/>
          <p:cNvSpPr/>
          <p:nvPr/>
        </p:nvSpPr>
        <p:spPr>
          <a:xfrm>
            <a:off x="6309360" y="2432304"/>
            <a:ext cx="1261872" cy="804672"/>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596896"/>
            <a:ext cx="1261872" cy="384048"/>
          </a:xfrm>
          <a:prstGeom prst="rect">
            <a:avLst/>
          </a:prstGeom>
          <a:noFill/>
        </p:spPr>
        <p:txBody>
          <a:bodyPr wrap="square">
            <a:spAutoFit/>
          </a:bodyPr>
          <a:lstStyle/>
          <a:p>
            <a:pPr algn="ctr"/>
            <a:r>
              <a:rPr sz="2800" b="1" i="0">
                <a:solidFill>
                  <a:srgbClr val="FF2D78"/>
                </a:solidFill>
                <a:latin typeface="League Spartan"/>
              </a:rPr>
              <a:t>57%+</a:t>
            </a:r>
          </a:p>
        </p:txBody>
      </p:sp>
      <p:sp>
        <p:nvSpPr>
          <p:cNvPr id="29" name="TextBox 28"/>
          <p:cNvSpPr txBox="1"/>
          <p:nvPr/>
        </p:nvSpPr>
        <p:spPr>
          <a:xfrm>
            <a:off x="6309360" y="2980944"/>
            <a:ext cx="1261872" cy="201168"/>
          </a:xfrm>
          <a:prstGeom prst="rect">
            <a:avLst/>
          </a:prstGeom>
          <a:noFill/>
        </p:spPr>
        <p:txBody>
          <a:bodyPr wrap="square">
            <a:spAutoFit/>
          </a:bodyPr>
          <a:lstStyle/>
          <a:p>
            <a:pPr algn="ctr"/>
            <a:r>
              <a:rPr sz="650" b="1" i="0">
                <a:solidFill>
                  <a:srgbClr val="888888"/>
                </a:solidFill>
                <a:latin typeface="Courier New"/>
              </a:rPr>
              <a:t>GROSS MARGIN</a:t>
            </a:r>
          </a:p>
        </p:txBody>
      </p:sp>
      <p:sp>
        <p:nvSpPr>
          <p:cNvPr id="30" name="Rectangle 29"/>
          <p:cNvSpPr/>
          <p:nvPr/>
        </p:nvSpPr>
        <p:spPr>
          <a:xfrm>
            <a:off x="7662672" y="2432304"/>
            <a:ext cx="1261872" cy="804672"/>
          </a:xfrm>
          <a:prstGeom prst="rect">
            <a:avLst/>
          </a:prstGeom>
          <a:solidFill>
            <a:srgbClr val="1A1A1A"/>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2596896"/>
            <a:ext cx="1261872" cy="384048"/>
          </a:xfrm>
          <a:prstGeom prst="rect">
            <a:avLst/>
          </a:prstGeom>
          <a:noFill/>
        </p:spPr>
        <p:txBody>
          <a:bodyPr wrap="square">
            <a:spAutoFit/>
          </a:bodyPr>
          <a:lstStyle/>
          <a:p>
            <a:pPr algn="ctr"/>
            <a:r>
              <a:rPr sz="2800" b="1" i="0">
                <a:solidFill>
                  <a:srgbClr val="FFFFFF"/>
                </a:solidFill>
                <a:latin typeface="League Spartan"/>
              </a:rPr>
              <a:t>4</a:t>
            </a:r>
          </a:p>
        </p:txBody>
      </p:sp>
      <p:sp>
        <p:nvSpPr>
          <p:cNvPr id="32" name="TextBox 31"/>
          <p:cNvSpPr txBox="1"/>
          <p:nvPr/>
        </p:nvSpPr>
        <p:spPr>
          <a:xfrm>
            <a:off x="7662672" y="2980944"/>
            <a:ext cx="1261872" cy="201168"/>
          </a:xfrm>
          <a:prstGeom prst="rect">
            <a:avLst/>
          </a:prstGeom>
          <a:noFill/>
        </p:spPr>
        <p:txBody>
          <a:bodyPr wrap="square">
            <a:spAutoFit/>
          </a:bodyPr>
          <a:lstStyle/>
          <a:p>
            <a:pPr algn="ctr"/>
            <a:r>
              <a:rPr sz="650" b="1" i="0">
                <a:solidFill>
                  <a:srgbClr val="888888"/>
                </a:solidFill>
                <a:latin typeface="Courier New"/>
              </a:rPr>
              <a:t>MODES</a:t>
            </a:r>
          </a:p>
        </p:txBody>
      </p:sp>
      <p:sp>
        <p:nvSpPr>
          <p:cNvPr id="33" name="TextBox 32"/>
          <p:cNvSpPr txBox="1"/>
          <p:nvPr/>
        </p:nvSpPr>
        <p:spPr>
          <a:xfrm>
            <a:off x="8321040" y="4773168"/>
            <a:ext cx="731520" cy="274320"/>
          </a:xfrm>
          <a:prstGeom prst="rect">
            <a:avLst/>
          </a:prstGeom>
          <a:noFill/>
        </p:spPr>
        <p:txBody>
          <a:bodyPr wrap="square">
            <a:spAutoFit/>
          </a:bodyPr>
          <a:lstStyle/>
          <a:p>
            <a:pPr algn="r"/>
            <a:r>
              <a:rPr sz="800" b="1" i="0">
                <a:solidFill>
                  <a:srgbClr val="C8A84B"/>
                </a:solidFill>
                <a:latin typeface="Courier New"/>
              </a:rPr>
              <a:t>ivi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02</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1817827"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72691" y="5084064"/>
            <a:ext cx="7271308"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2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THE PROBLEM</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What pain point are you solving, and who feels it most?</a:t>
            </a:r>
          </a:p>
        </p:txBody>
      </p:sp>
      <p:sp>
        <p:nvSpPr>
          <p:cNvPr id="12" name="Rectangle 11"/>
          <p:cNvSpPr/>
          <p:nvPr/>
        </p:nvSpPr>
        <p:spPr>
          <a:xfrm>
            <a:off x="164592" y="932688"/>
            <a:ext cx="5029200" cy="621792"/>
          </a:xfrm>
          <a:prstGeom prst="rect">
            <a:avLst/>
          </a:prstGeom>
          <a:solidFill>
            <a:srgbClr val="14140A"/>
          </a:solidFill>
          <a:ln w="1016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987552"/>
            <a:ext cx="4846320" cy="548640"/>
          </a:xfrm>
          <a:prstGeom prst="rect">
            <a:avLst/>
          </a:prstGeom>
          <a:noFill/>
        </p:spPr>
        <p:txBody>
          <a:bodyPr wrap="square">
            <a:spAutoFit/>
          </a:bodyPr>
          <a:lstStyle/>
          <a:p>
            <a:pPr algn="l"/>
            <a:r>
              <a:rPr sz="1300" b="1" i="0">
                <a:solidFill>
                  <a:srgbClr val="FFFFFF"/>
                </a:solidFill>
                <a:latin typeface="League Spartan"/>
              </a:rPr>
              <a:t>The fashion-forward Indian consumer already spends ₹8,000+ on four separate items — just not this smartly.</a:t>
            </a:r>
          </a:p>
        </p:txBody>
      </p:sp>
      <p:sp>
        <p:nvSpPr>
          <p:cNvPr id="14" name="Rectangle 13"/>
          <p:cNvSpPr/>
          <p:nvPr/>
        </p:nvSpPr>
        <p:spPr>
          <a:xfrm>
            <a:off x="164592" y="1664208"/>
            <a:ext cx="1188720" cy="658368"/>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4592" y="1719072"/>
            <a:ext cx="1188720" cy="292608"/>
          </a:xfrm>
          <a:prstGeom prst="rect">
            <a:avLst/>
          </a:prstGeom>
          <a:noFill/>
        </p:spPr>
        <p:txBody>
          <a:bodyPr wrap="square">
            <a:spAutoFit/>
          </a:bodyPr>
          <a:lstStyle/>
          <a:p>
            <a:pPr algn="ctr"/>
            <a:r>
              <a:rPr sz="2000" b="1" i="0">
                <a:solidFill>
                  <a:srgbClr val="C6F135"/>
                </a:solidFill>
                <a:latin typeface="League Spartan"/>
              </a:rPr>
              <a:t>₹2–3K</a:t>
            </a:r>
          </a:p>
        </p:txBody>
      </p:sp>
      <p:sp>
        <p:nvSpPr>
          <p:cNvPr id="16" name="TextBox 15"/>
          <p:cNvSpPr txBox="1"/>
          <p:nvPr/>
        </p:nvSpPr>
        <p:spPr>
          <a:xfrm>
            <a:off x="164592" y="2011680"/>
            <a:ext cx="1188720" cy="256032"/>
          </a:xfrm>
          <a:prstGeom prst="rect">
            <a:avLst/>
          </a:prstGeom>
          <a:noFill/>
        </p:spPr>
        <p:txBody>
          <a:bodyPr wrap="square">
            <a:spAutoFit/>
          </a:bodyPr>
          <a:lstStyle/>
          <a:p>
            <a:pPr algn="ctr"/>
            <a:r>
              <a:rPr sz="650" b="1" i="0">
                <a:solidFill>
                  <a:srgbClr val="888888"/>
                </a:solidFill>
                <a:latin typeface="Courier New"/>
              </a:rPr>
              <a:t>Watch</a:t>
            </a:r>
          </a:p>
        </p:txBody>
      </p:sp>
      <p:sp>
        <p:nvSpPr>
          <p:cNvPr id="17" name="Rectangle 16"/>
          <p:cNvSpPr/>
          <p:nvPr/>
        </p:nvSpPr>
        <p:spPr>
          <a:xfrm>
            <a:off x="1380744" y="1664208"/>
            <a:ext cx="1188720" cy="658368"/>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80744" y="1719072"/>
            <a:ext cx="1188720" cy="292608"/>
          </a:xfrm>
          <a:prstGeom prst="rect">
            <a:avLst/>
          </a:prstGeom>
          <a:noFill/>
        </p:spPr>
        <p:txBody>
          <a:bodyPr wrap="square">
            <a:spAutoFit/>
          </a:bodyPr>
          <a:lstStyle/>
          <a:p>
            <a:pPr algn="ctr"/>
            <a:r>
              <a:rPr sz="2000" b="1" i="0">
                <a:solidFill>
                  <a:srgbClr val="FFE500"/>
                </a:solidFill>
                <a:latin typeface="League Spartan"/>
              </a:rPr>
              <a:t>₹1–2K</a:t>
            </a:r>
          </a:p>
        </p:txBody>
      </p:sp>
      <p:sp>
        <p:nvSpPr>
          <p:cNvPr id="19" name="TextBox 18"/>
          <p:cNvSpPr txBox="1"/>
          <p:nvPr/>
        </p:nvSpPr>
        <p:spPr>
          <a:xfrm>
            <a:off x="1380744" y="2011680"/>
            <a:ext cx="1188720" cy="256032"/>
          </a:xfrm>
          <a:prstGeom prst="rect">
            <a:avLst/>
          </a:prstGeom>
          <a:noFill/>
        </p:spPr>
        <p:txBody>
          <a:bodyPr wrap="square">
            <a:spAutoFit/>
          </a:bodyPr>
          <a:lstStyle/>
          <a:p>
            <a:pPr algn="ctr"/>
            <a:r>
              <a:rPr sz="650" b="1" i="0">
                <a:solidFill>
                  <a:srgbClr val="888888"/>
                </a:solidFill>
                <a:latin typeface="Courier New"/>
              </a:rPr>
              <a:t>Wallet</a:t>
            </a:r>
          </a:p>
        </p:txBody>
      </p:sp>
      <p:sp>
        <p:nvSpPr>
          <p:cNvPr id="20" name="Rectangle 19"/>
          <p:cNvSpPr/>
          <p:nvPr/>
        </p:nvSpPr>
        <p:spPr>
          <a:xfrm>
            <a:off x="2596896" y="1664208"/>
            <a:ext cx="1188720" cy="658368"/>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96896" y="1719072"/>
            <a:ext cx="1188720" cy="292608"/>
          </a:xfrm>
          <a:prstGeom prst="rect">
            <a:avLst/>
          </a:prstGeom>
          <a:noFill/>
        </p:spPr>
        <p:txBody>
          <a:bodyPr wrap="square">
            <a:spAutoFit/>
          </a:bodyPr>
          <a:lstStyle/>
          <a:p>
            <a:pPr algn="ctr"/>
            <a:r>
              <a:rPr sz="2000" b="1" i="0">
                <a:solidFill>
                  <a:srgbClr val="FF2D78"/>
                </a:solidFill>
                <a:latin typeface="League Spartan"/>
              </a:rPr>
              <a:t>₹1–2K</a:t>
            </a:r>
          </a:p>
        </p:txBody>
      </p:sp>
      <p:sp>
        <p:nvSpPr>
          <p:cNvPr id="22" name="TextBox 21"/>
          <p:cNvSpPr txBox="1"/>
          <p:nvPr/>
        </p:nvSpPr>
        <p:spPr>
          <a:xfrm>
            <a:off x="2596896" y="2011680"/>
            <a:ext cx="1188720" cy="256032"/>
          </a:xfrm>
          <a:prstGeom prst="rect">
            <a:avLst/>
          </a:prstGeom>
          <a:noFill/>
        </p:spPr>
        <p:txBody>
          <a:bodyPr wrap="square">
            <a:spAutoFit/>
          </a:bodyPr>
          <a:lstStyle/>
          <a:p>
            <a:pPr algn="ctr"/>
            <a:r>
              <a:rPr sz="650" b="1" i="0">
                <a:solidFill>
                  <a:srgbClr val="888888"/>
                </a:solidFill>
                <a:latin typeface="Courier New"/>
              </a:rPr>
              <a:t>T-Shirt</a:t>
            </a:r>
          </a:p>
        </p:txBody>
      </p:sp>
      <p:sp>
        <p:nvSpPr>
          <p:cNvPr id="23" name="Rectangle 22"/>
          <p:cNvSpPr/>
          <p:nvPr/>
        </p:nvSpPr>
        <p:spPr>
          <a:xfrm>
            <a:off x="3813048" y="1664208"/>
            <a:ext cx="1188720" cy="658368"/>
          </a:xfrm>
          <a:prstGeom prst="rect">
            <a:avLst/>
          </a:prstGeom>
          <a:solidFill>
            <a:srgbClr val="1A1A1A"/>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13048" y="1719072"/>
            <a:ext cx="1188720" cy="292608"/>
          </a:xfrm>
          <a:prstGeom prst="rect">
            <a:avLst/>
          </a:prstGeom>
          <a:noFill/>
        </p:spPr>
        <p:txBody>
          <a:bodyPr wrap="square">
            <a:spAutoFit/>
          </a:bodyPr>
          <a:lstStyle/>
          <a:p>
            <a:pPr algn="ctr"/>
            <a:r>
              <a:rPr sz="2000" b="1" i="0">
                <a:solidFill>
                  <a:srgbClr val="FFFFFF"/>
                </a:solidFill>
                <a:latin typeface="League Spartan"/>
              </a:rPr>
              <a:t>₹1–2K</a:t>
            </a:r>
          </a:p>
        </p:txBody>
      </p:sp>
      <p:sp>
        <p:nvSpPr>
          <p:cNvPr id="25" name="TextBox 24"/>
          <p:cNvSpPr txBox="1"/>
          <p:nvPr/>
        </p:nvSpPr>
        <p:spPr>
          <a:xfrm>
            <a:off x="3813048" y="2011680"/>
            <a:ext cx="1188720" cy="256032"/>
          </a:xfrm>
          <a:prstGeom prst="rect">
            <a:avLst/>
          </a:prstGeom>
          <a:noFill/>
        </p:spPr>
        <p:txBody>
          <a:bodyPr wrap="square">
            <a:spAutoFit/>
          </a:bodyPr>
          <a:lstStyle/>
          <a:p>
            <a:pPr algn="ctr"/>
            <a:r>
              <a:rPr sz="650" b="1" i="0">
                <a:solidFill>
                  <a:srgbClr val="888888"/>
                </a:solidFill>
                <a:latin typeface="Courier New"/>
              </a:rPr>
              <a:t>Utility Bag</a:t>
            </a:r>
          </a:p>
        </p:txBody>
      </p:sp>
      <p:sp>
        <p:nvSpPr>
          <p:cNvPr id="26" name="TextBox 25"/>
          <p:cNvSpPr txBox="1"/>
          <p:nvPr/>
        </p:nvSpPr>
        <p:spPr>
          <a:xfrm>
            <a:off x="5029200" y="1792224"/>
            <a:ext cx="237744" cy="329184"/>
          </a:xfrm>
          <a:prstGeom prst="rect">
            <a:avLst/>
          </a:prstGeom>
          <a:noFill/>
        </p:spPr>
        <p:txBody>
          <a:bodyPr wrap="square">
            <a:spAutoFit/>
          </a:bodyPr>
          <a:lstStyle/>
          <a:p>
            <a:pPr algn="ctr"/>
            <a:r>
              <a:rPr sz="1800" b="1" i="0">
                <a:solidFill>
                  <a:srgbClr val="C6F135"/>
                </a:solidFill>
                <a:latin typeface="League Spartan"/>
              </a:rPr>
              <a:t>→</a:t>
            </a:r>
          </a:p>
        </p:txBody>
      </p:sp>
      <p:sp>
        <p:nvSpPr>
          <p:cNvPr id="27" name="Rectangle 26"/>
          <p:cNvSpPr/>
          <p:nvPr/>
        </p:nvSpPr>
        <p:spPr>
          <a:xfrm>
            <a:off x="5303520" y="1664208"/>
            <a:ext cx="1554480" cy="658368"/>
          </a:xfrm>
          <a:prstGeom prst="rect">
            <a:avLst/>
          </a:prstGeom>
          <a:solidFill>
            <a:srgbClr val="142006"/>
          </a:solidFill>
          <a:ln w="1524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1719072"/>
            <a:ext cx="1554480" cy="329184"/>
          </a:xfrm>
          <a:prstGeom prst="rect">
            <a:avLst/>
          </a:prstGeom>
          <a:noFill/>
        </p:spPr>
        <p:txBody>
          <a:bodyPr wrap="square">
            <a:spAutoFit/>
          </a:bodyPr>
          <a:lstStyle/>
          <a:p>
            <a:pPr algn="ctr"/>
            <a:r>
              <a:rPr sz="2200" b="1" i="0">
                <a:solidFill>
                  <a:srgbClr val="C6F135"/>
                </a:solidFill>
                <a:latin typeface="League Spartan"/>
              </a:rPr>
              <a:t>₹6,500</a:t>
            </a:r>
          </a:p>
        </p:txBody>
      </p:sp>
      <p:sp>
        <p:nvSpPr>
          <p:cNvPr id="29" name="TextBox 28"/>
          <p:cNvSpPr txBox="1"/>
          <p:nvPr/>
        </p:nvSpPr>
        <p:spPr>
          <a:xfrm>
            <a:off x="5303520" y="2048256"/>
            <a:ext cx="1554480" cy="219456"/>
          </a:xfrm>
          <a:prstGeom prst="rect">
            <a:avLst/>
          </a:prstGeom>
          <a:noFill/>
        </p:spPr>
        <p:txBody>
          <a:bodyPr wrap="square">
            <a:spAutoFit/>
          </a:bodyPr>
          <a:lstStyle/>
          <a:p>
            <a:pPr algn="ctr"/>
            <a:r>
              <a:rPr sz="650" b="1" i="0">
                <a:solidFill>
                  <a:srgbClr val="C6F135"/>
                </a:solidFill>
                <a:latin typeface="Courier New"/>
              </a:rPr>
              <a:t>NUUL 01 — all four</a:t>
            </a:r>
          </a:p>
        </p:txBody>
      </p:sp>
      <p:sp>
        <p:nvSpPr>
          <p:cNvPr id="30" name="Rectangle 29"/>
          <p:cNvSpPr/>
          <p:nvPr/>
        </p:nvSpPr>
        <p:spPr>
          <a:xfrm>
            <a:off x="164592" y="2468880"/>
            <a:ext cx="2322576" cy="950976"/>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2468880"/>
            <a:ext cx="36576" cy="9509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2560320"/>
            <a:ext cx="2139696" cy="201168"/>
          </a:xfrm>
          <a:prstGeom prst="rect">
            <a:avLst/>
          </a:prstGeom>
          <a:noFill/>
        </p:spPr>
        <p:txBody>
          <a:bodyPr wrap="square">
            <a:spAutoFit/>
          </a:bodyPr>
          <a:lstStyle/>
          <a:p>
            <a:pPr algn="l"/>
            <a:r>
              <a:rPr sz="700" b="1" i="0">
                <a:solidFill>
                  <a:srgbClr val="C6F135"/>
                </a:solidFill>
                <a:latin typeface="Courier New"/>
              </a:rPr>
              <a:t>👤  WHO FEELS THIS</a:t>
            </a:r>
          </a:p>
        </p:txBody>
      </p:sp>
      <p:sp>
        <p:nvSpPr>
          <p:cNvPr id="33" name="TextBox 32"/>
          <p:cNvSpPr txBox="1"/>
          <p:nvPr/>
        </p:nvSpPr>
        <p:spPr>
          <a:xfrm>
            <a:off x="274320" y="2761488"/>
            <a:ext cx="2139696" cy="603504"/>
          </a:xfrm>
          <a:prstGeom prst="rect">
            <a:avLst/>
          </a:prstGeom>
          <a:noFill/>
        </p:spPr>
        <p:txBody>
          <a:bodyPr wrap="square">
            <a:spAutoFit/>
          </a:bodyPr>
          <a:lstStyle/>
          <a:p>
            <a:pPr algn="l">
              <a:lnSpc>
                <a:spcPts val="1300"/>
              </a:lnSpc>
            </a:pPr>
            <a:r>
              <a:rPr sz="950" b="0">
                <a:solidFill>
                  <a:srgbClr val="CCCCCC"/>
                </a:solidFill>
                <a:latin typeface="Calibri"/>
              </a:rPr>
              <a:t>Urban Indian consumer, 18–30, fashion-forward, style-conscious. Buys 4 separate items that do not talk to each other — watch, bag, wallet, tee.</a:t>
            </a:r>
          </a:p>
        </p:txBody>
      </p:sp>
      <p:sp>
        <p:nvSpPr>
          <p:cNvPr id="34" name="Rectangle 33"/>
          <p:cNvSpPr/>
          <p:nvPr/>
        </p:nvSpPr>
        <p:spPr>
          <a:xfrm>
            <a:off x="2578608" y="2468880"/>
            <a:ext cx="2322576" cy="950976"/>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578608" y="2468880"/>
            <a:ext cx="36576" cy="950976"/>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88336" y="2560320"/>
            <a:ext cx="2139696" cy="201168"/>
          </a:xfrm>
          <a:prstGeom prst="rect">
            <a:avLst/>
          </a:prstGeom>
          <a:noFill/>
        </p:spPr>
        <p:txBody>
          <a:bodyPr wrap="square">
            <a:spAutoFit/>
          </a:bodyPr>
          <a:lstStyle/>
          <a:p>
            <a:pPr algn="l"/>
            <a:r>
              <a:rPr sz="700" b="1" i="0">
                <a:solidFill>
                  <a:srgbClr val="FFE500"/>
                </a:solidFill>
                <a:latin typeface="Courier New"/>
              </a:rPr>
              <a:t>📊  HOW BIG IS THE PAIN</a:t>
            </a:r>
          </a:p>
        </p:txBody>
      </p:sp>
      <p:sp>
        <p:nvSpPr>
          <p:cNvPr id="37" name="TextBox 36"/>
          <p:cNvSpPr txBox="1"/>
          <p:nvPr/>
        </p:nvSpPr>
        <p:spPr>
          <a:xfrm>
            <a:off x="2688336" y="2761488"/>
            <a:ext cx="2139696" cy="603504"/>
          </a:xfrm>
          <a:prstGeom prst="rect">
            <a:avLst/>
          </a:prstGeom>
          <a:noFill/>
        </p:spPr>
        <p:txBody>
          <a:bodyPr wrap="square">
            <a:spAutoFit/>
          </a:bodyPr>
          <a:lstStyle/>
          <a:p>
            <a:pPr algn="l">
              <a:lnSpc>
                <a:spcPts val="1300"/>
              </a:lnSpc>
            </a:pPr>
            <a:r>
              <a:rPr sz="950" b="0">
                <a:solidFill>
                  <a:srgbClr val="CCCCCC"/>
                </a:solidFill>
                <a:latin typeface="Calibri"/>
              </a:rPr>
              <a:t>₹5K–9K spent per person on separate items with zero integration. India premium apparel market: ₹2.5L Cr+ and growing.</a:t>
            </a:r>
          </a:p>
        </p:txBody>
      </p:sp>
      <p:sp>
        <p:nvSpPr>
          <p:cNvPr id="38" name="Rectangle 37"/>
          <p:cNvSpPr/>
          <p:nvPr/>
        </p:nvSpPr>
        <p:spPr>
          <a:xfrm>
            <a:off x="4992624" y="2468880"/>
            <a:ext cx="2322576" cy="950976"/>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992624" y="2468880"/>
            <a:ext cx="36576" cy="950976"/>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02352" y="2560320"/>
            <a:ext cx="2139696" cy="201168"/>
          </a:xfrm>
          <a:prstGeom prst="rect">
            <a:avLst/>
          </a:prstGeom>
          <a:noFill/>
        </p:spPr>
        <p:txBody>
          <a:bodyPr wrap="square">
            <a:spAutoFit/>
          </a:bodyPr>
          <a:lstStyle/>
          <a:p>
            <a:pPr algn="l"/>
            <a:r>
              <a:rPr sz="700" b="1" i="0">
                <a:solidFill>
                  <a:srgbClr val="FF2D78"/>
                </a:solidFill>
                <a:latin typeface="Courier New"/>
              </a:rPr>
              <a:t>🔍  HOW WE DISCOVERED IT</a:t>
            </a:r>
          </a:p>
        </p:txBody>
      </p:sp>
      <p:sp>
        <p:nvSpPr>
          <p:cNvPr id="41" name="TextBox 40"/>
          <p:cNvSpPr txBox="1"/>
          <p:nvPr/>
        </p:nvSpPr>
        <p:spPr>
          <a:xfrm>
            <a:off x="5102352" y="2761488"/>
            <a:ext cx="2139696" cy="603504"/>
          </a:xfrm>
          <a:prstGeom prst="rect">
            <a:avLst/>
          </a:prstGeom>
          <a:noFill/>
        </p:spPr>
        <p:txBody>
          <a:bodyPr wrap="square">
            <a:spAutoFit/>
          </a:bodyPr>
          <a:lstStyle/>
          <a:p>
            <a:pPr algn="l">
              <a:lnSpc>
                <a:spcPts val="1300"/>
              </a:lnSpc>
            </a:pPr>
            <a:r>
              <a:rPr sz="950" b="0">
                <a:solidFill>
                  <a:srgbClr val="CCCCCC"/>
                </a:solidFill>
                <a:latin typeface="Calibri"/>
              </a:rPr>
              <a:t>Built from personal frustration. No Indian brand had designed utility + thermochromic aesthetics + modular carry into one garment.</a:t>
            </a:r>
          </a:p>
        </p:txBody>
      </p:sp>
      <p:sp>
        <p:nvSpPr>
          <p:cNvPr id="42" name="Rectangle 41"/>
          <p:cNvSpPr/>
          <p:nvPr/>
        </p:nvSpPr>
        <p:spPr>
          <a:xfrm>
            <a:off x="7461504" y="914400"/>
            <a:ext cx="1481328" cy="3236976"/>
          </a:xfrm>
          <a:prstGeom prst="rect">
            <a:avLst/>
          </a:prstGeom>
          <a:solidFill>
            <a:srgbClr val="1A1A1A"/>
          </a:solidFill>
          <a:ln w="63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005840"/>
            <a:ext cx="1408176" cy="219456"/>
          </a:xfrm>
          <a:prstGeom prst="rect">
            <a:avLst/>
          </a:prstGeom>
          <a:noFill/>
        </p:spPr>
        <p:txBody>
          <a:bodyPr wrap="square">
            <a:spAutoFit/>
          </a:bodyPr>
          <a:lstStyle/>
          <a:p>
            <a:pPr algn="ctr"/>
            <a:r>
              <a:rPr sz="700" b="1" i="0">
                <a:solidFill>
                  <a:srgbClr val="C6F135"/>
                </a:solidFill>
                <a:latin typeface="Courier New"/>
              </a:rPr>
              <a:t>THE GAP</a:t>
            </a:r>
          </a:p>
        </p:txBody>
      </p:sp>
      <p:sp>
        <p:nvSpPr>
          <p:cNvPr id="44" name="TextBox 43"/>
          <p:cNvSpPr txBox="1"/>
          <p:nvPr/>
        </p:nvSpPr>
        <p:spPr>
          <a:xfrm>
            <a:off x="7498079" y="1298448"/>
            <a:ext cx="1408176" cy="365760"/>
          </a:xfrm>
          <a:prstGeom prst="rect">
            <a:avLst/>
          </a:prstGeom>
          <a:noFill/>
        </p:spPr>
        <p:txBody>
          <a:bodyPr wrap="square">
            <a:spAutoFit/>
          </a:bodyPr>
          <a:lstStyle/>
          <a:p>
            <a:pPr algn="ctr"/>
            <a:r>
              <a:rPr sz="1800" b="1" i="0">
                <a:solidFill>
                  <a:srgbClr val="888888"/>
                </a:solidFill>
                <a:latin typeface="League Spartan"/>
              </a:rPr>
              <a:t>₹5K–9K</a:t>
            </a:r>
          </a:p>
        </p:txBody>
      </p:sp>
      <p:sp>
        <p:nvSpPr>
          <p:cNvPr id="45" name="TextBox 44"/>
          <p:cNvSpPr txBox="1"/>
          <p:nvPr/>
        </p:nvSpPr>
        <p:spPr>
          <a:xfrm>
            <a:off x="7498079" y="1645920"/>
            <a:ext cx="1408176" cy="201168"/>
          </a:xfrm>
          <a:prstGeom prst="rect">
            <a:avLst/>
          </a:prstGeom>
          <a:noFill/>
        </p:spPr>
        <p:txBody>
          <a:bodyPr wrap="square">
            <a:spAutoFit/>
          </a:bodyPr>
          <a:lstStyle/>
          <a:p>
            <a:pPr algn="ctr"/>
            <a:r>
              <a:rPr sz="600" b="1" i="0">
                <a:solidFill>
                  <a:srgbClr val="888888"/>
                </a:solidFill>
                <a:latin typeface="Courier New"/>
              </a:rPr>
              <a:t>Spent Separately</a:t>
            </a:r>
          </a:p>
        </p:txBody>
      </p:sp>
      <p:sp>
        <p:nvSpPr>
          <p:cNvPr id="46" name="TextBox 45"/>
          <p:cNvSpPr txBox="1"/>
          <p:nvPr/>
        </p:nvSpPr>
        <p:spPr>
          <a:xfrm>
            <a:off x="7498079" y="2048256"/>
            <a:ext cx="1408176" cy="365760"/>
          </a:xfrm>
          <a:prstGeom prst="rect">
            <a:avLst/>
          </a:prstGeom>
          <a:noFill/>
        </p:spPr>
        <p:txBody>
          <a:bodyPr wrap="square">
            <a:spAutoFit/>
          </a:bodyPr>
          <a:lstStyle/>
          <a:p>
            <a:pPr algn="ctr"/>
            <a:r>
              <a:rPr sz="1200" b="1" i="0">
                <a:solidFill>
                  <a:srgbClr val="444444"/>
                </a:solidFill>
                <a:latin typeface="League Spartan"/>
              </a:rPr>
              <a:t>VS</a:t>
            </a:r>
          </a:p>
        </p:txBody>
      </p:sp>
      <p:sp>
        <p:nvSpPr>
          <p:cNvPr id="47" name="TextBox 46"/>
          <p:cNvSpPr txBox="1"/>
          <p:nvPr/>
        </p:nvSpPr>
        <p:spPr>
          <a:xfrm>
            <a:off x="7498079" y="2414016"/>
            <a:ext cx="1408176" cy="365760"/>
          </a:xfrm>
          <a:prstGeom prst="rect">
            <a:avLst/>
          </a:prstGeom>
          <a:noFill/>
        </p:spPr>
        <p:txBody>
          <a:bodyPr wrap="square">
            <a:spAutoFit/>
          </a:bodyPr>
          <a:lstStyle/>
          <a:p>
            <a:pPr algn="ctr"/>
            <a:r>
              <a:rPr sz="1800" b="1" i="0">
                <a:solidFill>
                  <a:srgbClr val="C6F135"/>
                </a:solidFill>
                <a:latin typeface="League Spartan"/>
              </a:rPr>
              <a:t>₹6,500</a:t>
            </a:r>
          </a:p>
        </p:txBody>
      </p:sp>
      <p:sp>
        <p:nvSpPr>
          <p:cNvPr id="48" name="TextBox 47"/>
          <p:cNvSpPr txBox="1"/>
          <p:nvPr/>
        </p:nvSpPr>
        <p:spPr>
          <a:xfrm>
            <a:off x="7498079" y="2761488"/>
            <a:ext cx="1408176" cy="201168"/>
          </a:xfrm>
          <a:prstGeom prst="rect">
            <a:avLst/>
          </a:prstGeom>
          <a:noFill/>
        </p:spPr>
        <p:txBody>
          <a:bodyPr wrap="square">
            <a:spAutoFit/>
          </a:bodyPr>
          <a:lstStyle/>
          <a:p>
            <a:pPr algn="ctr"/>
            <a:r>
              <a:rPr sz="600" b="1" i="0">
                <a:solidFill>
                  <a:srgbClr val="888888"/>
                </a:solidFill>
                <a:latin typeface="Courier New"/>
              </a:rPr>
              <a:t>NUUL — All Four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03</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2726740"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81604" y="5084064"/>
            <a:ext cx="6362395"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3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YOUR SOLUTION</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What are you building, and how does it solve the problem?</a:t>
            </a:r>
          </a:p>
        </p:txBody>
      </p:sp>
      <p:sp>
        <p:nvSpPr>
          <p:cNvPr id="12" name="Rectangle 11"/>
          <p:cNvSpPr/>
          <p:nvPr/>
        </p:nvSpPr>
        <p:spPr>
          <a:xfrm>
            <a:off x="164592" y="932688"/>
            <a:ext cx="8796528" cy="566928"/>
          </a:xfrm>
          <a:prstGeom prst="rect">
            <a:avLst/>
          </a:prstGeom>
          <a:solidFill>
            <a:srgbClr val="14140A"/>
          </a:solidFill>
          <a:ln w="1016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987552"/>
            <a:ext cx="8595360" cy="493776"/>
          </a:xfrm>
          <a:prstGeom prst="rect">
            <a:avLst/>
          </a:prstGeom>
          <a:noFill/>
        </p:spPr>
        <p:txBody>
          <a:bodyPr wrap="square">
            <a:spAutoFit/>
          </a:bodyPr>
          <a:lstStyle/>
          <a:p>
            <a:pPr algn="l"/>
            <a:r>
              <a:rPr sz="1300" b="1" i="0">
                <a:solidFill>
                  <a:srgbClr val="FFFFFF"/>
                </a:solidFill>
                <a:latin typeface="League Spartan"/>
              </a:rPr>
              <a:t>NUUL 01 is a single modular garment that functions as a T-shirt, carry bag, wallet, and watch carrier — simultaneously.</a:t>
            </a:r>
          </a:p>
        </p:txBody>
      </p:sp>
      <p:sp>
        <p:nvSpPr>
          <p:cNvPr id="14" name="Rectangle 13"/>
          <p:cNvSpPr/>
          <p:nvPr/>
        </p:nvSpPr>
        <p:spPr>
          <a:xfrm>
            <a:off x="164592" y="1627632"/>
            <a:ext cx="2834640" cy="1938528"/>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4592" y="1627632"/>
            <a:ext cx="36576" cy="19385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 y="1682496"/>
            <a:ext cx="420624" cy="420624"/>
          </a:xfrm>
          <a:prstGeom prst="rect">
            <a:avLst/>
          </a:prstGeom>
          <a:noFill/>
        </p:spPr>
        <p:txBody>
          <a:bodyPr wrap="square">
            <a:spAutoFit/>
          </a:bodyPr>
          <a:lstStyle/>
          <a:p>
            <a:pPr algn="l"/>
            <a:r>
              <a:rPr sz="2800" b="1" i="0">
                <a:solidFill>
                  <a:srgbClr val="C6F135"/>
                </a:solidFill>
                <a:latin typeface="League Spartan"/>
              </a:rPr>
              <a:t>01</a:t>
            </a:r>
          </a:p>
        </p:txBody>
      </p:sp>
      <p:sp>
        <p:nvSpPr>
          <p:cNvPr id="17" name="TextBox 16"/>
          <p:cNvSpPr txBox="1"/>
          <p:nvPr/>
        </p:nvSpPr>
        <p:spPr>
          <a:xfrm>
            <a:off x="731520" y="1719072"/>
            <a:ext cx="2194560" cy="329184"/>
          </a:xfrm>
          <a:prstGeom prst="rect">
            <a:avLst/>
          </a:prstGeom>
          <a:noFill/>
        </p:spPr>
        <p:txBody>
          <a:bodyPr wrap="square">
            <a:spAutoFit/>
          </a:bodyPr>
          <a:lstStyle/>
          <a:p>
            <a:pPr algn="l"/>
            <a:r>
              <a:rPr sz="1500" b="1" i="0">
                <a:solidFill>
                  <a:srgbClr val="C6F135"/>
                </a:solidFill>
                <a:latin typeface="League Spartan"/>
              </a:rPr>
              <a:t>WEAR IT</a:t>
            </a:r>
          </a:p>
        </p:txBody>
      </p:sp>
      <p:sp>
        <p:nvSpPr>
          <p:cNvPr id="18" name="TextBox 17"/>
          <p:cNvSpPr txBox="1"/>
          <p:nvPr/>
        </p:nvSpPr>
        <p:spPr>
          <a:xfrm>
            <a:off x="256032" y="2121408"/>
            <a:ext cx="2651760" cy="1371600"/>
          </a:xfrm>
          <a:prstGeom prst="rect">
            <a:avLst/>
          </a:prstGeom>
          <a:noFill/>
        </p:spPr>
        <p:txBody>
          <a:bodyPr wrap="square">
            <a:spAutoFit/>
          </a:bodyPr>
          <a:lstStyle/>
          <a:p>
            <a:pPr algn="l"/>
            <a:r>
              <a:rPr sz="950" b="0" i="0">
                <a:solidFill>
                  <a:srgbClr val="CCCCCC"/>
                </a:solidFill>
                <a:latin typeface="Calibri"/>
              </a:rPr>
              <a:t>Put it on. T-shirt with built-in watch pocket, front wallet patch with embroidered NUUL logo, and a structured back panel with ghost-print design.</a:t>
            </a:r>
          </a:p>
        </p:txBody>
      </p:sp>
      <p:sp>
        <p:nvSpPr>
          <p:cNvPr id="19" name="Rectangle 18"/>
          <p:cNvSpPr/>
          <p:nvPr/>
        </p:nvSpPr>
        <p:spPr>
          <a:xfrm>
            <a:off x="3090672" y="1627632"/>
            <a:ext cx="2834640" cy="1938528"/>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0672" y="1627632"/>
            <a:ext cx="36576" cy="1938528"/>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82112" y="1682496"/>
            <a:ext cx="420624" cy="420624"/>
          </a:xfrm>
          <a:prstGeom prst="rect">
            <a:avLst/>
          </a:prstGeom>
          <a:noFill/>
        </p:spPr>
        <p:txBody>
          <a:bodyPr wrap="square">
            <a:spAutoFit/>
          </a:bodyPr>
          <a:lstStyle/>
          <a:p>
            <a:pPr algn="l"/>
            <a:r>
              <a:rPr sz="2800" b="1" i="0">
                <a:solidFill>
                  <a:srgbClr val="FFE500"/>
                </a:solidFill>
                <a:latin typeface="League Spartan"/>
              </a:rPr>
              <a:t>02</a:t>
            </a:r>
          </a:p>
        </p:txBody>
      </p:sp>
      <p:sp>
        <p:nvSpPr>
          <p:cNvPr id="22" name="TextBox 21"/>
          <p:cNvSpPr txBox="1"/>
          <p:nvPr/>
        </p:nvSpPr>
        <p:spPr>
          <a:xfrm>
            <a:off x="3657600" y="1719072"/>
            <a:ext cx="2194560" cy="329184"/>
          </a:xfrm>
          <a:prstGeom prst="rect">
            <a:avLst/>
          </a:prstGeom>
          <a:noFill/>
        </p:spPr>
        <p:txBody>
          <a:bodyPr wrap="square">
            <a:spAutoFit/>
          </a:bodyPr>
          <a:lstStyle/>
          <a:p>
            <a:pPr algn="l"/>
            <a:r>
              <a:rPr sz="1500" b="1" i="0">
                <a:solidFill>
                  <a:srgbClr val="FFE500"/>
                </a:solidFill>
                <a:latin typeface="League Spartan"/>
              </a:rPr>
              <a:t>STEP OUTSIDE</a:t>
            </a:r>
          </a:p>
        </p:txBody>
      </p:sp>
      <p:sp>
        <p:nvSpPr>
          <p:cNvPr id="23" name="TextBox 22"/>
          <p:cNvSpPr txBox="1"/>
          <p:nvPr/>
        </p:nvSpPr>
        <p:spPr>
          <a:xfrm>
            <a:off x="3182112" y="2121408"/>
            <a:ext cx="2651760" cy="1371600"/>
          </a:xfrm>
          <a:prstGeom prst="rect">
            <a:avLst/>
          </a:prstGeom>
          <a:noFill/>
        </p:spPr>
        <p:txBody>
          <a:bodyPr wrap="square">
            <a:spAutoFit/>
          </a:bodyPr>
          <a:lstStyle/>
          <a:p>
            <a:pPr algn="l"/>
            <a:r>
              <a:rPr sz="950" b="0" i="0">
                <a:solidFill>
                  <a:srgbClr val="CCCCCC"/>
                </a:solidFill>
                <a:latin typeface="Calibri"/>
              </a:rPr>
              <a:t>Thermochromic coating reacts to body heat and sunlight. The hidden design reveals itself — front and back simultaneously. Nobody told the customer. They discover it.</a:t>
            </a:r>
          </a:p>
        </p:txBody>
      </p:sp>
      <p:sp>
        <p:nvSpPr>
          <p:cNvPr id="24" name="Rectangle 23"/>
          <p:cNvSpPr/>
          <p:nvPr/>
        </p:nvSpPr>
        <p:spPr>
          <a:xfrm>
            <a:off x="6016752" y="1627632"/>
            <a:ext cx="2834640" cy="1938528"/>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16752" y="1627632"/>
            <a:ext cx="36576" cy="1938528"/>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08192" y="1682496"/>
            <a:ext cx="420624" cy="420624"/>
          </a:xfrm>
          <a:prstGeom prst="rect">
            <a:avLst/>
          </a:prstGeom>
          <a:noFill/>
        </p:spPr>
        <p:txBody>
          <a:bodyPr wrap="square">
            <a:spAutoFit/>
          </a:bodyPr>
          <a:lstStyle/>
          <a:p>
            <a:pPr algn="l"/>
            <a:r>
              <a:rPr sz="2800" b="1" i="0">
                <a:solidFill>
                  <a:srgbClr val="FF2D78"/>
                </a:solidFill>
                <a:latin typeface="League Spartan"/>
              </a:rPr>
              <a:t>03</a:t>
            </a:r>
          </a:p>
        </p:txBody>
      </p:sp>
      <p:sp>
        <p:nvSpPr>
          <p:cNvPr id="27" name="TextBox 26"/>
          <p:cNvSpPr txBox="1"/>
          <p:nvPr/>
        </p:nvSpPr>
        <p:spPr>
          <a:xfrm>
            <a:off x="6583680" y="1719072"/>
            <a:ext cx="2194560" cy="329184"/>
          </a:xfrm>
          <a:prstGeom prst="rect">
            <a:avLst/>
          </a:prstGeom>
          <a:noFill/>
        </p:spPr>
        <p:txBody>
          <a:bodyPr wrap="square">
            <a:spAutoFit/>
          </a:bodyPr>
          <a:lstStyle/>
          <a:p>
            <a:pPr algn="l"/>
            <a:r>
              <a:rPr sz="1500" b="1" i="0">
                <a:solidFill>
                  <a:srgbClr val="FF2D78"/>
                </a:solidFill>
                <a:latin typeface="League Spartan"/>
              </a:rPr>
              <a:t>DETACH &amp; CARRY</a:t>
            </a:r>
          </a:p>
        </p:txBody>
      </p:sp>
      <p:sp>
        <p:nvSpPr>
          <p:cNvPr id="28" name="TextBox 27"/>
          <p:cNvSpPr txBox="1"/>
          <p:nvPr/>
        </p:nvSpPr>
        <p:spPr>
          <a:xfrm>
            <a:off x="6108192" y="2121408"/>
            <a:ext cx="2651760" cy="1371600"/>
          </a:xfrm>
          <a:prstGeom prst="rect">
            <a:avLst/>
          </a:prstGeom>
          <a:noFill/>
        </p:spPr>
        <p:txBody>
          <a:bodyPr wrap="square">
            <a:spAutoFit/>
          </a:bodyPr>
          <a:lstStyle/>
          <a:p>
            <a:pPr algn="l"/>
            <a:r>
              <a:rPr sz="950" b="0" i="0">
                <a:solidFill>
                  <a:srgbClr val="CCCCCC"/>
                </a:solidFill>
                <a:latin typeface="Calibri"/>
              </a:rPr>
              <a:t>Unsnap the back panel. One fold. Gussets expand automatically. POM snaps close the bag. 40cm × 23cm × 3cm carry bag. Watch travels inside.</a:t>
            </a:r>
          </a:p>
        </p:txBody>
      </p:sp>
      <p:sp>
        <p:nvSpPr>
          <p:cNvPr id="29" name="TextBox 28"/>
          <p:cNvSpPr txBox="1"/>
          <p:nvPr/>
        </p:nvSpPr>
        <p:spPr>
          <a:xfrm>
            <a:off x="164592" y="3675887"/>
            <a:ext cx="2743200" cy="256032"/>
          </a:xfrm>
          <a:prstGeom prst="rect">
            <a:avLst/>
          </a:prstGeom>
          <a:noFill/>
        </p:spPr>
        <p:txBody>
          <a:bodyPr wrap="square">
            <a:spAutoFit/>
          </a:bodyPr>
          <a:lstStyle/>
          <a:p>
            <a:pPr algn="l"/>
            <a:r>
              <a:rPr sz="750" b="1" i="0">
                <a:solidFill>
                  <a:srgbClr val="C6F135"/>
                </a:solidFill>
                <a:latin typeface="Courier New"/>
              </a:rPr>
              <a:t>THE 4 MODES</a:t>
            </a:r>
          </a:p>
        </p:txBody>
      </p:sp>
      <p:sp>
        <p:nvSpPr>
          <p:cNvPr id="30" name="Rectangle 29"/>
          <p:cNvSpPr/>
          <p:nvPr/>
        </p:nvSpPr>
        <p:spPr>
          <a:xfrm>
            <a:off x="164592" y="3950208"/>
            <a:ext cx="2139696" cy="530352"/>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4005072"/>
            <a:ext cx="2139696" cy="402336"/>
          </a:xfrm>
          <a:prstGeom prst="rect">
            <a:avLst/>
          </a:prstGeom>
          <a:noFill/>
        </p:spPr>
        <p:txBody>
          <a:bodyPr wrap="square">
            <a:spAutoFit/>
          </a:bodyPr>
          <a:lstStyle/>
          <a:p>
            <a:pPr algn="ctr"/>
            <a:r>
              <a:rPr sz="1400" b="1" i="0">
                <a:solidFill>
                  <a:srgbClr val="C6F135"/>
                </a:solidFill>
                <a:latin typeface="League Spartan"/>
              </a:rPr>
              <a:t>WEAR</a:t>
            </a:r>
          </a:p>
        </p:txBody>
      </p:sp>
      <p:sp>
        <p:nvSpPr>
          <p:cNvPr id="32" name="Rectangle 31"/>
          <p:cNvSpPr/>
          <p:nvPr/>
        </p:nvSpPr>
        <p:spPr>
          <a:xfrm>
            <a:off x="2340864" y="3950208"/>
            <a:ext cx="2139696" cy="530352"/>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340864" y="4005072"/>
            <a:ext cx="2139696" cy="402336"/>
          </a:xfrm>
          <a:prstGeom prst="rect">
            <a:avLst/>
          </a:prstGeom>
          <a:noFill/>
        </p:spPr>
        <p:txBody>
          <a:bodyPr wrap="square">
            <a:spAutoFit/>
          </a:bodyPr>
          <a:lstStyle/>
          <a:p>
            <a:pPr algn="ctr"/>
            <a:r>
              <a:rPr sz="1400" b="1" i="0">
                <a:solidFill>
                  <a:srgbClr val="FFE500"/>
                </a:solidFill>
                <a:latin typeface="League Spartan"/>
              </a:rPr>
              <a:t>BAG</a:t>
            </a:r>
          </a:p>
        </p:txBody>
      </p:sp>
      <p:sp>
        <p:nvSpPr>
          <p:cNvPr id="34" name="Rectangle 33"/>
          <p:cNvSpPr/>
          <p:nvPr/>
        </p:nvSpPr>
        <p:spPr>
          <a:xfrm>
            <a:off x="4517136" y="3950208"/>
            <a:ext cx="2139696" cy="530352"/>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2139696" cy="402336"/>
          </a:xfrm>
          <a:prstGeom prst="rect">
            <a:avLst/>
          </a:prstGeom>
          <a:noFill/>
        </p:spPr>
        <p:txBody>
          <a:bodyPr wrap="square">
            <a:spAutoFit/>
          </a:bodyPr>
          <a:lstStyle/>
          <a:p>
            <a:pPr algn="ctr"/>
            <a:r>
              <a:rPr sz="1400" b="1" i="0">
                <a:solidFill>
                  <a:srgbClr val="FF2D78"/>
                </a:solidFill>
                <a:latin typeface="League Spartan"/>
              </a:rPr>
              <a:t>ART</a:t>
            </a:r>
          </a:p>
        </p:txBody>
      </p:sp>
      <p:sp>
        <p:nvSpPr>
          <p:cNvPr id="36" name="Rectangle 35"/>
          <p:cNvSpPr/>
          <p:nvPr/>
        </p:nvSpPr>
        <p:spPr>
          <a:xfrm>
            <a:off x="6693408" y="3950208"/>
            <a:ext cx="2139696" cy="530352"/>
          </a:xfrm>
          <a:prstGeom prst="rect">
            <a:avLst/>
          </a:prstGeom>
          <a:solidFill>
            <a:srgbClr val="1A1A1A"/>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3408" y="4005072"/>
            <a:ext cx="2139696" cy="402336"/>
          </a:xfrm>
          <a:prstGeom prst="rect">
            <a:avLst/>
          </a:prstGeom>
          <a:noFill/>
        </p:spPr>
        <p:txBody>
          <a:bodyPr wrap="square">
            <a:spAutoFit/>
          </a:bodyPr>
          <a:lstStyle/>
          <a:p>
            <a:pPr algn="ctr"/>
            <a:r>
              <a:rPr sz="1400" b="1" i="0">
                <a:solidFill>
                  <a:srgbClr val="FFFFFF"/>
                </a:solidFill>
                <a:latin typeface="League Spartan"/>
              </a:rPr>
              <a:t>GHOST</a:t>
            </a:r>
          </a:p>
        </p:txBody>
      </p:sp>
      <p:sp>
        <p:nvSpPr>
          <p:cNvPr id="38" name="Rectangle 37"/>
          <p:cNvSpPr/>
          <p:nvPr/>
        </p:nvSpPr>
        <p:spPr>
          <a:xfrm>
            <a:off x="8686800" y="932688"/>
            <a:ext cx="256032" cy="3291840"/>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3639312"/>
            <a:ext cx="8412480" cy="201168"/>
          </a:xfrm>
          <a:prstGeom prst="rect">
            <a:avLst/>
          </a:prstGeom>
          <a:noFill/>
        </p:spPr>
        <p:txBody>
          <a:bodyPr wrap="square">
            <a:spAutoFit/>
          </a:bodyPr>
          <a:lstStyle/>
          <a:p>
            <a:pPr algn="l"/>
            <a:r>
              <a:rPr sz="650" b="1" i="0">
                <a:solidFill>
                  <a:srgbClr val="888888"/>
                </a:solidFill>
                <a:latin typeface="Courier New"/>
              </a:rPr>
              <a:t>KEY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04</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3635654"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90518" y="5084064"/>
            <a:ext cx="5453481"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4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MARKET OPPORTUNITY</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How large is the market you are going after?</a:t>
            </a:r>
          </a:p>
        </p:txBody>
      </p:sp>
      <p:sp>
        <p:nvSpPr>
          <p:cNvPr id="12" name="Rectangle 11"/>
          <p:cNvSpPr/>
          <p:nvPr/>
        </p:nvSpPr>
        <p:spPr>
          <a:xfrm>
            <a:off x="164592" y="932688"/>
            <a:ext cx="2834640" cy="1426464"/>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64592" y="932688"/>
            <a:ext cx="2834640" cy="365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005840"/>
            <a:ext cx="640080" cy="329184"/>
          </a:xfrm>
          <a:prstGeom prst="rect">
            <a:avLst/>
          </a:prstGeom>
          <a:noFill/>
        </p:spPr>
        <p:txBody>
          <a:bodyPr wrap="square">
            <a:spAutoFit/>
          </a:bodyPr>
          <a:lstStyle/>
          <a:p>
            <a:pPr algn="l"/>
            <a:r>
              <a:rPr sz="2800" b="1" i="0">
                <a:solidFill>
                  <a:srgbClr val="C6F135"/>
                </a:solidFill>
                <a:latin typeface="League Spartan"/>
              </a:rPr>
              <a:t>TAM</a:t>
            </a:r>
          </a:p>
        </p:txBody>
      </p:sp>
      <p:sp>
        <p:nvSpPr>
          <p:cNvPr id="15" name="TextBox 14"/>
          <p:cNvSpPr txBox="1"/>
          <p:nvPr/>
        </p:nvSpPr>
        <p:spPr>
          <a:xfrm>
            <a:off x="292608" y="1335024"/>
            <a:ext cx="2651760" cy="329184"/>
          </a:xfrm>
          <a:prstGeom prst="rect">
            <a:avLst/>
          </a:prstGeom>
          <a:noFill/>
        </p:spPr>
        <p:txBody>
          <a:bodyPr wrap="square">
            <a:spAutoFit/>
          </a:bodyPr>
          <a:lstStyle/>
          <a:p>
            <a:pPr algn="l"/>
            <a:r>
              <a:rPr sz="1800" b="1" i="0">
                <a:solidFill>
                  <a:srgbClr val="FFFFFF"/>
                </a:solidFill>
                <a:latin typeface="League Spartan"/>
              </a:rPr>
              <a:t>₹2.5L Cr+</a:t>
            </a:r>
          </a:p>
        </p:txBody>
      </p:sp>
      <p:sp>
        <p:nvSpPr>
          <p:cNvPr id="16" name="TextBox 15"/>
          <p:cNvSpPr txBox="1"/>
          <p:nvPr/>
        </p:nvSpPr>
        <p:spPr>
          <a:xfrm>
            <a:off x="292608" y="1682496"/>
            <a:ext cx="2633472" cy="621792"/>
          </a:xfrm>
          <a:prstGeom prst="rect">
            <a:avLst/>
          </a:prstGeom>
          <a:noFill/>
        </p:spPr>
        <p:txBody>
          <a:bodyPr wrap="square">
            <a:spAutoFit/>
          </a:bodyPr>
          <a:lstStyle/>
          <a:p>
            <a:pPr algn="l"/>
            <a:r>
              <a:rPr sz="850" b="0" i="0">
                <a:solidFill>
                  <a:srgbClr val="888888"/>
                </a:solidFill>
                <a:latin typeface="Calibri"/>
              </a:rPr>
              <a:t>India Premium Apparel Market (growing 12% YoY, Redseer 2024)</a:t>
            </a:r>
          </a:p>
        </p:txBody>
      </p:sp>
      <p:sp>
        <p:nvSpPr>
          <p:cNvPr id="17" name="Rectangle 16"/>
          <p:cNvSpPr/>
          <p:nvPr/>
        </p:nvSpPr>
        <p:spPr>
          <a:xfrm>
            <a:off x="3127248" y="932688"/>
            <a:ext cx="2834640" cy="1426464"/>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27248" y="932688"/>
            <a:ext cx="2834640" cy="36576"/>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55264" y="1005840"/>
            <a:ext cx="640080" cy="329184"/>
          </a:xfrm>
          <a:prstGeom prst="rect">
            <a:avLst/>
          </a:prstGeom>
          <a:noFill/>
        </p:spPr>
        <p:txBody>
          <a:bodyPr wrap="square">
            <a:spAutoFit/>
          </a:bodyPr>
          <a:lstStyle/>
          <a:p>
            <a:pPr algn="l"/>
            <a:r>
              <a:rPr sz="2800" b="1" i="0">
                <a:solidFill>
                  <a:srgbClr val="FFE500"/>
                </a:solidFill>
                <a:latin typeface="League Spartan"/>
              </a:rPr>
              <a:t>SAM</a:t>
            </a:r>
          </a:p>
        </p:txBody>
      </p:sp>
      <p:sp>
        <p:nvSpPr>
          <p:cNvPr id="20" name="TextBox 19"/>
          <p:cNvSpPr txBox="1"/>
          <p:nvPr/>
        </p:nvSpPr>
        <p:spPr>
          <a:xfrm>
            <a:off x="3255264" y="1335024"/>
            <a:ext cx="2651760" cy="329184"/>
          </a:xfrm>
          <a:prstGeom prst="rect">
            <a:avLst/>
          </a:prstGeom>
          <a:noFill/>
        </p:spPr>
        <p:txBody>
          <a:bodyPr wrap="square">
            <a:spAutoFit/>
          </a:bodyPr>
          <a:lstStyle/>
          <a:p>
            <a:pPr algn="l"/>
            <a:r>
              <a:rPr sz="1800" b="1" i="0">
                <a:solidFill>
                  <a:srgbClr val="FFFFFF"/>
                </a:solidFill>
                <a:latin typeface="League Spartan"/>
              </a:rPr>
              <a:t>₹15,000 Cr</a:t>
            </a:r>
          </a:p>
        </p:txBody>
      </p:sp>
      <p:sp>
        <p:nvSpPr>
          <p:cNvPr id="21" name="TextBox 20"/>
          <p:cNvSpPr txBox="1"/>
          <p:nvPr/>
        </p:nvSpPr>
        <p:spPr>
          <a:xfrm>
            <a:off x="3255264" y="1682496"/>
            <a:ext cx="2633472" cy="621792"/>
          </a:xfrm>
          <a:prstGeom prst="rect">
            <a:avLst/>
          </a:prstGeom>
          <a:noFill/>
        </p:spPr>
        <p:txBody>
          <a:bodyPr wrap="square">
            <a:spAutoFit/>
          </a:bodyPr>
          <a:lstStyle/>
          <a:p>
            <a:pPr algn="l"/>
            <a:r>
              <a:rPr sz="850" b="0" i="0">
                <a:solidFill>
                  <a:srgbClr val="888888"/>
                </a:solidFill>
                <a:latin typeface="Calibri"/>
              </a:rPr>
              <a:t>Urban streetwear &amp; utility fashion, 18–30 age segment, top-8 metros</a:t>
            </a:r>
          </a:p>
        </p:txBody>
      </p:sp>
      <p:sp>
        <p:nvSpPr>
          <p:cNvPr id="22" name="Rectangle 21"/>
          <p:cNvSpPr/>
          <p:nvPr/>
        </p:nvSpPr>
        <p:spPr>
          <a:xfrm>
            <a:off x="6089904" y="932688"/>
            <a:ext cx="2834640" cy="1426464"/>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89904" y="932688"/>
            <a:ext cx="2834640" cy="36576"/>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1005840"/>
            <a:ext cx="640080" cy="329184"/>
          </a:xfrm>
          <a:prstGeom prst="rect">
            <a:avLst/>
          </a:prstGeom>
          <a:noFill/>
        </p:spPr>
        <p:txBody>
          <a:bodyPr wrap="square">
            <a:spAutoFit/>
          </a:bodyPr>
          <a:lstStyle/>
          <a:p>
            <a:pPr algn="l"/>
            <a:r>
              <a:rPr sz="2800" b="1" i="0">
                <a:solidFill>
                  <a:srgbClr val="FF2D78"/>
                </a:solidFill>
                <a:latin typeface="League Spartan"/>
              </a:rPr>
              <a:t>SOM</a:t>
            </a:r>
          </a:p>
        </p:txBody>
      </p:sp>
      <p:sp>
        <p:nvSpPr>
          <p:cNvPr id="25" name="TextBox 24"/>
          <p:cNvSpPr txBox="1"/>
          <p:nvPr/>
        </p:nvSpPr>
        <p:spPr>
          <a:xfrm>
            <a:off x="6217920" y="1335024"/>
            <a:ext cx="2651760" cy="329184"/>
          </a:xfrm>
          <a:prstGeom prst="rect">
            <a:avLst/>
          </a:prstGeom>
          <a:noFill/>
        </p:spPr>
        <p:txBody>
          <a:bodyPr wrap="square">
            <a:spAutoFit/>
          </a:bodyPr>
          <a:lstStyle/>
          <a:p>
            <a:pPr algn="l"/>
            <a:r>
              <a:rPr sz="1800" b="1" i="0">
                <a:solidFill>
                  <a:srgbClr val="FFFFFF"/>
                </a:solidFill>
                <a:latin typeface="League Spartan"/>
              </a:rPr>
              <a:t>₹65L</a:t>
            </a:r>
          </a:p>
        </p:txBody>
      </p:sp>
      <p:sp>
        <p:nvSpPr>
          <p:cNvPr id="26" name="TextBox 25"/>
          <p:cNvSpPr txBox="1"/>
          <p:nvPr/>
        </p:nvSpPr>
        <p:spPr>
          <a:xfrm>
            <a:off x="6217920" y="1682496"/>
            <a:ext cx="2633472" cy="621792"/>
          </a:xfrm>
          <a:prstGeom prst="rect">
            <a:avLst/>
          </a:prstGeom>
          <a:noFill/>
        </p:spPr>
        <p:txBody>
          <a:bodyPr wrap="square">
            <a:spAutoFit/>
          </a:bodyPr>
          <a:lstStyle/>
          <a:p>
            <a:pPr algn="l"/>
            <a:r>
              <a:rPr sz="850" b="0" i="0">
                <a:solidFill>
                  <a:srgbClr val="888888"/>
                </a:solidFill>
                <a:latin typeface="Calibri"/>
              </a:rPr>
              <a:t>Batch 01: 100 units × ₹6,500. Scale via subsequent limited drops</a:t>
            </a:r>
          </a:p>
        </p:txBody>
      </p:sp>
      <p:sp>
        <p:nvSpPr>
          <p:cNvPr id="27" name="Rectangle 26"/>
          <p:cNvSpPr/>
          <p:nvPr/>
        </p:nvSpPr>
        <p:spPr>
          <a:xfrm>
            <a:off x="164592" y="2468880"/>
            <a:ext cx="8796528" cy="292608"/>
          </a:xfrm>
          <a:prstGeom prst="rect">
            <a:avLst/>
          </a:prstGeom>
          <a:solidFill>
            <a:srgbClr val="14140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6032" y="2505456"/>
            <a:ext cx="1097280" cy="219456"/>
          </a:xfrm>
          <a:prstGeom prst="rect">
            <a:avLst/>
          </a:prstGeom>
          <a:noFill/>
        </p:spPr>
        <p:txBody>
          <a:bodyPr wrap="square">
            <a:spAutoFit/>
          </a:bodyPr>
          <a:lstStyle/>
          <a:p>
            <a:pPr algn="l"/>
            <a:r>
              <a:rPr sz="750" b="1" i="0">
                <a:solidFill>
                  <a:srgbClr val="C6F135"/>
                </a:solidFill>
                <a:latin typeface="Courier New"/>
              </a:rPr>
              <a:t>WHY NOW?</a:t>
            </a:r>
          </a:p>
        </p:txBody>
      </p:sp>
      <p:sp>
        <p:nvSpPr>
          <p:cNvPr id="29" name="Rectangle 28"/>
          <p:cNvSpPr/>
          <p:nvPr/>
        </p:nvSpPr>
        <p:spPr>
          <a:xfrm>
            <a:off x="164592" y="2871216"/>
            <a:ext cx="73152" cy="347472"/>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9184" y="2926080"/>
            <a:ext cx="8412480" cy="310896"/>
          </a:xfrm>
          <a:prstGeom prst="rect">
            <a:avLst/>
          </a:prstGeom>
          <a:noFill/>
        </p:spPr>
        <p:txBody>
          <a:bodyPr wrap="square">
            <a:spAutoFit/>
          </a:bodyPr>
          <a:lstStyle/>
          <a:p>
            <a:pPr algn="l"/>
            <a:r>
              <a:rPr sz="1000" b="0" i="0">
                <a:solidFill>
                  <a:srgbClr val="CCCCCC"/>
                </a:solidFill>
                <a:latin typeface="Calibri"/>
              </a:rPr>
              <a:t>Gen-Z values utility × aesthetics simultaneously — not one or the other</a:t>
            </a:r>
          </a:p>
        </p:txBody>
      </p:sp>
      <p:sp>
        <p:nvSpPr>
          <p:cNvPr id="31" name="Rectangle 30"/>
          <p:cNvSpPr/>
          <p:nvPr/>
        </p:nvSpPr>
        <p:spPr>
          <a:xfrm>
            <a:off x="164592" y="3273552"/>
            <a:ext cx="73152" cy="347472"/>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9184" y="3328416"/>
            <a:ext cx="8412480" cy="310896"/>
          </a:xfrm>
          <a:prstGeom prst="rect">
            <a:avLst/>
          </a:prstGeom>
          <a:noFill/>
        </p:spPr>
        <p:txBody>
          <a:bodyPr wrap="square">
            <a:spAutoFit/>
          </a:bodyPr>
          <a:lstStyle/>
          <a:p>
            <a:pPr algn="l"/>
            <a:r>
              <a:rPr sz="1000" b="0" i="0">
                <a:solidFill>
                  <a:srgbClr val="CCCCCC"/>
                </a:solidFill>
                <a:latin typeface="Calibri"/>
              </a:rPr>
              <a:t>No Indian brand has shipped thermochromic + modular + accessory integration in a single product</a:t>
            </a:r>
          </a:p>
        </p:txBody>
      </p:sp>
      <p:sp>
        <p:nvSpPr>
          <p:cNvPr id="33" name="Rectangle 32"/>
          <p:cNvSpPr/>
          <p:nvPr/>
        </p:nvSpPr>
        <p:spPr>
          <a:xfrm>
            <a:off x="164592" y="3675888"/>
            <a:ext cx="73152"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9184" y="3730752"/>
            <a:ext cx="8412480" cy="310896"/>
          </a:xfrm>
          <a:prstGeom prst="rect">
            <a:avLst/>
          </a:prstGeom>
          <a:noFill/>
        </p:spPr>
        <p:txBody>
          <a:bodyPr wrap="square">
            <a:spAutoFit/>
          </a:bodyPr>
          <a:lstStyle/>
          <a:p>
            <a:pPr algn="l"/>
            <a:r>
              <a:rPr sz="1000" b="0" i="0">
                <a:solidFill>
                  <a:srgbClr val="CCCCCC"/>
                </a:solidFill>
                <a:latin typeface="Calibri"/>
              </a:rPr>
              <a:t>India streetwear is exploding — Batch 01 drops into a gap, not a crowd</a:t>
            </a:r>
          </a:p>
        </p:txBody>
      </p:sp>
      <p:sp>
        <p:nvSpPr>
          <p:cNvPr id="35" name="Rectangle 34"/>
          <p:cNvSpPr/>
          <p:nvPr/>
        </p:nvSpPr>
        <p:spPr>
          <a:xfrm>
            <a:off x="164592" y="4078224"/>
            <a:ext cx="73152" cy="347472"/>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9184" y="4133088"/>
            <a:ext cx="8412480" cy="310896"/>
          </a:xfrm>
          <a:prstGeom prst="rect">
            <a:avLst/>
          </a:prstGeom>
          <a:noFill/>
        </p:spPr>
        <p:txBody>
          <a:bodyPr wrap="square">
            <a:spAutoFit/>
          </a:bodyPr>
          <a:lstStyle/>
          <a:p>
            <a:pPr algn="l"/>
            <a:r>
              <a:rPr sz="1000" b="0" i="0">
                <a:solidFill>
                  <a:srgbClr val="CCCCCC"/>
                </a:solidFill>
                <a:latin typeface="Calibri"/>
              </a:rPr>
              <a:t>"Make in India" premium moment — local manufacture at Chennai gives supply chain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05</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4544568"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99432" y="5084064"/>
            <a:ext cx="4544568"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5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TRACTION &amp; VALIDATION</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What have you built, tested, or sold so far?</a:t>
            </a:r>
          </a:p>
        </p:txBody>
      </p:sp>
      <p:sp>
        <p:nvSpPr>
          <p:cNvPr id="12" name="Rectangle 11"/>
          <p:cNvSpPr/>
          <p:nvPr/>
        </p:nvSpPr>
        <p:spPr>
          <a:xfrm>
            <a:off x="164592" y="950976"/>
            <a:ext cx="1719072" cy="475488"/>
          </a:xfrm>
          <a:prstGeom prst="rect">
            <a:avLst/>
          </a:prstGeom>
          <a:solidFill>
            <a:srgbClr val="1A1A1A"/>
          </a:solidFill>
          <a:ln w="635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 y="1005840"/>
            <a:ext cx="1719072" cy="365760"/>
          </a:xfrm>
          <a:prstGeom prst="rect">
            <a:avLst/>
          </a:prstGeom>
          <a:noFill/>
        </p:spPr>
        <p:txBody>
          <a:bodyPr wrap="square">
            <a:spAutoFit/>
          </a:bodyPr>
          <a:lstStyle/>
          <a:p>
            <a:pPr algn="ctr"/>
            <a:r>
              <a:rPr sz="1000" b="0" i="0">
                <a:solidFill>
                  <a:srgbClr val="888888"/>
                </a:solidFill>
                <a:latin typeface="Calibri"/>
              </a:rPr>
              <a:t>Idea</a:t>
            </a:r>
          </a:p>
        </p:txBody>
      </p:sp>
      <p:sp>
        <p:nvSpPr>
          <p:cNvPr id="14" name="TextBox 13"/>
          <p:cNvSpPr txBox="1"/>
          <p:nvPr/>
        </p:nvSpPr>
        <p:spPr>
          <a:xfrm>
            <a:off x="1883664" y="1042415"/>
            <a:ext cx="54864" cy="274320"/>
          </a:xfrm>
          <a:prstGeom prst="rect">
            <a:avLst/>
          </a:prstGeom>
          <a:noFill/>
        </p:spPr>
        <p:txBody>
          <a:bodyPr wrap="square">
            <a:spAutoFit/>
          </a:bodyPr>
          <a:lstStyle/>
          <a:p>
            <a:pPr algn="ctr"/>
            <a:r>
              <a:rPr sz="900" b="0" i="0">
                <a:solidFill>
                  <a:srgbClr val="444444"/>
                </a:solidFill>
                <a:latin typeface="Calibri"/>
              </a:rPr>
              <a:t>→</a:t>
            </a:r>
          </a:p>
        </p:txBody>
      </p:sp>
      <p:sp>
        <p:nvSpPr>
          <p:cNvPr id="15" name="Rectangle 14"/>
          <p:cNvSpPr/>
          <p:nvPr/>
        </p:nvSpPr>
        <p:spPr>
          <a:xfrm>
            <a:off x="1956816" y="950976"/>
            <a:ext cx="1719072" cy="475488"/>
          </a:xfrm>
          <a:prstGeom prst="rect">
            <a:avLst/>
          </a:prstGeom>
          <a:solidFill>
            <a:srgbClr val="1A1A1A"/>
          </a:solidFill>
          <a:ln w="635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56816" y="1005840"/>
            <a:ext cx="1719072" cy="365760"/>
          </a:xfrm>
          <a:prstGeom prst="rect">
            <a:avLst/>
          </a:prstGeom>
          <a:noFill/>
        </p:spPr>
        <p:txBody>
          <a:bodyPr wrap="square">
            <a:spAutoFit/>
          </a:bodyPr>
          <a:lstStyle/>
          <a:p>
            <a:pPr algn="ctr"/>
            <a:r>
              <a:rPr sz="1000" b="0" i="0">
                <a:solidFill>
                  <a:srgbClr val="888888"/>
                </a:solidFill>
                <a:latin typeface="Calibri"/>
              </a:rPr>
              <a:t>Research</a:t>
            </a:r>
          </a:p>
        </p:txBody>
      </p:sp>
      <p:sp>
        <p:nvSpPr>
          <p:cNvPr id="17" name="TextBox 16"/>
          <p:cNvSpPr txBox="1"/>
          <p:nvPr/>
        </p:nvSpPr>
        <p:spPr>
          <a:xfrm>
            <a:off x="3675888" y="1042415"/>
            <a:ext cx="54864" cy="274320"/>
          </a:xfrm>
          <a:prstGeom prst="rect">
            <a:avLst/>
          </a:prstGeom>
          <a:noFill/>
        </p:spPr>
        <p:txBody>
          <a:bodyPr wrap="square">
            <a:spAutoFit/>
          </a:bodyPr>
          <a:lstStyle/>
          <a:p>
            <a:pPr algn="ctr"/>
            <a:r>
              <a:rPr sz="900" b="0" i="0">
                <a:solidFill>
                  <a:srgbClr val="444444"/>
                </a:solidFill>
                <a:latin typeface="Calibri"/>
              </a:rPr>
              <a:t>→</a:t>
            </a:r>
          </a:p>
        </p:txBody>
      </p:sp>
      <p:sp>
        <p:nvSpPr>
          <p:cNvPr id="18" name="Rectangle 17"/>
          <p:cNvSpPr/>
          <p:nvPr/>
        </p:nvSpPr>
        <p:spPr>
          <a:xfrm>
            <a:off x="3749040" y="950976"/>
            <a:ext cx="1719072" cy="475488"/>
          </a:xfrm>
          <a:prstGeom prst="rect">
            <a:avLst/>
          </a:prstGeom>
          <a:solidFill>
            <a:srgbClr val="142006"/>
          </a:solidFill>
          <a:ln w="1524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9040" y="1005840"/>
            <a:ext cx="1719072" cy="365760"/>
          </a:xfrm>
          <a:prstGeom prst="rect">
            <a:avLst/>
          </a:prstGeom>
          <a:noFill/>
        </p:spPr>
        <p:txBody>
          <a:bodyPr wrap="square">
            <a:spAutoFit/>
          </a:bodyPr>
          <a:lstStyle/>
          <a:p>
            <a:pPr algn="ctr"/>
            <a:r>
              <a:rPr sz="1100" b="1" i="0">
                <a:solidFill>
                  <a:srgbClr val="C6F135"/>
                </a:solidFill>
                <a:latin typeface="League Spartan"/>
              </a:rPr>
              <a:t>Prototype / MVP</a:t>
            </a:r>
          </a:p>
        </p:txBody>
      </p:sp>
      <p:sp>
        <p:nvSpPr>
          <p:cNvPr id="20" name="TextBox 19"/>
          <p:cNvSpPr txBox="1"/>
          <p:nvPr/>
        </p:nvSpPr>
        <p:spPr>
          <a:xfrm>
            <a:off x="5468112" y="1042415"/>
            <a:ext cx="54864" cy="274320"/>
          </a:xfrm>
          <a:prstGeom prst="rect">
            <a:avLst/>
          </a:prstGeom>
          <a:noFill/>
        </p:spPr>
        <p:txBody>
          <a:bodyPr wrap="square">
            <a:spAutoFit/>
          </a:bodyPr>
          <a:lstStyle/>
          <a:p>
            <a:pPr algn="ctr"/>
            <a:r>
              <a:rPr sz="900" b="0" i="0">
                <a:solidFill>
                  <a:srgbClr val="444444"/>
                </a:solidFill>
                <a:latin typeface="Calibri"/>
              </a:rPr>
              <a:t>→</a:t>
            </a:r>
          </a:p>
        </p:txBody>
      </p:sp>
      <p:sp>
        <p:nvSpPr>
          <p:cNvPr id="21" name="Rectangle 20"/>
          <p:cNvSpPr/>
          <p:nvPr/>
        </p:nvSpPr>
        <p:spPr>
          <a:xfrm>
            <a:off x="5541264" y="950976"/>
            <a:ext cx="1719072" cy="475488"/>
          </a:xfrm>
          <a:prstGeom prst="rect">
            <a:avLst/>
          </a:prstGeom>
          <a:solidFill>
            <a:srgbClr val="1A1A1A"/>
          </a:solidFill>
          <a:ln w="63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41264" y="1005840"/>
            <a:ext cx="1719072" cy="365760"/>
          </a:xfrm>
          <a:prstGeom prst="rect">
            <a:avLst/>
          </a:prstGeom>
          <a:noFill/>
        </p:spPr>
        <p:txBody>
          <a:bodyPr wrap="square">
            <a:spAutoFit/>
          </a:bodyPr>
          <a:lstStyle/>
          <a:p>
            <a:pPr algn="ctr"/>
            <a:r>
              <a:rPr sz="1000" b="0" i="0">
                <a:solidFill>
                  <a:srgbClr val="444444"/>
                </a:solidFill>
                <a:latin typeface="Calibri"/>
              </a:rPr>
              <a:t>Pilot Users</a:t>
            </a:r>
          </a:p>
        </p:txBody>
      </p:sp>
      <p:sp>
        <p:nvSpPr>
          <p:cNvPr id="23" name="TextBox 22"/>
          <p:cNvSpPr txBox="1"/>
          <p:nvPr/>
        </p:nvSpPr>
        <p:spPr>
          <a:xfrm>
            <a:off x="7260336" y="1042415"/>
            <a:ext cx="54864" cy="274320"/>
          </a:xfrm>
          <a:prstGeom prst="rect">
            <a:avLst/>
          </a:prstGeom>
          <a:noFill/>
        </p:spPr>
        <p:txBody>
          <a:bodyPr wrap="square">
            <a:spAutoFit/>
          </a:bodyPr>
          <a:lstStyle/>
          <a:p>
            <a:pPr algn="ctr"/>
            <a:r>
              <a:rPr sz="900" b="0" i="0">
                <a:solidFill>
                  <a:srgbClr val="444444"/>
                </a:solidFill>
                <a:latin typeface="Calibri"/>
              </a:rPr>
              <a:t>→</a:t>
            </a:r>
          </a:p>
        </p:txBody>
      </p:sp>
      <p:sp>
        <p:nvSpPr>
          <p:cNvPr id="24" name="Rectangle 23"/>
          <p:cNvSpPr/>
          <p:nvPr/>
        </p:nvSpPr>
        <p:spPr>
          <a:xfrm>
            <a:off x="7333488" y="950976"/>
            <a:ext cx="1719072" cy="475488"/>
          </a:xfrm>
          <a:prstGeom prst="rect">
            <a:avLst/>
          </a:prstGeom>
          <a:solidFill>
            <a:srgbClr val="1A1A1A"/>
          </a:solidFill>
          <a:ln w="63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33488" y="1005840"/>
            <a:ext cx="1719072" cy="365760"/>
          </a:xfrm>
          <a:prstGeom prst="rect">
            <a:avLst/>
          </a:prstGeom>
          <a:noFill/>
        </p:spPr>
        <p:txBody>
          <a:bodyPr wrap="square">
            <a:spAutoFit/>
          </a:bodyPr>
          <a:lstStyle/>
          <a:p>
            <a:pPr algn="ctr"/>
            <a:r>
              <a:rPr sz="1000" b="0" i="0">
                <a:solidFill>
                  <a:srgbClr val="444444"/>
                </a:solidFill>
                <a:latin typeface="Calibri"/>
              </a:rPr>
              <a:t>Early Revenue</a:t>
            </a:r>
          </a:p>
        </p:txBody>
      </p:sp>
      <p:sp>
        <p:nvSpPr>
          <p:cNvPr id="26" name="TextBox 25"/>
          <p:cNvSpPr txBox="1"/>
          <p:nvPr/>
        </p:nvSpPr>
        <p:spPr>
          <a:xfrm>
            <a:off x="3840480" y="1463040"/>
            <a:ext cx="1719072" cy="219456"/>
          </a:xfrm>
          <a:prstGeom prst="rect">
            <a:avLst/>
          </a:prstGeom>
          <a:noFill/>
        </p:spPr>
        <p:txBody>
          <a:bodyPr wrap="square">
            <a:spAutoFit/>
          </a:bodyPr>
          <a:lstStyle/>
          <a:p>
            <a:pPr algn="ctr"/>
            <a:r>
              <a:rPr sz="650" b="1" i="0">
                <a:solidFill>
                  <a:srgbClr val="C6F135"/>
                </a:solidFill>
                <a:latin typeface="Courier New"/>
              </a:rPr>
              <a:t>↑ Current Stage</a:t>
            </a:r>
          </a:p>
        </p:txBody>
      </p:sp>
      <p:sp>
        <p:nvSpPr>
          <p:cNvPr id="27" name="Rectangle 26"/>
          <p:cNvSpPr/>
          <p:nvPr/>
        </p:nvSpPr>
        <p:spPr>
          <a:xfrm>
            <a:off x="164592" y="1828800"/>
            <a:ext cx="2743200" cy="749808"/>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4592" y="1993392"/>
            <a:ext cx="2743200" cy="384048"/>
          </a:xfrm>
          <a:prstGeom prst="rect">
            <a:avLst/>
          </a:prstGeom>
          <a:noFill/>
        </p:spPr>
        <p:txBody>
          <a:bodyPr wrap="square">
            <a:spAutoFit/>
          </a:bodyPr>
          <a:lstStyle/>
          <a:p>
            <a:pPr algn="ctr"/>
            <a:r>
              <a:rPr sz="2800" b="1" i="0">
                <a:solidFill>
                  <a:srgbClr val="C6F135"/>
                </a:solidFill>
                <a:latin typeface="League Spartan"/>
              </a:rPr>
              <a:t>Pre-Revenue</a:t>
            </a:r>
          </a:p>
        </p:txBody>
      </p:sp>
      <p:sp>
        <p:nvSpPr>
          <p:cNvPr id="29" name="TextBox 28"/>
          <p:cNvSpPr txBox="1"/>
          <p:nvPr/>
        </p:nvSpPr>
        <p:spPr>
          <a:xfrm>
            <a:off x="164592" y="2377440"/>
            <a:ext cx="2743200" cy="201168"/>
          </a:xfrm>
          <a:prstGeom prst="rect">
            <a:avLst/>
          </a:prstGeom>
          <a:noFill/>
        </p:spPr>
        <p:txBody>
          <a:bodyPr wrap="square">
            <a:spAutoFit/>
          </a:bodyPr>
          <a:lstStyle/>
          <a:p>
            <a:pPr algn="ctr"/>
            <a:r>
              <a:rPr sz="650" b="1" i="0">
                <a:solidFill>
                  <a:srgbClr val="888888"/>
                </a:solidFill>
                <a:latin typeface="Courier New"/>
              </a:rPr>
              <a:t>REVENUE / GMV</a:t>
            </a:r>
          </a:p>
        </p:txBody>
      </p:sp>
      <p:sp>
        <p:nvSpPr>
          <p:cNvPr id="30" name="Rectangle 29"/>
          <p:cNvSpPr/>
          <p:nvPr/>
        </p:nvSpPr>
        <p:spPr>
          <a:xfrm>
            <a:off x="3017520" y="1828800"/>
            <a:ext cx="2743200" cy="749808"/>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20" y="1993392"/>
            <a:ext cx="2743200" cy="384048"/>
          </a:xfrm>
          <a:prstGeom prst="rect">
            <a:avLst/>
          </a:prstGeom>
          <a:noFill/>
        </p:spPr>
        <p:txBody>
          <a:bodyPr wrap="square">
            <a:spAutoFit/>
          </a:bodyPr>
          <a:lstStyle/>
          <a:p>
            <a:pPr algn="ctr"/>
            <a:r>
              <a:rPr sz="2800" b="1" i="0">
                <a:solidFill>
                  <a:srgbClr val="FFE500"/>
                </a:solidFill>
                <a:latin typeface="League Spartan"/>
              </a:rPr>
              <a:t>Password-Gate Live</a:t>
            </a:r>
          </a:p>
        </p:txBody>
      </p:sp>
      <p:sp>
        <p:nvSpPr>
          <p:cNvPr id="32" name="TextBox 31"/>
          <p:cNvSpPr txBox="1"/>
          <p:nvPr/>
        </p:nvSpPr>
        <p:spPr>
          <a:xfrm>
            <a:off x="3017520" y="2377440"/>
            <a:ext cx="2743200" cy="201168"/>
          </a:xfrm>
          <a:prstGeom prst="rect">
            <a:avLst/>
          </a:prstGeom>
          <a:noFill/>
        </p:spPr>
        <p:txBody>
          <a:bodyPr wrap="square">
            <a:spAutoFit/>
          </a:bodyPr>
          <a:lstStyle/>
          <a:p>
            <a:pPr algn="ctr"/>
            <a:r>
              <a:rPr sz="650" b="1" i="0">
                <a:solidFill>
                  <a:srgbClr val="888888"/>
                </a:solidFill>
                <a:latin typeface="Courier New"/>
              </a:rPr>
              <a:t>KEY SIGNAL</a:t>
            </a:r>
          </a:p>
        </p:txBody>
      </p:sp>
      <p:sp>
        <p:nvSpPr>
          <p:cNvPr id="33" name="Rectangle 32"/>
          <p:cNvSpPr/>
          <p:nvPr/>
        </p:nvSpPr>
        <p:spPr>
          <a:xfrm>
            <a:off x="5870448" y="1828800"/>
            <a:ext cx="2743200" cy="749808"/>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70448" y="1993392"/>
            <a:ext cx="2743200" cy="384048"/>
          </a:xfrm>
          <a:prstGeom prst="rect">
            <a:avLst/>
          </a:prstGeom>
          <a:noFill/>
        </p:spPr>
        <p:txBody>
          <a:bodyPr wrap="square">
            <a:spAutoFit/>
          </a:bodyPr>
          <a:lstStyle/>
          <a:p>
            <a:pPr algn="ctr"/>
            <a:r>
              <a:rPr sz="2800" b="1" i="0">
                <a:solidFill>
                  <a:srgbClr val="FF2D78"/>
                </a:solidFill>
                <a:latin typeface="League Spartan"/>
              </a:rPr>
              <a:t>4 / 4 Modules</a:t>
            </a:r>
          </a:p>
        </p:txBody>
      </p:sp>
      <p:sp>
        <p:nvSpPr>
          <p:cNvPr id="35" name="TextBox 34"/>
          <p:cNvSpPr txBox="1"/>
          <p:nvPr/>
        </p:nvSpPr>
        <p:spPr>
          <a:xfrm>
            <a:off x="5870448" y="2377440"/>
            <a:ext cx="2743200" cy="201168"/>
          </a:xfrm>
          <a:prstGeom prst="rect">
            <a:avLst/>
          </a:prstGeom>
          <a:noFill/>
        </p:spPr>
        <p:txBody>
          <a:bodyPr wrap="square">
            <a:spAutoFit/>
          </a:bodyPr>
          <a:lstStyle/>
          <a:p>
            <a:pPr algn="ctr"/>
            <a:r>
              <a:rPr sz="650" b="1" i="0">
                <a:solidFill>
                  <a:srgbClr val="888888"/>
                </a:solidFill>
                <a:latin typeface="Courier New"/>
              </a:rPr>
              <a:t>PROTOTYPE COMPLETE</a:t>
            </a:r>
          </a:p>
        </p:txBody>
      </p:sp>
      <p:sp>
        <p:nvSpPr>
          <p:cNvPr id="36" name="Rectangle 35"/>
          <p:cNvSpPr/>
          <p:nvPr/>
        </p:nvSpPr>
        <p:spPr>
          <a:xfrm>
            <a:off x="164592" y="2724912"/>
            <a:ext cx="2743200" cy="1261872"/>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64592" y="2724912"/>
            <a:ext cx="36576" cy="1261872"/>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 y="2816352"/>
            <a:ext cx="2560320" cy="201168"/>
          </a:xfrm>
          <a:prstGeom prst="rect">
            <a:avLst/>
          </a:prstGeom>
          <a:noFill/>
        </p:spPr>
        <p:txBody>
          <a:bodyPr wrap="square">
            <a:spAutoFit/>
          </a:bodyPr>
          <a:lstStyle/>
          <a:p>
            <a:pPr algn="l"/>
            <a:r>
              <a:rPr sz="700" b="1" i="0">
                <a:solidFill>
                  <a:srgbClr val="C6F135"/>
                </a:solidFill>
                <a:latin typeface="Courier New"/>
              </a:rPr>
              <a:t>✅  WHAT WE BUILT</a:t>
            </a:r>
          </a:p>
        </p:txBody>
      </p:sp>
      <p:sp>
        <p:nvSpPr>
          <p:cNvPr id="39" name="TextBox 38"/>
          <p:cNvSpPr txBox="1"/>
          <p:nvPr/>
        </p:nvSpPr>
        <p:spPr>
          <a:xfrm>
            <a:off x="274320" y="3017520"/>
            <a:ext cx="2560320" cy="914400"/>
          </a:xfrm>
          <a:prstGeom prst="rect">
            <a:avLst/>
          </a:prstGeom>
          <a:noFill/>
        </p:spPr>
        <p:txBody>
          <a:bodyPr wrap="square">
            <a:spAutoFit/>
          </a:bodyPr>
          <a:lstStyle/>
          <a:p>
            <a:pPr algn="l">
              <a:lnSpc>
                <a:spcPts val="1300"/>
              </a:lnSpc>
            </a:pPr>
            <a:r>
              <a:rPr sz="950" b="0">
                <a:solidFill>
                  <a:srgbClr val="CCCCCC"/>
                </a:solidFill>
                <a:latin typeface="Calibri"/>
              </a:rPr>
              <a:t>Working prototype: thermochromic T-shirt base, structured back panel, front wallet patch, embedded watch pocket.</a:t>
            </a:r>
          </a:p>
          <a:p>
            <a:pPr algn="l">
              <a:lnSpc>
                <a:spcPts val="1300"/>
              </a:lnSpc>
            </a:pPr>
            <a:r>
              <a:rPr sz="950" b="0">
                <a:solidFill>
                  <a:srgbClr val="CCCCCC"/>
                </a:solidFill>
                <a:latin typeface="Calibri"/>
              </a:rPr>
              <a:t>Password-only pitch site live — audience has to earn entry.</a:t>
            </a:r>
          </a:p>
        </p:txBody>
      </p:sp>
      <p:sp>
        <p:nvSpPr>
          <p:cNvPr id="40" name="Rectangle 39"/>
          <p:cNvSpPr/>
          <p:nvPr/>
        </p:nvSpPr>
        <p:spPr>
          <a:xfrm>
            <a:off x="3017520" y="2724912"/>
            <a:ext cx="2743200" cy="1261872"/>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017520" y="2724912"/>
            <a:ext cx="36576" cy="1261872"/>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127248" y="2816352"/>
            <a:ext cx="2560320" cy="201168"/>
          </a:xfrm>
          <a:prstGeom prst="rect">
            <a:avLst/>
          </a:prstGeom>
          <a:noFill/>
        </p:spPr>
        <p:txBody>
          <a:bodyPr wrap="square">
            <a:spAutoFit/>
          </a:bodyPr>
          <a:lstStyle/>
          <a:p>
            <a:pPr algn="l"/>
            <a:r>
              <a:rPr sz="700" b="1" i="0">
                <a:solidFill>
                  <a:srgbClr val="FFE500"/>
                </a:solidFill>
                <a:latin typeface="Courier New"/>
              </a:rPr>
              <a:t>💡  WHAT WE LEARNED</a:t>
            </a:r>
          </a:p>
        </p:txBody>
      </p:sp>
      <p:sp>
        <p:nvSpPr>
          <p:cNvPr id="43" name="TextBox 42"/>
          <p:cNvSpPr txBox="1"/>
          <p:nvPr/>
        </p:nvSpPr>
        <p:spPr>
          <a:xfrm>
            <a:off x="3127248" y="3017520"/>
            <a:ext cx="2560320" cy="914400"/>
          </a:xfrm>
          <a:prstGeom prst="rect">
            <a:avLst/>
          </a:prstGeom>
          <a:noFill/>
        </p:spPr>
        <p:txBody>
          <a:bodyPr wrap="square">
            <a:spAutoFit/>
          </a:bodyPr>
          <a:lstStyle/>
          <a:p>
            <a:pPr algn="l">
              <a:lnSpc>
                <a:spcPts val="1300"/>
              </a:lnSpc>
            </a:pPr>
            <a:r>
              <a:rPr sz="950" b="0">
                <a:solidFill>
                  <a:srgbClr val="CCCCCC"/>
                </a:solidFill>
                <a:latin typeface="Calibri"/>
              </a:rPr>
              <a:t>Thermochromic activation works at 31°C — body heat + direct sunlight triggers reveal.</a:t>
            </a:r>
          </a:p>
          <a:p>
            <a:pPr algn="l">
              <a:lnSpc>
                <a:spcPts val="1300"/>
              </a:lnSpc>
            </a:pPr>
            <a:r>
              <a:rPr sz="950" b="0">
                <a:solidFill>
                  <a:srgbClr val="CCCCCC"/>
                </a:solidFill>
                <a:latin typeface="Calibri"/>
              </a:rPr>
              <a:t>Fold-to-bag mechanism reliable. Magnetic snap auto-alignment confirmed.</a:t>
            </a:r>
          </a:p>
        </p:txBody>
      </p:sp>
      <p:sp>
        <p:nvSpPr>
          <p:cNvPr id="44" name="Rectangle 43"/>
          <p:cNvSpPr/>
          <p:nvPr/>
        </p:nvSpPr>
        <p:spPr>
          <a:xfrm>
            <a:off x="5870448" y="2724912"/>
            <a:ext cx="2743200" cy="1261872"/>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70448" y="2724912"/>
            <a:ext cx="36576" cy="1261872"/>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0176" y="2816352"/>
            <a:ext cx="2560320" cy="201168"/>
          </a:xfrm>
          <a:prstGeom prst="rect">
            <a:avLst/>
          </a:prstGeom>
          <a:noFill/>
        </p:spPr>
        <p:txBody>
          <a:bodyPr wrap="square">
            <a:spAutoFit/>
          </a:bodyPr>
          <a:lstStyle/>
          <a:p>
            <a:pPr algn="l"/>
            <a:r>
              <a:rPr sz="700" b="1" i="0">
                <a:solidFill>
                  <a:srgbClr val="FF2D78"/>
                </a:solidFill>
                <a:latin typeface="Courier New"/>
              </a:rPr>
              <a:t>🔄  WHAT WE CHANGED</a:t>
            </a:r>
          </a:p>
        </p:txBody>
      </p:sp>
      <p:sp>
        <p:nvSpPr>
          <p:cNvPr id="47" name="TextBox 46"/>
          <p:cNvSpPr txBox="1"/>
          <p:nvPr/>
        </p:nvSpPr>
        <p:spPr>
          <a:xfrm>
            <a:off x="5980176" y="3017520"/>
            <a:ext cx="2560320" cy="914400"/>
          </a:xfrm>
          <a:prstGeom prst="rect">
            <a:avLst/>
          </a:prstGeom>
          <a:noFill/>
        </p:spPr>
        <p:txBody>
          <a:bodyPr wrap="square">
            <a:spAutoFit/>
          </a:bodyPr>
          <a:lstStyle/>
          <a:p>
            <a:pPr algn="l">
              <a:lnSpc>
                <a:spcPts val="1300"/>
              </a:lnSpc>
            </a:pPr>
            <a:r>
              <a:rPr sz="950" b="0">
                <a:solidFill>
                  <a:srgbClr val="CCCCCC"/>
                </a:solidFill>
                <a:latin typeface="Calibri"/>
              </a:rPr>
              <a:t>Switched from hook-and-loop to POM snap + neodymium magnet hybrid for cleaner UX.</a:t>
            </a:r>
          </a:p>
          <a:p>
            <a:pPr algn="l">
              <a:lnSpc>
                <a:spcPts val="1300"/>
              </a:lnSpc>
            </a:pPr>
            <a:r>
              <a:rPr sz="950" b="0">
                <a:solidFill>
                  <a:srgbClr val="CCCCCC"/>
                </a:solidFill>
                <a:latin typeface="Calibri"/>
              </a:rPr>
              <a:t>Added finger release flaps that look like design elements — discovered post-purchase.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06</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5453481"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08345" y="5084064"/>
            <a:ext cx="3635654"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6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BUSINESS MODEL</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How do you make money? Is it sustainable?</a:t>
            </a:r>
          </a:p>
        </p:txBody>
      </p:sp>
      <p:sp>
        <p:nvSpPr>
          <p:cNvPr id="12" name="Rectangle 11"/>
          <p:cNvSpPr/>
          <p:nvPr/>
        </p:nvSpPr>
        <p:spPr>
          <a:xfrm>
            <a:off x="164592" y="932688"/>
            <a:ext cx="4279392" cy="1005840"/>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64592" y="932688"/>
            <a:ext cx="36576" cy="1005840"/>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024128"/>
            <a:ext cx="4096512" cy="201168"/>
          </a:xfrm>
          <a:prstGeom prst="rect">
            <a:avLst/>
          </a:prstGeom>
          <a:noFill/>
        </p:spPr>
        <p:txBody>
          <a:bodyPr wrap="square">
            <a:spAutoFit/>
          </a:bodyPr>
          <a:lstStyle/>
          <a:p>
            <a:pPr algn="l"/>
            <a:r>
              <a:rPr sz="700" b="1" i="0">
                <a:solidFill>
                  <a:srgbClr val="C6F135"/>
                </a:solidFill>
                <a:latin typeface="Courier New"/>
              </a:rPr>
              <a:t>💰  REVENUE MODEL</a:t>
            </a:r>
          </a:p>
        </p:txBody>
      </p:sp>
      <p:sp>
        <p:nvSpPr>
          <p:cNvPr id="15" name="TextBox 14"/>
          <p:cNvSpPr txBox="1"/>
          <p:nvPr/>
        </p:nvSpPr>
        <p:spPr>
          <a:xfrm>
            <a:off x="274320" y="1225296"/>
            <a:ext cx="4096512" cy="658368"/>
          </a:xfrm>
          <a:prstGeom prst="rect">
            <a:avLst/>
          </a:prstGeom>
          <a:noFill/>
        </p:spPr>
        <p:txBody>
          <a:bodyPr wrap="square">
            <a:spAutoFit/>
          </a:bodyPr>
          <a:lstStyle/>
          <a:p>
            <a:pPr algn="l">
              <a:lnSpc>
                <a:spcPts val="1300"/>
              </a:lnSpc>
            </a:pPr>
            <a:r>
              <a:rPr sz="950" b="0">
                <a:solidFill>
                  <a:srgbClr val="CCCCCC"/>
                </a:solidFill>
                <a:latin typeface="Calibri"/>
              </a:rPr>
              <a:t>D2C limited drops (scarcity model). Password-only access, 100 pieces per batch. No restock unless the first batch earns it. Each drop is an event, not a sale.</a:t>
            </a:r>
          </a:p>
        </p:txBody>
      </p:sp>
      <p:sp>
        <p:nvSpPr>
          <p:cNvPr id="16" name="Rectangle 15"/>
          <p:cNvSpPr/>
          <p:nvPr/>
        </p:nvSpPr>
        <p:spPr>
          <a:xfrm>
            <a:off x="4572000" y="932688"/>
            <a:ext cx="4389120" cy="1005840"/>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932688"/>
            <a:ext cx="36576" cy="100584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1728" y="1024128"/>
            <a:ext cx="4206240" cy="201168"/>
          </a:xfrm>
          <a:prstGeom prst="rect">
            <a:avLst/>
          </a:prstGeom>
          <a:noFill/>
        </p:spPr>
        <p:txBody>
          <a:bodyPr wrap="square">
            <a:spAutoFit/>
          </a:bodyPr>
          <a:lstStyle/>
          <a:p>
            <a:pPr algn="l"/>
            <a:r>
              <a:rPr sz="700" b="1" i="0">
                <a:solidFill>
                  <a:srgbClr val="FFE500"/>
                </a:solidFill>
                <a:latin typeface="Courier New"/>
              </a:rPr>
              <a:t>🎯  WHO PAYS</a:t>
            </a:r>
          </a:p>
        </p:txBody>
      </p:sp>
      <p:sp>
        <p:nvSpPr>
          <p:cNvPr id="19" name="TextBox 18"/>
          <p:cNvSpPr txBox="1"/>
          <p:nvPr/>
        </p:nvSpPr>
        <p:spPr>
          <a:xfrm>
            <a:off x="4681728" y="1225296"/>
            <a:ext cx="4206240" cy="658368"/>
          </a:xfrm>
          <a:prstGeom prst="rect">
            <a:avLst/>
          </a:prstGeom>
          <a:noFill/>
        </p:spPr>
        <p:txBody>
          <a:bodyPr wrap="square">
            <a:spAutoFit/>
          </a:bodyPr>
          <a:lstStyle/>
          <a:p>
            <a:pPr algn="l">
              <a:lnSpc>
                <a:spcPts val="1300"/>
              </a:lnSpc>
            </a:pPr>
            <a:r>
              <a:rPr sz="950" b="0">
                <a:solidFill>
                  <a:srgbClr val="CCCCCC"/>
                </a:solidFill>
                <a:latin typeface="Calibri"/>
              </a:rPr>
              <a:t>Fashion-forward Indian consumer, 18–30, urban, style-conscious. Buys premium streetwear. Values exclusivity over availability. Direct-to-consumer — no retail intermediary.</a:t>
            </a:r>
          </a:p>
        </p:txBody>
      </p:sp>
      <p:sp>
        <p:nvSpPr>
          <p:cNvPr id="20" name="Rectangle 19"/>
          <p:cNvSpPr/>
          <p:nvPr/>
        </p:nvSpPr>
        <p:spPr>
          <a:xfrm>
            <a:off x="164592" y="2048256"/>
            <a:ext cx="8796528" cy="256032"/>
          </a:xfrm>
          <a:prstGeom prst="rect">
            <a:avLst/>
          </a:prstGeom>
          <a:solidFill>
            <a:srgbClr val="14140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 y="2084831"/>
            <a:ext cx="4572000" cy="201168"/>
          </a:xfrm>
          <a:prstGeom prst="rect">
            <a:avLst/>
          </a:prstGeom>
          <a:noFill/>
        </p:spPr>
        <p:txBody>
          <a:bodyPr wrap="square">
            <a:spAutoFit/>
          </a:bodyPr>
          <a:lstStyle/>
          <a:p>
            <a:pPr algn="l"/>
            <a:r>
              <a:rPr sz="750" b="1" i="0">
                <a:solidFill>
                  <a:srgbClr val="C6F135"/>
                </a:solidFill>
                <a:latin typeface="Courier New"/>
              </a:rPr>
              <a:t>UNIT ECONOMICS — BATCH 01</a:t>
            </a:r>
          </a:p>
        </p:txBody>
      </p:sp>
      <p:sp>
        <p:nvSpPr>
          <p:cNvPr id="22" name="Rectangle 21"/>
          <p:cNvSpPr/>
          <p:nvPr/>
        </p:nvSpPr>
        <p:spPr>
          <a:xfrm>
            <a:off x="164592" y="2395728"/>
            <a:ext cx="5029200" cy="310896"/>
          </a:xfrm>
          <a:prstGeom prst="rect">
            <a:avLst/>
          </a:prstGeom>
          <a:solidFill>
            <a:srgbClr val="142006"/>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6032" y="2450592"/>
            <a:ext cx="3474720" cy="219456"/>
          </a:xfrm>
          <a:prstGeom prst="rect">
            <a:avLst/>
          </a:prstGeom>
          <a:noFill/>
        </p:spPr>
        <p:txBody>
          <a:bodyPr wrap="square">
            <a:spAutoFit/>
          </a:bodyPr>
          <a:lstStyle/>
          <a:p>
            <a:pPr algn="l"/>
            <a:r>
              <a:rPr sz="950" b="0" i="0">
                <a:solidFill>
                  <a:srgbClr val="AAAAAA"/>
                </a:solidFill>
                <a:latin typeface="Calibri"/>
              </a:rPr>
              <a:t>Production Cost / Unit</a:t>
            </a:r>
          </a:p>
        </p:txBody>
      </p:sp>
      <p:sp>
        <p:nvSpPr>
          <p:cNvPr id="24" name="TextBox 23"/>
          <p:cNvSpPr txBox="1"/>
          <p:nvPr/>
        </p:nvSpPr>
        <p:spPr>
          <a:xfrm>
            <a:off x="3749039" y="2450592"/>
            <a:ext cx="1371600" cy="219456"/>
          </a:xfrm>
          <a:prstGeom prst="rect">
            <a:avLst/>
          </a:prstGeom>
          <a:noFill/>
        </p:spPr>
        <p:txBody>
          <a:bodyPr wrap="square">
            <a:spAutoFit/>
          </a:bodyPr>
          <a:lstStyle/>
          <a:p>
            <a:pPr algn="r"/>
            <a:r>
              <a:rPr sz="1000" b="1" i="0">
                <a:solidFill>
                  <a:srgbClr val="888888"/>
                </a:solidFill>
                <a:latin typeface="League Spartan"/>
              </a:rPr>
              <a:t>₹2,500 – ₹3,000</a:t>
            </a:r>
          </a:p>
        </p:txBody>
      </p:sp>
      <p:sp>
        <p:nvSpPr>
          <p:cNvPr id="25" name="Rectangle 24"/>
          <p:cNvSpPr/>
          <p:nvPr/>
        </p:nvSpPr>
        <p:spPr>
          <a:xfrm>
            <a:off x="164592" y="2724912"/>
            <a:ext cx="5029200" cy="310896"/>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 y="2779776"/>
            <a:ext cx="3474720" cy="219456"/>
          </a:xfrm>
          <a:prstGeom prst="rect">
            <a:avLst/>
          </a:prstGeom>
          <a:noFill/>
        </p:spPr>
        <p:txBody>
          <a:bodyPr wrap="square">
            <a:spAutoFit/>
          </a:bodyPr>
          <a:lstStyle/>
          <a:p>
            <a:pPr algn="l"/>
            <a:r>
              <a:rPr sz="950" b="0" i="0">
                <a:solidFill>
                  <a:srgbClr val="AAAAAA"/>
                </a:solidFill>
                <a:latin typeface="Calibri"/>
              </a:rPr>
              <a:t>Sell Price / Unit</a:t>
            </a:r>
          </a:p>
        </p:txBody>
      </p:sp>
      <p:sp>
        <p:nvSpPr>
          <p:cNvPr id="27" name="TextBox 26"/>
          <p:cNvSpPr txBox="1"/>
          <p:nvPr/>
        </p:nvSpPr>
        <p:spPr>
          <a:xfrm>
            <a:off x="3749039" y="2779776"/>
            <a:ext cx="1371600" cy="219456"/>
          </a:xfrm>
          <a:prstGeom prst="rect">
            <a:avLst/>
          </a:prstGeom>
          <a:noFill/>
        </p:spPr>
        <p:txBody>
          <a:bodyPr wrap="square">
            <a:spAutoFit/>
          </a:bodyPr>
          <a:lstStyle/>
          <a:p>
            <a:pPr algn="r"/>
            <a:r>
              <a:rPr sz="1000" b="1" i="0">
                <a:solidFill>
                  <a:srgbClr val="FFFFFF"/>
                </a:solidFill>
                <a:latin typeface="League Spartan"/>
              </a:rPr>
              <a:t>₹6,500</a:t>
            </a:r>
          </a:p>
        </p:txBody>
      </p:sp>
      <p:sp>
        <p:nvSpPr>
          <p:cNvPr id="28" name="Rectangle 27"/>
          <p:cNvSpPr/>
          <p:nvPr/>
        </p:nvSpPr>
        <p:spPr>
          <a:xfrm>
            <a:off x="164592" y="3054096"/>
            <a:ext cx="5029200" cy="310896"/>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6032" y="3108960"/>
            <a:ext cx="3474720" cy="219456"/>
          </a:xfrm>
          <a:prstGeom prst="rect">
            <a:avLst/>
          </a:prstGeom>
          <a:noFill/>
        </p:spPr>
        <p:txBody>
          <a:bodyPr wrap="square">
            <a:spAutoFit/>
          </a:bodyPr>
          <a:lstStyle/>
          <a:p>
            <a:pPr algn="l"/>
            <a:r>
              <a:rPr sz="950" b="0" i="0">
                <a:solidFill>
                  <a:srgbClr val="AAAAAA"/>
                </a:solidFill>
                <a:latin typeface="Calibri"/>
              </a:rPr>
              <a:t>Gross Margin / Unit</a:t>
            </a:r>
          </a:p>
        </p:txBody>
      </p:sp>
      <p:sp>
        <p:nvSpPr>
          <p:cNvPr id="30" name="TextBox 29"/>
          <p:cNvSpPr txBox="1"/>
          <p:nvPr/>
        </p:nvSpPr>
        <p:spPr>
          <a:xfrm>
            <a:off x="3749039" y="3108960"/>
            <a:ext cx="1371600" cy="219456"/>
          </a:xfrm>
          <a:prstGeom prst="rect">
            <a:avLst/>
          </a:prstGeom>
          <a:noFill/>
        </p:spPr>
        <p:txBody>
          <a:bodyPr wrap="square">
            <a:spAutoFit/>
          </a:bodyPr>
          <a:lstStyle/>
          <a:p>
            <a:pPr algn="r"/>
            <a:r>
              <a:rPr sz="1000" b="1" i="0">
                <a:solidFill>
                  <a:srgbClr val="C6F135"/>
                </a:solidFill>
                <a:latin typeface="League Spartan"/>
              </a:rPr>
              <a:t>~₹3,500 – ₹4,000  (57%+)</a:t>
            </a:r>
          </a:p>
        </p:txBody>
      </p:sp>
      <p:sp>
        <p:nvSpPr>
          <p:cNvPr id="31" name="Rectangle 30"/>
          <p:cNvSpPr/>
          <p:nvPr/>
        </p:nvSpPr>
        <p:spPr>
          <a:xfrm>
            <a:off x="164592" y="3383280"/>
            <a:ext cx="5029200" cy="310896"/>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3438144"/>
            <a:ext cx="3474720" cy="219456"/>
          </a:xfrm>
          <a:prstGeom prst="rect">
            <a:avLst/>
          </a:prstGeom>
          <a:noFill/>
        </p:spPr>
        <p:txBody>
          <a:bodyPr wrap="square">
            <a:spAutoFit/>
          </a:bodyPr>
          <a:lstStyle/>
          <a:p>
            <a:pPr algn="l"/>
            <a:r>
              <a:rPr sz="950" b="0" i="0">
                <a:solidFill>
                  <a:srgbClr val="AAAAAA"/>
                </a:solidFill>
                <a:latin typeface="Calibri"/>
              </a:rPr>
              <a:t>Batch 01 Revenue (100 units)</a:t>
            </a:r>
          </a:p>
        </p:txBody>
      </p:sp>
      <p:sp>
        <p:nvSpPr>
          <p:cNvPr id="33" name="TextBox 32"/>
          <p:cNvSpPr txBox="1"/>
          <p:nvPr/>
        </p:nvSpPr>
        <p:spPr>
          <a:xfrm>
            <a:off x="3749039" y="3438144"/>
            <a:ext cx="1371600" cy="219456"/>
          </a:xfrm>
          <a:prstGeom prst="rect">
            <a:avLst/>
          </a:prstGeom>
          <a:noFill/>
        </p:spPr>
        <p:txBody>
          <a:bodyPr wrap="square">
            <a:spAutoFit/>
          </a:bodyPr>
          <a:lstStyle/>
          <a:p>
            <a:pPr algn="r"/>
            <a:r>
              <a:rPr sz="1000" b="1" i="0">
                <a:solidFill>
                  <a:srgbClr val="FFE500"/>
                </a:solidFill>
                <a:latin typeface="League Spartan"/>
              </a:rPr>
              <a:t>₹6,50,000</a:t>
            </a:r>
          </a:p>
        </p:txBody>
      </p:sp>
      <p:sp>
        <p:nvSpPr>
          <p:cNvPr id="34" name="Rectangle 33"/>
          <p:cNvSpPr/>
          <p:nvPr/>
        </p:nvSpPr>
        <p:spPr>
          <a:xfrm>
            <a:off x="164592" y="3712464"/>
            <a:ext cx="5029200" cy="310896"/>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032" y="3767328"/>
            <a:ext cx="3474720" cy="219456"/>
          </a:xfrm>
          <a:prstGeom prst="rect">
            <a:avLst/>
          </a:prstGeom>
          <a:noFill/>
        </p:spPr>
        <p:txBody>
          <a:bodyPr wrap="square">
            <a:spAutoFit/>
          </a:bodyPr>
          <a:lstStyle/>
          <a:p>
            <a:pPr algn="l"/>
            <a:r>
              <a:rPr sz="950" b="0" i="0">
                <a:solidFill>
                  <a:srgbClr val="AAAAAA"/>
                </a:solidFill>
                <a:latin typeface="Calibri"/>
              </a:rPr>
              <a:t>Batch 01 Gross Profit (est.)</a:t>
            </a:r>
          </a:p>
        </p:txBody>
      </p:sp>
      <p:sp>
        <p:nvSpPr>
          <p:cNvPr id="36" name="TextBox 35"/>
          <p:cNvSpPr txBox="1"/>
          <p:nvPr/>
        </p:nvSpPr>
        <p:spPr>
          <a:xfrm>
            <a:off x="3749039" y="3767328"/>
            <a:ext cx="1371600" cy="219456"/>
          </a:xfrm>
          <a:prstGeom prst="rect">
            <a:avLst/>
          </a:prstGeom>
          <a:noFill/>
        </p:spPr>
        <p:txBody>
          <a:bodyPr wrap="square">
            <a:spAutoFit/>
          </a:bodyPr>
          <a:lstStyle/>
          <a:p>
            <a:pPr algn="r"/>
            <a:r>
              <a:rPr sz="1000" b="1" i="0">
                <a:solidFill>
                  <a:srgbClr val="C6F135"/>
                </a:solidFill>
                <a:latin typeface="League Spartan"/>
              </a:rPr>
              <a:t>₹3,50,000 – ₹4,00,000</a:t>
            </a:r>
          </a:p>
        </p:txBody>
      </p:sp>
      <p:sp>
        <p:nvSpPr>
          <p:cNvPr id="37" name="Rectangle 36"/>
          <p:cNvSpPr/>
          <p:nvPr/>
        </p:nvSpPr>
        <p:spPr>
          <a:xfrm>
            <a:off x="5358384" y="2048256"/>
            <a:ext cx="3602736" cy="1920240"/>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58384" y="2048256"/>
            <a:ext cx="36576" cy="1920240"/>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68112" y="2139696"/>
            <a:ext cx="3419856" cy="201168"/>
          </a:xfrm>
          <a:prstGeom prst="rect">
            <a:avLst/>
          </a:prstGeom>
          <a:noFill/>
        </p:spPr>
        <p:txBody>
          <a:bodyPr wrap="square">
            <a:spAutoFit/>
          </a:bodyPr>
          <a:lstStyle/>
          <a:p>
            <a:pPr algn="l"/>
            <a:r>
              <a:rPr sz="700" b="1" i="0">
                <a:solidFill>
                  <a:srgbClr val="FF2D78"/>
                </a:solidFill>
                <a:latin typeface="Courier New"/>
              </a:rPr>
              <a:t>📈  PATH TO PROFITABILITY</a:t>
            </a:r>
          </a:p>
        </p:txBody>
      </p:sp>
      <p:sp>
        <p:nvSpPr>
          <p:cNvPr id="40" name="TextBox 39"/>
          <p:cNvSpPr txBox="1"/>
          <p:nvPr/>
        </p:nvSpPr>
        <p:spPr>
          <a:xfrm>
            <a:off x="5468112" y="2340864"/>
            <a:ext cx="3419856" cy="1572768"/>
          </a:xfrm>
          <a:prstGeom prst="rect">
            <a:avLst/>
          </a:prstGeom>
          <a:noFill/>
        </p:spPr>
        <p:txBody>
          <a:bodyPr wrap="square">
            <a:spAutoFit/>
          </a:bodyPr>
          <a:lstStyle/>
          <a:p>
            <a:pPr algn="l">
              <a:lnSpc>
                <a:spcPts val="1300"/>
              </a:lnSpc>
            </a:pPr>
            <a:r>
              <a:rPr sz="950" b="0">
                <a:solidFill>
                  <a:srgbClr val="CCCCCC"/>
                </a:solidFill>
                <a:latin typeface="Calibri"/>
              </a:rPr>
              <a:t>Batch 01 is the proof. 100 units. If it sells: Batch 02 drops with same model, same exclusivity.</a:t>
            </a:r>
          </a:p>
          <a:p>
            <a:pPr algn="l">
              <a:lnSpc>
                <a:spcPts val="1300"/>
              </a:lnSpc>
            </a:pPr>
            <a:r>
              <a:rPr sz="950" b="0">
                <a:solidFill>
                  <a:srgbClr val="CCCCCC"/>
                </a:solidFill>
                <a:latin typeface="Calibri"/>
              </a:rPr>
              <a:t/>
            </a:r>
          </a:p>
          <a:p>
            <a:pPr algn="l">
              <a:lnSpc>
                <a:spcPts val="1300"/>
              </a:lnSpc>
            </a:pPr>
            <a:r>
              <a:rPr sz="950" b="0">
                <a:solidFill>
                  <a:srgbClr val="CCCCCC"/>
                </a:solidFill>
                <a:latin typeface="Calibri"/>
              </a:rPr>
              <a:t>Scale driver: volume + repeat drop cadence. Each sold-out batch funds the next.</a:t>
            </a:r>
          </a:p>
          <a:p>
            <a:pPr algn="l">
              <a:lnSpc>
                <a:spcPts val="1300"/>
              </a:lnSpc>
            </a:pPr>
            <a:r>
              <a:rPr sz="950" b="0">
                <a:solidFill>
                  <a:srgbClr val="CCCCCC"/>
                </a:solidFill>
                <a:latin typeface="Calibri"/>
              </a:rPr>
              <a:t/>
            </a:r>
          </a:p>
          <a:p>
            <a:pPr algn="l">
              <a:lnSpc>
                <a:spcPts val="1300"/>
              </a:lnSpc>
            </a:pPr>
            <a:r>
              <a:rPr sz="950" b="0">
                <a:solidFill>
                  <a:srgbClr val="CCCCCC"/>
                </a:solidFill>
                <a:latin typeface="Calibri"/>
              </a:rPr>
              <a:t>No retail markup. No intermediary. Full margin stays in the brand.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07</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6362395"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17259" y="5084064"/>
            <a:ext cx="2726740"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7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COMPETITION &amp; YOUR EDGE</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Who else is playing in this space, and why will you win?</a:t>
            </a:r>
          </a:p>
        </p:txBody>
      </p:sp>
      <p:sp>
        <p:nvSpPr>
          <p:cNvPr id="12" name="Rectangle 11"/>
          <p:cNvSpPr/>
          <p:nvPr/>
        </p:nvSpPr>
        <p:spPr>
          <a:xfrm>
            <a:off x="164592" y="932688"/>
            <a:ext cx="969264" cy="420624"/>
          </a:xfrm>
          <a:prstGeom prst="rect">
            <a:avLst/>
          </a:prstGeom>
          <a:solidFill>
            <a:srgbClr val="181818"/>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9456" y="950976"/>
            <a:ext cx="877824" cy="384048"/>
          </a:xfrm>
          <a:prstGeom prst="rect">
            <a:avLst/>
          </a:prstGeom>
          <a:noFill/>
        </p:spPr>
        <p:txBody>
          <a:bodyPr wrap="square">
            <a:spAutoFit/>
          </a:bodyPr>
          <a:lstStyle/>
          <a:p>
            <a:pPr algn="ctr"/>
            <a:r>
              <a:rPr sz="700" b="0" i="0">
                <a:solidFill>
                  <a:srgbClr val="888888"/>
                </a:solidFill>
                <a:latin typeface="Calibri"/>
              </a:rPr>
              <a:t/>
            </a:r>
          </a:p>
        </p:txBody>
      </p:sp>
      <p:sp>
        <p:nvSpPr>
          <p:cNvPr id="14" name="Rectangle 13"/>
          <p:cNvSpPr/>
          <p:nvPr/>
        </p:nvSpPr>
        <p:spPr>
          <a:xfrm>
            <a:off x="1170432" y="932688"/>
            <a:ext cx="1719072" cy="420624"/>
          </a:xfrm>
          <a:prstGeom prst="rect">
            <a:avLst/>
          </a:prstGeom>
          <a:solidFill>
            <a:srgbClr val="181818"/>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25296" y="950976"/>
            <a:ext cx="1627632" cy="384048"/>
          </a:xfrm>
          <a:prstGeom prst="rect">
            <a:avLst/>
          </a:prstGeom>
          <a:noFill/>
        </p:spPr>
        <p:txBody>
          <a:bodyPr wrap="square">
            <a:spAutoFit/>
          </a:bodyPr>
          <a:lstStyle/>
          <a:p>
            <a:pPr algn="ctr"/>
            <a:r>
              <a:rPr sz="700" b="0" i="0">
                <a:solidFill>
                  <a:srgbClr val="888888"/>
                </a:solidFill>
                <a:latin typeface="Calibri"/>
              </a:rPr>
              <a:t>Regular Streetwear
(Wrogn, Dennis Lingo)</a:t>
            </a:r>
          </a:p>
        </p:txBody>
      </p:sp>
      <p:sp>
        <p:nvSpPr>
          <p:cNvPr id="16" name="Rectangle 15"/>
          <p:cNvSpPr/>
          <p:nvPr/>
        </p:nvSpPr>
        <p:spPr>
          <a:xfrm>
            <a:off x="2926080" y="932688"/>
            <a:ext cx="1719072" cy="420624"/>
          </a:xfrm>
          <a:prstGeom prst="rect">
            <a:avLst/>
          </a:prstGeom>
          <a:solidFill>
            <a:srgbClr val="181818"/>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80944" y="950976"/>
            <a:ext cx="1627632" cy="384048"/>
          </a:xfrm>
          <a:prstGeom prst="rect">
            <a:avLst/>
          </a:prstGeom>
          <a:noFill/>
        </p:spPr>
        <p:txBody>
          <a:bodyPr wrap="square">
            <a:spAutoFit/>
          </a:bodyPr>
          <a:lstStyle/>
          <a:p>
            <a:pPr algn="ctr"/>
            <a:r>
              <a:rPr sz="700" b="0" i="0">
                <a:solidFill>
                  <a:srgbClr val="888888"/>
                </a:solidFill>
                <a:latin typeface="Calibri"/>
              </a:rPr>
              <a:t>Tech Accessories
(Noise, boAt)</a:t>
            </a:r>
          </a:p>
        </p:txBody>
      </p:sp>
      <p:sp>
        <p:nvSpPr>
          <p:cNvPr id="18" name="Rectangle 17"/>
          <p:cNvSpPr/>
          <p:nvPr/>
        </p:nvSpPr>
        <p:spPr>
          <a:xfrm>
            <a:off x="4681728" y="932688"/>
            <a:ext cx="1719072" cy="420624"/>
          </a:xfrm>
          <a:prstGeom prst="rect">
            <a:avLst/>
          </a:prstGeom>
          <a:solidFill>
            <a:srgbClr val="181818"/>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36592" y="950976"/>
            <a:ext cx="1627632" cy="384048"/>
          </a:xfrm>
          <a:prstGeom prst="rect">
            <a:avLst/>
          </a:prstGeom>
          <a:noFill/>
        </p:spPr>
        <p:txBody>
          <a:bodyPr wrap="square">
            <a:spAutoFit/>
          </a:bodyPr>
          <a:lstStyle/>
          <a:p>
            <a:pPr algn="ctr"/>
            <a:r>
              <a:rPr sz="700" b="0" i="0">
                <a:solidFill>
                  <a:srgbClr val="888888"/>
                </a:solidFill>
                <a:latin typeface="Calibri"/>
              </a:rPr>
              <a:t>Global Modular Fashion
(overseas, imported)</a:t>
            </a:r>
          </a:p>
        </p:txBody>
      </p:sp>
      <p:sp>
        <p:nvSpPr>
          <p:cNvPr id="20" name="Rectangle 19"/>
          <p:cNvSpPr/>
          <p:nvPr/>
        </p:nvSpPr>
        <p:spPr>
          <a:xfrm>
            <a:off x="6437376" y="932688"/>
            <a:ext cx="2505456" cy="420624"/>
          </a:xfrm>
          <a:prstGeom prst="rect">
            <a:avLst/>
          </a:prstGeom>
          <a:solidFill>
            <a:srgbClr val="142006"/>
          </a:solidFill>
          <a:ln w="1524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950976"/>
            <a:ext cx="2414016" cy="384048"/>
          </a:xfrm>
          <a:prstGeom prst="rect">
            <a:avLst/>
          </a:prstGeom>
          <a:noFill/>
        </p:spPr>
        <p:txBody>
          <a:bodyPr wrap="square">
            <a:spAutoFit/>
          </a:bodyPr>
          <a:lstStyle/>
          <a:p>
            <a:pPr algn="ctr"/>
            <a:r>
              <a:rPr sz="700" b="1" i="0">
                <a:solidFill>
                  <a:srgbClr val="C6F135"/>
                </a:solidFill>
                <a:latin typeface="Courier New"/>
              </a:rPr>
              <a:t>NUUL 01</a:t>
            </a:r>
          </a:p>
        </p:txBody>
      </p:sp>
      <p:sp>
        <p:nvSpPr>
          <p:cNvPr id="22" name="Rectangle 21"/>
          <p:cNvSpPr/>
          <p:nvPr/>
        </p:nvSpPr>
        <p:spPr>
          <a:xfrm>
            <a:off x="164592" y="1371600"/>
            <a:ext cx="969264"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 y="1426464"/>
            <a:ext cx="914400" cy="237744"/>
          </a:xfrm>
          <a:prstGeom prst="rect">
            <a:avLst/>
          </a:prstGeom>
          <a:noFill/>
        </p:spPr>
        <p:txBody>
          <a:bodyPr wrap="square">
            <a:spAutoFit/>
          </a:bodyPr>
          <a:lstStyle/>
          <a:p>
            <a:pPr algn="l"/>
            <a:r>
              <a:rPr sz="800" b="0" i="0">
                <a:solidFill>
                  <a:srgbClr val="888888"/>
                </a:solidFill>
                <a:latin typeface="Calibri"/>
              </a:rPr>
              <a:t>Thermochromic reveal</a:t>
            </a:r>
          </a:p>
        </p:txBody>
      </p:sp>
      <p:sp>
        <p:nvSpPr>
          <p:cNvPr id="24" name="Rectangle 23"/>
          <p:cNvSpPr/>
          <p:nvPr/>
        </p:nvSpPr>
        <p:spPr>
          <a:xfrm>
            <a:off x="1170432" y="1371600"/>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0432" y="1426464"/>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26" name="Rectangle 25"/>
          <p:cNvSpPr/>
          <p:nvPr/>
        </p:nvSpPr>
        <p:spPr>
          <a:xfrm>
            <a:off x="2926080" y="1371600"/>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1426464"/>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28" name="Rectangle 27"/>
          <p:cNvSpPr/>
          <p:nvPr/>
        </p:nvSpPr>
        <p:spPr>
          <a:xfrm>
            <a:off x="4681728" y="1371600"/>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1728" y="1426464"/>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30" name="Rectangle 29"/>
          <p:cNvSpPr/>
          <p:nvPr/>
        </p:nvSpPr>
        <p:spPr>
          <a:xfrm>
            <a:off x="6437376" y="1371600"/>
            <a:ext cx="2505456" cy="329184"/>
          </a:xfrm>
          <a:prstGeom prst="rect">
            <a:avLst/>
          </a:prstGeom>
          <a:solidFill>
            <a:srgbClr val="142006"/>
          </a:solidFill>
          <a:ln w="1270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1426464"/>
            <a:ext cx="2505456" cy="237744"/>
          </a:xfrm>
          <a:prstGeom prst="rect">
            <a:avLst/>
          </a:prstGeom>
          <a:noFill/>
        </p:spPr>
        <p:txBody>
          <a:bodyPr wrap="square">
            <a:spAutoFit/>
          </a:bodyPr>
          <a:lstStyle/>
          <a:p>
            <a:pPr algn="ctr"/>
            <a:r>
              <a:rPr sz="900" b="1" i="0">
                <a:solidFill>
                  <a:srgbClr val="C6F135"/>
                </a:solidFill>
                <a:latin typeface="Calibri"/>
              </a:rPr>
              <a:t>✓</a:t>
            </a:r>
          </a:p>
        </p:txBody>
      </p:sp>
      <p:sp>
        <p:nvSpPr>
          <p:cNvPr id="32" name="Rectangle 31"/>
          <p:cNvSpPr/>
          <p:nvPr/>
        </p:nvSpPr>
        <p:spPr>
          <a:xfrm>
            <a:off x="164592" y="1719072"/>
            <a:ext cx="969264"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 y="1773936"/>
            <a:ext cx="914400" cy="237744"/>
          </a:xfrm>
          <a:prstGeom prst="rect">
            <a:avLst/>
          </a:prstGeom>
          <a:noFill/>
        </p:spPr>
        <p:txBody>
          <a:bodyPr wrap="square">
            <a:spAutoFit/>
          </a:bodyPr>
          <a:lstStyle/>
          <a:p>
            <a:pPr algn="l"/>
            <a:r>
              <a:rPr sz="800" b="0" i="0">
                <a:solidFill>
                  <a:srgbClr val="888888"/>
                </a:solidFill>
                <a:latin typeface="Calibri"/>
              </a:rPr>
              <a:t>Modular carry bag</a:t>
            </a:r>
          </a:p>
        </p:txBody>
      </p:sp>
      <p:sp>
        <p:nvSpPr>
          <p:cNvPr id="34" name="Rectangle 33"/>
          <p:cNvSpPr/>
          <p:nvPr/>
        </p:nvSpPr>
        <p:spPr>
          <a:xfrm>
            <a:off x="1170432" y="1719072"/>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70432" y="1773936"/>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36" name="Rectangle 35"/>
          <p:cNvSpPr/>
          <p:nvPr/>
        </p:nvSpPr>
        <p:spPr>
          <a:xfrm>
            <a:off x="2926080" y="1719072"/>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0" y="1773936"/>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38" name="Rectangle 37"/>
          <p:cNvSpPr/>
          <p:nvPr/>
        </p:nvSpPr>
        <p:spPr>
          <a:xfrm>
            <a:off x="4681728" y="1719072"/>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1728" y="1773936"/>
            <a:ext cx="1719072" cy="237744"/>
          </a:xfrm>
          <a:prstGeom prst="rect">
            <a:avLst/>
          </a:prstGeom>
          <a:noFill/>
        </p:spPr>
        <p:txBody>
          <a:bodyPr wrap="square">
            <a:spAutoFit/>
          </a:bodyPr>
          <a:lstStyle/>
          <a:p>
            <a:pPr algn="ctr"/>
            <a:r>
              <a:rPr sz="900" b="0" i="0">
                <a:solidFill>
                  <a:srgbClr val="888888"/>
                </a:solidFill>
                <a:latin typeface="Calibri"/>
              </a:rPr>
              <a:t>Partial</a:t>
            </a:r>
          </a:p>
        </p:txBody>
      </p:sp>
      <p:sp>
        <p:nvSpPr>
          <p:cNvPr id="40" name="Rectangle 39"/>
          <p:cNvSpPr/>
          <p:nvPr/>
        </p:nvSpPr>
        <p:spPr>
          <a:xfrm>
            <a:off x="6437376" y="1719072"/>
            <a:ext cx="2505456" cy="329184"/>
          </a:xfrm>
          <a:prstGeom prst="rect">
            <a:avLst/>
          </a:prstGeom>
          <a:solidFill>
            <a:srgbClr val="142006"/>
          </a:solidFill>
          <a:ln w="1270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1773936"/>
            <a:ext cx="2505456" cy="237744"/>
          </a:xfrm>
          <a:prstGeom prst="rect">
            <a:avLst/>
          </a:prstGeom>
          <a:noFill/>
        </p:spPr>
        <p:txBody>
          <a:bodyPr wrap="square">
            <a:spAutoFit/>
          </a:bodyPr>
          <a:lstStyle/>
          <a:p>
            <a:pPr algn="ctr"/>
            <a:r>
              <a:rPr sz="900" b="1" i="0">
                <a:solidFill>
                  <a:srgbClr val="C6F135"/>
                </a:solidFill>
                <a:latin typeface="Calibri"/>
              </a:rPr>
              <a:t>✓</a:t>
            </a:r>
          </a:p>
        </p:txBody>
      </p:sp>
      <p:sp>
        <p:nvSpPr>
          <p:cNvPr id="42" name="Rectangle 41"/>
          <p:cNvSpPr/>
          <p:nvPr/>
        </p:nvSpPr>
        <p:spPr>
          <a:xfrm>
            <a:off x="164592" y="2066544"/>
            <a:ext cx="969264"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01168" y="2121408"/>
            <a:ext cx="914400" cy="237744"/>
          </a:xfrm>
          <a:prstGeom prst="rect">
            <a:avLst/>
          </a:prstGeom>
          <a:noFill/>
        </p:spPr>
        <p:txBody>
          <a:bodyPr wrap="square">
            <a:spAutoFit/>
          </a:bodyPr>
          <a:lstStyle/>
          <a:p>
            <a:pPr algn="l"/>
            <a:r>
              <a:rPr sz="800" b="0" i="0">
                <a:solidFill>
                  <a:srgbClr val="888888"/>
                </a:solidFill>
                <a:latin typeface="Calibri"/>
              </a:rPr>
              <a:t>Watch integration</a:t>
            </a:r>
          </a:p>
        </p:txBody>
      </p:sp>
      <p:sp>
        <p:nvSpPr>
          <p:cNvPr id="44" name="Rectangle 43"/>
          <p:cNvSpPr/>
          <p:nvPr/>
        </p:nvSpPr>
        <p:spPr>
          <a:xfrm>
            <a:off x="1170432" y="2066544"/>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0432" y="2121408"/>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46" name="Rectangle 45"/>
          <p:cNvSpPr/>
          <p:nvPr/>
        </p:nvSpPr>
        <p:spPr>
          <a:xfrm>
            <a:off x="2926080" y="2066544"/>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26080" y="2121408"/>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48" name="Rectangle 47"/>
          <p:cNvSpPr/>
          <p:nvPr/>
        </p:nvSpPr>
        <p:spPr>
          <a:xfrm>
            <a:off x="4681728" y="2066544"/>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681728" y="2121408"/>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50" name="Rectangle 49"/>
          <p:cNvSpPr/>
          <p:nvPr/>
        </p:nvSpPr>
        <p:spPr>
          <a:xfrm>
            <a:off x="6437376" y="2066544"/>
            <a:ext cx="2505456" cy="329184"/>
          </a:xfrm>
          <a:prstGeom prst="rect">
            <a:avLst/>
          </a:prstGeom>
          <a:solidFill>
            <a:srgbClr val="142006"/>
          </a:solidFill>
          <a:ln w="1270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37376" y="2121408"/>
            <a:ext cx="2505456" cy="237744"/>
          </a:xfrm>
          <a:prstGeom prst="rect">
            <a:avLst/>
          </a:prstGeom>
          <a:noFill/>
        </p:spPr>
        <p:txBody>
          <a:bodyPr wrap="square">
            <a:spAutoFit/>
          </a:bodyPr>
          <a:lstStyle/>
          <a:p>
            <a:pPr algn="ctr"/>
            <a:r>
              <a:rPr sz="900" b="1" i="0">
                <a:solidFill>
                  <a:srgbClr val="C6F135"/>
                </a:solidFill>
                <a:latin typeface="Calibri"/>
              </a:rPr>
              <a:t>✓</a:t>
            </a:r>
          </a:p>
        </p:txBody>
      </p:sp>
      <p:sp>
        <p:nvSpPr>
          <p:cNvPr id="52" name="Rectangle 51"/>
          <p:cNvSpPr/>
          <p:nvPr/>
        </p:nvSpPr>
        <p:spPr>
          <a:xfrm>
            <a:off x="164592" y="2414016"/>
            <a:ext cx="969264"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01168" y="2468880"/>
            <a:ext cx="914400" cy="237744"/>
          </a:xfrm>
          <a:prstGeom prst="rect">
            <a:avLst/>
          </a:prstGeom>
          <a:noFill/>
        </p:spPr>
        <p:txBody>
          <a:bodyPr wrap="square">
            <a:spAutoFit/>
          </a:bodyPr>
          <a:lstStyle/>
          <a:p>
            <a:pPr algn="l"/>
            <a:r>
              <a:rPr sz="800" b="0" i="0">
                <a:solidFill>
                  <a:srgbClr val="888888"/>
                </a:solidFill>
                <a:latin typeface="Calibri"/>
              </a:rPr>
              <a:t>India-made</a:t>
            </a:r>
          </a:p>
        </p:txBody>
      </p:sp>
      <p:sp>
        <p:nvSpPr>
          <p:cNvPr id="54" name="Rectangle 53"/>
          <p:cNvSpPr/>
          <p:nvPr/>
        </p:nvSpPr>
        <p:spPr>
          <a:xfrm>
            <a:off x="1170432" y="2414016"/>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0432" y="2468880"/>
            <a:ext cx="1719072" cy="237744"/>
          </a:xfrm>
          <a:prstGeom prst="rect">
            <a:avLst/>
          </a:prstGeom>
          <a:noFill/>
        </p:spPr>
        <p:txBody>
          <a:bodyPr wrap="square">
            <a:spAutoFit/>
          </a:bodyPr>
          <a:lstStyle/>
          <a:p>
            <a:pPr algn="ctr"/>
            <a:r>
              <a:rPr sz="900" b="0" i="0">
                <a:solidFill>
                  <a:srgbClr val="C6F135"/>
                </a:solidFill>
                <a:latin typeface="Calibri"/>
              </a:rPr>
              <a:t>✓</a:t>
            </a:r>
          </a:p>
        </p:txBody>
      </p:sp>
      <p:sp>
        <p:nvSpPr>
          <p:cNvPr id="56" name="Rectangle 55"/>
          <p:cNvSpPr/>
          <p:nvPr/>
        </p:nvSpPr>
        <p:spPr>
          <a:xfrm>
            <a:off x="2926080" y="2414016"/>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926080" y="2468880"/>
            <a:ext cx="1719072" cy="237744"/>
          </a:xfrm>
          <a:prstGeom prst="rect">
            <a:avLst/>
          </a:prstGeom>
          <a:noFill/>
        </p:spPr>
        <p:txBody>
          <a:bodyPr wrap="square">
            <a:spAutoFit/>
          </a:bodyPr>
          <a:lstStyle/>
          <a:p>
            <a:pPr algn="ctr"/>
            <a:r>
              <a:rPr sz="900" b="0" i="0">
                <a:solidFill>
                  <a:srgbClr val="C6F135"/>
                </a:solidFill>
                <a:latin typeface="Calibri"/>
              </a:rPr>
              <a:t>✓</a:t>
            </a:r>
          </a:p>
        </p:txBody>
      </p:sp>
      <p:sp>
        <p:nvSpPr>
          <p:cNvPr id="58" name="Rectangle 57"/>
          <p:cNvSpPr/>
          <p:nvPr/>
        </p:nvSpPr>
        <p:spPr>
          <a:xfrm>
            <a:off x="4681728" y="2414016"/>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1728" y="2468880"/>
            <a:ext cx="1719072" cy="237744"/>
          </a:xfrm>
          <a:prstGeom prst="rect">
            <a:avLst/>
          </a:prstGeom>
          <a:noFill/>
        </p:spPr>
        <p:txBody>
          <a:bodyPr wrap="square">
            <a:spAutoFit/>
          </a:bodyPr>
          <a:lstStyle/>
          <a:p>
            <a:pPr algn="ctr"/>
            <a:r>
              <a:rPr sz="900" b="0" i="0">
                <a:solidFill>
                  <a:srgbClr val="FF2D78"/>
                </a:solidFill>
                <a:latin typeface="Calibri"/>
              </a:rPr>
              <a:t>✗</a:t>
            </a:r>
          </a:p>
        </p:txBody>
      </p:sp>
      <p:sp>
        <p:nvSpPr>
          <p:cNvPr id="60" name="Rectangle 59"/>
          <p:cNvSpPr/>
          <p:nvPr/>
        </p:nvSpPr>
        <p:spPr>
          <a:xfrm>
            <a:off x="6437376" y="2414016"/>
            <a:ext cx="2505456" cy="329184"/>
          </a:xfrm>
          <a:prstGeom prst="rect">
            <a:avLst/>
          </a:prstGeom>
          <a:solidFill>
            <a:srgbClr val="142006"/>
          </a:solidFill>
          <a:ln w="1270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37376" y="2468880"/>
            <a:ext cx="2505456" cy="237744"/>
          </a:xfrm>
          <a:prstGeom prst="rect">
            <a:avLst/>
          </a:prstGeom>
          <a:noFill/>
        </p:spPr>
        <p:txBody>
          <a:bodyPr wrap="square">
            <a:spAutoFit/>
          </a:bodyPr>
          <a:lstStyle/>
          <a:p>
            <a:pPr algn="ctr"/>
            <a:r>
              <a:rPr sz="900" b="1" i="0">
                <a:solidFill>
                  <a:srgbClr val="C6F135"/>
                </a:solidFill>
                <a:latin typeface="Calibri"/>
              </a:rPr>
              <a:t>✓</a:t>
            </a:r>
          </a:p>
        </p:txBody>
      </p:sp>
      <p:sp>
        <p:nvSpPr>
          <p:cNvPr id="62" name="Rectangle 61"/>
          <p:cNvSpPr/>
          <p:nvPr/>
        </p:nvSpPr>
        <p:spPr>
          <a:xfrm>
            <a:off x="164592" y="2761488"/>
            <a:ext cx="969264"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01168" y="2816352"/>
            <a:ext cx="914400" cy="237744"/>
          </a:xfrm>
          <a:prstGeom prst="rect">
            <a:avLst/>
          </a:prstGeom>
          <a:noFill/>
        </p:spPr>
        <p:txBody>
          <a:bodyPr wrap="square">
            <a:spAutoFit/>
          </a:bodyPr>
          <a:lstStyle/>
          <a:p>
            <a:pPr algn="l"/>
            <a:r>
              <a:rPr sz="800" b="0" i="0">
                <a:solidFill>
                  <a:srgbClr val="888888"/>
                </a:solidFill>
                <a:latin typeface="Calibri"/>
              </a:rPr>
              <a:t>Price (INR)</a:t>
            </a:r>
          </a:p>
        </p:txBody>
      </p:sp>
      <p:sp>
        <p:nvSpPr>
          <p:cNvPr id="64" name="Rectangle 63"/>
          <p:cNvSpPr/>
          <p:nvPr/>
        </p:nvSpPr>
        <p:spPr>
          <a:xfrm>
            <a:off x="1170432" y="2761488"/>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70432" y="2816352"/>
            <a:ext cx="1719072" cy="237744"/>
          </a:xfrm>
          <a:prstGeom prst="rect">
            <a:avLst/>
          </a:prstGeom>
          <a:noFill/>
        </p:spPr>
        <p:txBody>
          <a:bodyPr wrap="square">
            <a:spAutoFit/>
          </a:bodyPr>
          <a:lstStyle/>
          <a:p>
            <a:pPr algn="ctr"/>
            <a:r>
              <a:rPr sz="900" b="0" i="0">
                <a:solidFill>
                  <a:srgbClr val="888888"/>
                </a:solidFill>
                <a:latin typeface="Calibri"/>
              </a:rPr>
              <a:t>₹1–2K</a:t>
            </a:r>
          </a:p>
        </p:txBody>
      </p:sp>
      <p:sp>
        <p:nvSpPr>
          <p:cNvPr id="66" name="Rectangle 65"/>
          <p:cNvSpPr/>
          <p:nvPr/>
        </p:nvSpPr>
        <p:spPr>
          <a:xfrm>
            <a:off x="2926080" y="2761488"/>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926080" y="2816352"/>
            <a:ext cx="1719072" cy="237744"/>
          </a:xfrm>
          <a:prstGeom prst="rect">
            <a:avLst/>
          </a:prstGeom>
          <a:noFill/>
        </p:spPr>
        <p:txBody>
          <a:bodyPr wrap="square">
            <a:spAutoFit/>
          </a:bodyPr>
          <a:lstStyle/>
          <a:p>
            <a:pPr algn="ctr"/>
            <a:r>
              <a:rPr sz="900" b="0" i="0">
                <a:solidFill>
                  <a:srgbClr val="888888"/>
                </a:solidFill>
                <a:latin typeface="Calibri"/>
              </a:rPr>
              <a:t>₹1–3K</a:t>
            </a:r>
          </a:p>
        </p:txBody>
      </p:sp>
      <p:sp>
        <p:nvSpPr>
          <p:cNvPr id="68" name="Rectangle 67"/>
          <p:cNvSpPr/>
          <p:nvPr/>
        </p:nvSpPr>
        <p:spPr>
          <a:xfrm>
            <a:off x="4681728" y="2761488"/>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81728" y="2816352"/>
            <a:ext cx="1719072" cy="237744"/>
          </a:xfrm>
          <a:prstGeom prst="rect">
            <a:avLst/>
          </a:prstGeom>
          <a:noFill/>
        </p:spPr>
        <p:txBody>
          <a:bodyPr wrap="square">
            <a:spAutoFit/>
          </a:bodyPr>
          <a:lstStyle/>
          <a:p>
            <a:pPr algn="ctr"/>
            <a:r>
              <a:rPr sz="900" b="0" i="0">
                <a:solidFill>
                  <a:srgbClr val="888888"/>
                </a:solidFill>
                <a:latin typeface="Calibri"/>
              </a:rPr>
              <a:t>₹6K+</a:t>
            </a:r>
          </a:p>
        </p:txBody>
      </p:sp>
      <p:sp>
        <p:nvSpPr>
          <p:cNvPr id="70" name="Rectangle 69"/>
          <p:cNvSpPr/>
          <p:nvPr/>
        </p:nvSpPr>
        <p:spPr>
          <a:xfrm>
            <a:off x="6437376" y="2761488"/>
            <a:ext cx="2505456" cy="329184"/>
          </a:xfrm>
          <a:prstGeom prst="rect">
            <a:avLst/>
          </a:prstGeom>
          <a:solidFill>
            <a:srgbClr val="142006"/>
          </a:solidFill>
          <a:ln w="1270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437376" y="2816352"/>
            <a:ext cx="2505456" cy="237744"/>
          </a:xfrm>
          <a:prstGeom prst="rect">
            <a:avLst/>
          </a:prstGeom>
          <a:noFill/>
        </p:spPr>
        <p:txBody>
          <a:bodyPr wrap="square">
            <a:spAutoFit/>
          </a:bodyPr>
          <a:lstStyle/>
          <a:p>
            <a:pPr algn="ctr"/>
            <a:r>
              <a:rPr sz="900" b="1" i="0">
                <a:solidFill>
                  <a:srgbClr val="C6F135"/>
                </a:solidFill>
                <a:latin typeface="Calibri"/>
              </a:rPr>
              <a:t>₹6,500</a:t>
            </a:r>
          </a:p>
        </p:txBody>
      </p:sp>
      <p:sp>
        <p:nvSpPr>
          <p:cNvPr id="72" name="Rectangle 71"/>
          <p:cNvSpPr/>
          <p:nvPr/>
        </p:nvSpPr>
        <p:spPr>
          <a:xfrm>
            <a:off x="164592" y="3108960"/>
            <a:ext cx="969264"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01168" y="3163824"/>
            <a:ext cx="914400" cy="237744"/>
          </a:xfrm>
          <a:prstGeom prst="rect">
            <a:avLst/>
          </a:prstGeom>
          <a:noFill/>
        </p:spPr>
        <p:txBody>
          <a:bodyPr wrap="square">
            <a:spAutoFit/>
          </a:bodyPr>
          <a:lstStyle/>
          <a:p>
            <a:pPr algn="l"/>
            <a:r>
              <a:rPr sz="800" b="0" i="0">
                <a:solidFill>
                  <a:srgbClr val="888888"/>
                </a:solidFill>
                <a:latin typeface="Calibri"/>
              </a:rPr>
              <a:t>Target</a:t>
            </a:r>
          </a:p>
        </p:txBody>
      </p:sp>
      <p:sp>
        <p:nvSpPr>
          <p:cNvPr id="74" name="Rectangle 73"/>
          <p:cNvSpPr/>
          <p:nvPr/>
        </p:nvSpPr>
        <p:spPr>
          <a:xfrm>
            <a:off x="1170432" y="3108960"/>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70432" y="3163824"/>
            <a:ext cx="1719072" cy="237744"/>
          </a:xfrm>
          <a:prstGeom prst="rect">
            <a:avLst/>
          </a:prstGeom>
          <a:noFill/>
        </p:spPr>
        <p:txBody>
          <a:bodyPr wrap="square">
            <a:spAutoFit/>
          </a:bodyPr>
          <a:lstStyle/>
          <a:p>
            <a:pPr algn="ctr"/>
            <a:r>
              <a:rPr sz="900" b="0" i="0">
                <a:solidFill>
                  <a:srgbClr val="888888"/>
                </a:solidFill>
                <a:latin typeface="Calibri"/>
              </a:rPr>
              <a:t>Mass market</a:t>
            </a:r>
          </a:p>
        </p:txBody>
      </p:sp>
      <p:sp>
        <p:nvSpPr>
          <p:cNvPr id="76" name="Rectangle 75"/>
          <p:cNvSpPr/>
          <p:nvPr/>
        </p:nvSpPr>
        <p:spPr>
          <a:xfrm>
            <a:off x="2926080" y="3108960"/>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926080" y="3163824"/>
            <a:ext cx="1719072" cy="237744"/>
          </a:xfrm>
          <a:prstGeom prst="rect">
            <a:avLst/>
          </a:prstGeom>
          <a:noFill/>
        </p:spPr>
        <p:txBody>
          <a:bodyPr wrap="square">
            <a:spAutoFit/>
          </a:bodyPr>
          <a:lstStyle/>
          <a:p>
            <a:pPr algn="ctr"/>
            <a:r>
              <a:rPr sz="900" b="0" i="0">
                <a:solidFill>
                  <a:srgbClr val="888888"/>
                </a:solidFill>
                <a:latin typeface="Calibri"/>
              </a:rPr>
              <a:t>Gadget buyers</a:t>
            </a:r>
          </a:p>
        </p:txBody>
      </p:sp>
      <p:sp>
        <p:nvSpPr>
          <p:cNvPr id="78" name="Rectangle 77"/>
          <p:cNvSpPr/>
          <p:nvPr/>
        </p:nvSpPr>
        <p:spPr>
          <a:xfrm>
            <a:off x="4681728" y="3108960"/>
            <a:ext cx="1719072" cy="329184"/>
          </a:xfrm>
          <a:prstGeom prst="rect">
            <a:avLst/>
          </a:prstGeom>
          <a:solidFill>
            <a:srgbClr val="1A1A1A"/>
          </a:solidFill>
          <a:ln w="381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81728" y="3163824"/>
            <a:ext cx="1719072" cy="237744"/>
          </a:xfrm>
          <a:prstGeom prst="rect">
            <a:avLst/>
          </a:prstGeom>
          <a:noFill/>
        </p:spPr>
        <p:txBody>
          <a:bodyPr wrap="square">
            <a:spAutoFit/>
          </a:bodyPr>
          <a:lstStyle/>
          <a:p>
            <a:pPr algn="ctr"/>
            <a:r>
              <a:rPr sz="900" b="0" i="0">
                <a:solidFill>
                  <a:srgbClr val="888888"/>
                </a:solidFill>
                <a:latin typeface="Calibri"/>
              </a:rPr>
              <a:t>Import buyers</a:t>
            </a:r>
          </a:p>
        </p:txBody>
      </p:sp>
      <p:sp>
        <p:nvSpPr>
          <p:cNvPr id="80" name="Rectangle 79"/>
          <p:cNvSpPr/>
          <p:nvPr/>
        </p:nvSpPr>
        <p:spPr>
          <a:xfrm>
            <a:off x="6437376" y="3108960"/>
            <a:ext cx="2505456" cy="329184"/>
          </a:xfrm>
          <a:prstGeom prst="rect">
            <a:avLst/>
          </a:prstGeom>
          <a:solidFill>
            <a:srgbClr val="142006"/>
          </a:solidFill>
          <a:ln w="1270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437376" y="3163824"/>
            <a:ext cx="2505456" cy="237744"/>
          </a:xfrm>
          <a:prstGeom prst="rect">
            <a:avLst/>
          </a:prstGeom>
          <a:noFill/>
        </p:spPr>
        <p:txBody>
          <a:bodyPr wrap="square">
            <a:spAutoFit/>
          </a:bodyPr>
          <a:lstStyle/>
          <a:p>
            <a:pPr algn="ctr"/>
            <a:r>
              <a:rPr sz="900" b="1" i="0">
                <a:solidFill>
                  <a:srgbClr val="C6F135"/>
                </a:solidFill>
                <a:latin typeface="Calibri"/>
              </a:rPr>
              <a:t>Fashion-forward 18–30</a:t>
            </a:r>
          </a:p>
        </p:txBody>
      </p:sp>
      <p:sp>
        <p:nvSpPr>
          <p:cNvPr id="82" name="Rectangle 81"/>
          <p:cNvSpPr/>
          <p:nvPr/>
        </p:nvSpPr>
        <p:spPr>
          <a:xfrm>
            <a:off x="164592" y="3511296"/>
            <a:ext cx="8796528" cy="256032"/>
          </a:xfrm>
          <a:prstGeom prst="rect">
            <a:avLst/>
          </a:prstGeom>
          <a:solidFill>
            <a:srgbClr val="14140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56032" y="3547872"/>
            <a:ext cx="3657600" cy="201168"/>
          </a:xfrm>
          <a:prstGeom prst="rect">
            <a:avLst/>
          </a:prstGeom>
          <a:noFill/>
        </p:spPr>
        <p:txBody>
          <a:bodyPr wrap="square">
            <a:spAutoFit/>
          </a:bodyPr>
          <a:lstStyle/>
          <a:p>
            <a:pPr algn="l"/>
            <a:r>
              <a:rPr sz="750" b="1" i="0">
                <a:solidFill>
                  <a:srgbClr val="C6F135"/>
                </a:solidFill>
                <a:latin typeface="Courier New"/>
              </a:rPr>
              <a:t>OUR UNFAIR ADVANTAGE</a:t>
            </a:r>
          </a:p>
        </p:txBody>
      </p:sp>
      <p:sp>
        <p:nvSpPr>
          <p:cNvPr id="84" name="Rectangle 83"/>
          <p:cNvSpPr/>
          <p:nvPr/>
        </p:nvSpPr>
        <p:spPr>
          <a:xfrm>
            <a:off x="164592" y="3840480"/>
            <a:ext cx="73152" cy="347472"/>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9184" y="3877056"/>
            <a:ext cx="1956816" cy="329184"/>
          </a:xfrm>
          <a:prstGeom prst="rect">
            <a:avLst/>
          </a:prstGeom>
          <a:noFill/>
        </p:spPr>
        <p:txBody>
          <a:bodyPr wrap="square">
            <a:spAutoFit/>
          </a:bodyPr>
          <a:lstStyle/>
          <a:p>
            <a:pPr algn="l"/>
            <a:r>
              <a:rPr sz="850" b="0" i="0">
                <a:solidFill>
                  <a:srgbClr val="CCCCCC"/>
                </a:solidFill>
                <a:latin typeface="Calibri"/>
              </a:rPr>
              <a:t>Patent-protectable fold-to-bag mechanism — no existing product replicates this physical system.</a:t>
            </a:r>
          </a:p>
        </p:txBody>
      </p:sp>
      <p:sp>
        <p:nvSpPr>
          <p:cNvPr id="86" name="Rectangle 85"/>
          <p:cNvSpPr/>
          <p:nvPr/>
        </p:nvSpPr>
        <p:spPr>
          <a:xfrm>
            <a:off x="2395728" y="3840480"/>
            <a:ext cx="73152" cy="347472"/>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560320" y="3877056"/>
            <a:ext cx="1956816" cy="329184"/>
          </a:xfrm>
          <a:prstGeom prst="rect">
            <a:avLst/>
          </a:prstGeom>
          <a:noFill/>
        </p:spPr>
        <p:txBody>
          <a:bodyPr wrap="square">
            <a:spAutoFit/>
          </a:bodyPr>
          <a:lstStyle/>
          <a:p>
            <a:pPr algn="l"/>
            <a:r>
              <a:rPr sz="850" b="0" i="0">
                <a:solidFill>
                  <a:srgbClr val="CCCCCC"/>
                </a:solidFill>
                <a:latin typeface="Calibri"/>
              </a:rPr>
              <a:t>Custom 38mm watch designed specifically for the garment pocket — zero crossover with any production watch.</a:t>
            </a:r>
          </a:p>
        </p:txBody>
      </p:sp>
      <p:sp>
        <p:nvSpPr>
          <p:cNvPr id="88" name="Rectangle 87"/>
          <p:cNvSpPr/>
          <p:nvPr/>
        </p:nvSpPr>
        <p:spPr>
          <a:xfrm>
            <a:off x="4626864" y="3840480"/>
            <a:ext cx="73152" cy="347472"/>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791456" y="3877056"/>
            <a:ext cx="1956816" cy="329184"/>
          </a:xfrm>
          <a:prstGeom prst="rect">
            <a:avLst/>
          </a:prstGeom>
          <a:noFill/>
        </p:spPr>
        <p:txBody>
          <a:bodyPr wrap="square">
            <a:spAutoFit/>
          </a:bodyPr>
          <a:lstStyle/>
          <a:p>
            <a:pPr algn="l"/>
            <a:r>
              <a:rPr sz="850" b="0" i="0">
                <a:solidFill>
                  <a:srgbClr val="CCCCCC"/>
                </a:solidFill>
                <a:latin typeface="Calibri"/>
              </a:rPr>
              <a:t>Scarcity-first D2C model creates cultural cachet — you either have it or you don't.</a:t>
            </a:r>
          </a:p>
        </p:txBody>
      </p:sp>
      <p:sp>
        <p:nvSpPr>
          <p:cNvPr id="90" name="Rectangle 89"/>
          <p:cNvSpPr/>
          <p:nvPr/>
        </p:nvSpPr>
        <p:spPr>
          <a:xfrm>
            <a:off x="6858000" y="3840480"/>
            <a:ext cx="73152"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22592" y="3877056"/>
            <a:ext cx="1956816" cy="329184"/>
          </a:xfrm>
          <a:prstGeom prst="rect">
            <a:avLst/>
          </a:prstGeom>
          <a:noFill/>
        </p:spPr>
        <p:txBody>
          <a:bodyPr wrap="square">
            <a:spAutoFit/>
          </a:bodyPr>
          <a:lstStyle/>
          <a:p>
            <a:pPr algn="l"/>
            <a:r>
              <a:rPr sz="850" b="0" i="0">
                <a:solidFill>
                  <a:srgbClr val="CCCCCC"/>
                </a:solidFill>
                <a:latin typeface="Calibri"/>
              </a:rPr>
              <a:t>Founder is the obsessed product architect — built from personal need, not market research.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08</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7271308"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26172" y="5084064"/>
            <a:ext cx="1817827"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8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THE TEAM</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Why are you the right person to build this?</a:t>
            </a:r>
          </a:p>
        </p:txBody>
      </p:sp>
      <p:sp>
        <p:nvSpPr>
          <p:cNvPr id="12" name="Rectangle 11"/>
          <p:cNvSpPr/>
          <p:nvPr/>
        </p:nvSpPr>
        <p:spPr>
          <a:xfrm>
            <a:off x="164592" y="932688"/>
            <a:ext cx="4114800" cy="1828800"/>
          </a:xfrm>
          <a:prstGeom prst="rect">
            <a:avLst/>
          </a:prstGeom>
          <a:solidFill>
            <a:srgbClr val="1A1A1A"/>
          </a:solidFill>
          <a:ln w="1016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64592" y="932688"/>
            <a:ext cx="4114800" cy="365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 y="1060704"/>
            <a:ext cx="841248" cy="841248"/>
          </a:xfrm>
          <a:prstGeom prst="rect">
            <a:avLst/>
          </a:prstGeom>
          <a:solidFill>
            <a:srgbClr val="202810"/>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6032" y="1170432"/>
            <a:ext cx="841248" cy="548640"/>
          </a:xfrm>
          <a:prstGeom prst="rect">
            <a:avLst/>
          </a:prstGeom>
          <a:noFill/>
        </p:spPr>
        <p:txBody>
          <a:bodyPr wrap="square">
            <a:spAutoFit/>
          </a:bodyPr>
          <a:lstStyle/>
          <a:p>
            <a:pPr algn="ctr"/>
            <a:r>
              <a:rPr sz="2200" b="0" i="0">
                <a:solidFill>
                  <a:srgbClr val="C6F135"/>
                </a:solidFill>
                <a:latin typeface="Calibri"/>
              </a:rPr>
              <a:t>📸</a:t>
            </a:r>
          </a:p>
        </p:txBody>
      </p:sp>
      <p:sp>
        <p:nvSpPr>
          <p:cNvPr id="16" name="TextBox 15"/>
          <p:cNvSpPr txBox="1"/>
          <p:nvPr/>
        </p:nvSpPr>
        <p:spPr>
          <a:xfrm>
            <a:off x="1188720" y="1078992"/>
            <a:ext cx="3017520" cy="274320"/>
          </a:xfrm>
          <a:prstGeom prst="rect">
            <a:avLst/>
          </a:prstGeom>
          <a:noFill/>
        </p:spPr>
        <p:txBody>
          <a:bodyPr wrap="square">
            <a:spAutoFit/>
          </a:bodyPr>
          <a:lstStyle/>
          <a:p>
            <a:pPr algn="l"/>
            <a:r>
              <a:rPr sz="700" b="1" i="0">
                <a:solidFill>
                  <a:srgbClr val="C6F135"/>
                </a:solidFill>
                <a:latin typeface="Courier New"/>
              </a:rPr>
              <a:t>Founder &amp; Product Architect</a:t>
            </a:r>
          </a:p>
        </p:txBody>
      </p:sp>
      <p:sp>
        <p:nvSpPr>
          <p:cNvPr id="17" name="TextBox 16"/>
          <p:cNvSpPr txBox="1"/>
          <p:nvPr/>
        </p:nvSpPr>
        <p:spPr>
          <a:xfrm>
            <a:off x="1188720" y="1353312"/>
            <a:ext cx="3017520" cy="274320"/>
          </a:xfrm>
          <a:prstGeom prst="rect">
            <a:avLst/>
          </a:prstGeom>
          <a:noFill/>
        </p:spPr>
        <p:txBody>
          <a:bodyPr wrap="square">
            <a:spAutoFit/>
          </a:bodyPr>
          <a:lstStyle/>
          <a:p>
            <a:pPr algn="l"/>
            <a:r>
              <a:rPr sz="1800" b="1" i="0">
                <a:solidFill>
                  <a:srgbClr val="FFFFFF"/>
                </a:solidFill>
                <a:latin typeface="League Spartan"/>
              </a:rPr>
              <a:t>[ Your Name ]</a:t>
            </a:r>
          </a:p>
        </p:txBody>
      </p:sp>
      <p:sp>
        <p:nvSpPr>
          <p:cNvPr id="18" name="TextBox 17"/>
          <p:cNvSpPr txBox="1"/>
          <p:nvPr/>
        </p:nvSpPr>
        <p:spPr>
          <a:xfrm>
            <a:off x="1188720" y="1664208"/>
            <a:ext cx="3017520" cy="182880"/>
          </a:xfrm>
          <a:prstGeom prst="rect">
            <a:avLst/>
          </a:prstGeom>
          <a:noFill/>
        </p:spPr>
        <p:txBody>
          <a:bodyPr wrap="square">
            <a:spAutoFit/>
          </a:bodyPr>
          <a:lstStyle/>
          <a:p>
            <a:pPr algn="l"/>
            <a:r>
              <a:rPr sz="900" b="0" i="0">
                <a:solidFill>
                  <a:srgbClr val="888888"/>
                </a:solidFill>
                <a:latin typeface="Calibri"/>
              </a:rPr>
              <a:t>Chennai-based. Solo founder.</a:t>
            </a:r>
          </a:p>
        </p:txBody>
      </p:sp>
      <p:sp>
        <p:nvSpPr>
          <p:cNvPr id="19" name="TextBox 18"/>
          <p:cNvSpPr txBox="1"/>
          <p:nvPr/>
        </p:nvSpPr>
        <p:spPr>
          <a:xfrm>
            <a:off x="256032" y="1993392"/>
            <a:ext cx="3931920" cy="658368"/>
          </a:xfrm>
          <a:prstGeom prst="rect">
            <a:avLst/>
          </a:prstGeom>
          <a:noFill/>
        </p:spPr>
        <p:txBody>
          <a:bodyPr wrap="square">
            <a:spAutoFit/>
          </a:bodyPr>
          <a:lstStyle/>
          <a:p>
            <a:pPr algn="l"/>
            <a:r>
              <a:rPr sz="900" b="0" i="0">
                <a:solidFill>
                  <a:srgbClr val="AAAAAA"/>
                </a:solidFill>
                <a:latin typeface="Calibri"/>
              </a:rPr>
              <a:t>[ 2 lines: your relevant background, skill, or
why you specifically are building NUUL ]</a:t>
            </a:r>
          </a:p>
        </p:txBody>
      </p:sp>
      <p:sp>
        <p:nvSpPr>
          <p:cNvPr id="20" name="Rectangle 19"/>
          <p:cNvSpPr/>
          <p:nvPr/>
        </p:nvSpPr>
        <p:spPr>
          <a:xfrm>
            <a:off x="164592" y="2871216"/>
            <a:ext cx="4114800" cy="1170432"/>
          </a:xfrm>
          <a:prstGeom prst="rect">
            <a:avLst/>
          </a:prstGeom>
          <a:solidFill>
            <a:srgbClr val="14140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 y="2944368"/>
            <a:ext cx="3931920" cy="219456"/>
          </a:xfrm>
          <a:prstGeom prst="rect">
            <a:avLst/>
          </a:prstGeom>
          <a:noFill/>
        </p:spPr>
        <p:txBody>
          <a:bodyPr wrap="square">
            <a:spAutoFit/>
          </a:bodyPr>
          <a:lstStyle/>
          <a:p>
            <a:pPr algn="l"/>
            <a:r>
              <a:rPr sz="700" b="1" i="0">
                <a:solidFill>
                  <a:srgbClr val="C6F135"/>
                </a:solidFill>
                <a:latin typeface="Courier New"/>
              </a:rPr>
              <a:t>WHY THIS FOUNDER FOR THIS PROBLEM?</a:t>
            </a:r>
          </a:p>
        </p:txBody>
      </p:sp>
      <p:sp>
        <p:nvSpPr>
          <p:cNvPr id="22" name="TextBox 21"/>
          <p:cNvSpPr txBox="1"/>
          <p:nvPr/>
        </p:nvSpPr>
        <p:spPr>
          <a:xfrm>
            <a:off x="256032" y="3200400"/>
            <a:ext cx="3931920" cy="768096"/>
          </a:xfrm>
          <a:prstGeom prst="rect">
            <a:avLst/>
          </a:prstGeom>
          <a:noFill/>
        </p:spPr>
        <p:txBody>
          <a:bodyPr wrap="square">
            <a:spAutoFit/>
          </a:bodyPr>
          <a:lstStyle/>
          <a:p>
            <a:pPr algn="l"/>
            <a:r>
              <a:rPr sz="950" b="0" i="0">
                <a:solidFill>
                  <a:srgbClr val="CCCCCC"/>
                </a:solidFill>
                <a:latin typeface="Calibri"/>
              </a:rPr>
              <a:t>Built entirely from personal frustration — saw the gap between what fashion does and what utility needs. Designed every module from first principles. No brief, no agency, no committee.</a:t>
            </a:r>
          </a:p>
        </p:txBody>
      </p:sp>
      <p:sp>
        <p:nvSpPr>
          <p:cNvPr id="23" name="Rectangle 22"/>
          <p:cNvSpPr/>
          <p:nvPr/>
        </p:nvSpPr>
        <p:spPr>
          <a:xfrm>
            <a:off x="4443984" y="932688"/>
            <a:ext cx="4517136" cy="3108960"/>
          </a:xfrm>
          <a:prstGeom prst="rect">
            <a:avLst/>
          </a:prstGeom>
          <a:solidFill>
            <a:srgbClr val="1A1A1A"/>
          </a:solidFill>
          <a:ln w="63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53712" y="1024128"/>
            <a:ext cx="4297680" cy="219456"/>
          </a:xfrm>
          <a:prstGeom prst="rect">
            <a:avLst/>
          </a:prstGeom>
          <a:noFill/>
        </p:spPr>
        <p:txBody>
          <a:bodyPr wrap="square">
            <a:spAutoFit/>
          </a:bodyPr>
          <a:lstStyle/>
          <a:p>
            <a:pPr algn="l"/>
            <a:r>
              <a:rPr sz="700" b="1" i="0">
                <a:solidFill>
                  <a:srgbClr val="C6F135"/>
                </a:solidFill>
                <a:latin typeface="Courier New"/>
              </a:rPr>
              <a:t>BUILT SOLO — PROTOTYPE COMPLETE</a:t>
            </a:r>
          </a:p>
        </p:txBody>
      </p:sp>
      <p:sp>
        <p:nvSpPr>
          <p:cNvPr id="25" name="Rectangle 24"/>
          <p:cNvSpPr/>
          <p:nvPr/>
        </p:nvSpPr>
        <p:spPr>
          <a:xfrm>
            <a:off x="4443984" y="1316736"/>
            <a:ext cx="274320" cy="274320"/>
          </a:xfrm>
          <a:prstGeom prst="rect">
            <a:avLst/>
          </a:prstGeom>
          <a:solidFill>
            <a:srgbClr val="142006"/>
          </a:solidFill>
          <a:ln w="381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43984" y="1316736"/>
            <a:ext cx="274320" cy="274320"/>
          </a:xfrm>
          <a:prstGeom prst="rect">
            <a:avLst/>
          </a:prstGeom>
          <a:noFill/>
        </p:spPr>
        <p:txBody>
          <a:bodyPr wrap="square">
            <a:spAutoFit/>
          </a:bodyPr>
          <a:lstStyle/>
          <a:p>
            <a:pPr algn="ctr"/>
            <a:r>
              <a:rPr sz="900" b="1" i="0">
                <a:solidFill>
                  <a:srgbClr val="C6F135"/>
                </a:solidFill>
                <a:latin typeface="Calibri"/>
              </a:rPr>
              <a:t>✓</a:t>
            </a:r>
          </a:p>
        </p:txBody>
      </p:sp>
      <p:sp>
        <p:nvSpPr>
          <p:cNvPr id="27" name="TextBox 26"/>
          <p:cNvSpPr txBox="1"/>
          <p:nvPr/>
        </p:nvSpPr>
        <p:spPr>
          <a:xfrm>
            <a:off x="4773168" y="1353312"/>
            <a:ext cx="4023360" cy="237744"/>
          </a:xfrm>
          <a:prstGeom prst="rect">
            <a:avLst/>
          </a:prstGeom>
          <a:noFill/>
        </p:spPr>
        <p:txBody>
          <a:bodyPr wrap="square">
            <a:spAutoFit/>
          </a:bodyPr>
          <a:lstStyle/>
          <a:p>
            <a:pPr algn="l"/>
            <a:r>
              <a:rPr sz="950" b="0" i="0">
                <a:solidFill>
                  <a:srgbClr val="CCCCCC"/>
                </a:solidFill>
                <a:latin typeface="Calibri"/>
              </a:rPr>
              <a:t>Thermochromic T-shirt base</a:t>
            </a:r>
          </a:p>
        </p:txBody>
      </p:sp>
      <p:sp>
        <p:nvSpPr>
          <p:cNvPr id="28" name="Rectangle 27"/>
          <p:cNvSpPr/>
          <p:nvPr/>
        </p:nvSpPr>
        <p:spPr>
          <a:xfrm>
            <a:off x="4443984" y="1645920"/>
            <a:ext cx="274320" cy="274320"/>
          </a:xfrm>
          <a:prstGeom prst="rect">
            <a:avLst/>
          </a:prstGeom>
          <a:solidFill>
            <a:srgbClr val="142006"/>
          </a:solidFill>
          <a:ln w="381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43984" y="1645920"/>
            <a:ext cx="274320" cy="274320"/>
          </a:xfrm>
          <a:prstGeom prst="rect">
            <a:avLst/>
          </a:prstGeom>
          <a:noFill/>
        </p:spPr>
        <p:txBody>
          <a:bodyPr wrap="square">
            <a:spAutoFit/>
          </a:bodyPr>
          <a:lstStyle/>
          <a:p>
            <a:pPr algn="ctr"/>
            <a:r>
              <a:rPr sz="900" b="1" i="0">
                <a:solidFill>
                  <a:srgbClr val="C6F135"/>
                </a:solidFill>
                <a:latin typeface="Calibri"/>
              </a:rPr>
              <a:t>✓</a:t>
            </a:r>
          </a:p>
        </p:txBody>
      </p:sp>
      <p:sp>
        <p:nvSpPr>
          <p:cNvPr id="30" name="TextBox 29"/>
          <p:cNvSpPr txBox="1"/>
          <p:nvPr/>
        </p:nvSpPr>
        <p:spPr>
          <a:xfrm>
            <a:off x="4773168" y="1682496"/>
            <a:ext cx="4023360" cy="237744"/>
          </a:xfrm>
          <a:prstGeom prst="rect">
            <a:avLst/>
          </a:prstGeom>
          <a:noFill/>
        </p:spPr>
        <p:txBody>
          <a:bodyPr wrap="square">
            <a:spAutoFit/>
          </a:bodyPr>
          <a:lstStyle/>
          <a:p>
            <a:pPr algn="l"/>
            <a:r>
              <a:rPr sz="950" b="0" i="0">
                <a:solidFill>
                  <a:srgbClr val="CCCCCC"/>
                </a:solidFill>
                <a:latin typeface="Calibri"/>
              </a:rPr>
              <a:t>Fold-to-bag back panel mechanism</a:t>
            </a:r>
          </a:p>
        </p:txBody>
      </p:sp>
      <p:sp>
        <p:nvSpPr>
          <p:cNvPr id="31" name="Rectangle 30"/>
          <p:cNvSpPr/>
          <p:nvPr/>
        </p:nvSpPr>
        <p:spPr>
          <a:xfrm>
            <a:off x="4443984" y="1975104"/>
            <a:ext cx="274320" cy="274320"/>
          </a:xfrm>
          <a:prstGeom prst="rect">
            <a:avLst/>
          </a:prstGeom>
          <a:solidFill>
            <a:srgbClr val="142006"/>
          </a:solidFill>
          <a:ln w="381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43984" y="1975104"/>
            <a:ext cx="274320" cy="274320"/>
          </a:xfrm>
          <a:prstGeom prst="rect">
            <a:avLst/>
          </a:prstGeom>
          <a:noFill/>
        </p:spPr>
        <p:txBody>
          <a:bodyPr wrap="square">
            <a:spAutoFit/>
          </a:bodyPr>
          <a:lstStyle/>
          <a:p>
            <a:pPr algn="ctr"/>
            <a:r>
              <a:rPr sz="900" b="1" i="0">
                <a:solidFill>
                  <a:srgbClr val="FFE500"/>
                </a:solidFill>
                <a:latin typeface="Calibri"/>
              </a:rPr>
              <a:t>✓</a:t>
            </a:r>
          </a:p>
        </p:txBody>
      </p:sp>
      <p:sp>
        <p:nvSpPr>
          <p:cNvPr id="33" name="TextBox 32"/>
          <p:cNvSpPr txBox="1"/>
          <p:nvPr/>
        </p:nvSpPr>
        <p:spPr>
          <a:xfrm>
            <a:off x="4773168" y="2011680"/>
            <a:ext cx="4023360" cy="237744"/>
          </a:xfrm>
          <a:prstGeom prst="rect">
            <a:avLst/>
          </a:prstGeom>
          <a:noFill/>
        </p:spPr>
        <p:txBody>
          <a:bodyPr wrap="square">
            <a:spAutoFit/>
          </a:bodyPr>
          <a:lstStyle/>
          <a:p>
            <a:pPr algn="l"/>
            <a:r>
              <a:rPr sz="950" b="0" i="0">
                <a:solidFill>
                  <a:srgbClr val="CCCCCC"/>
                </a:solidFill>
                <a:latin typeface="Calibri"/>
              </a:rPr>
              <a:t>Front patch wallet system</a:t>
            </a:r>
          </a:p>
        </p:txBody>
      </p:sp>
      <p:sp>
        <p:nvSpPr>
          <p:cNvPr id="34" name="Rectangle 33"/>
          <p:cNvSpPr/>
          <p:nvPr/>
        </p:nvSpPr>
        <p:spPr>
          <a:xfrm>
            <a:off x="4443984" y="2304288"/>
            <a:ext cx="274320" cy="274320"/>
          </a:xfrm>
          <a:prstGeom prst="rect">
            <a:avLst/>
          </a:prstGeom>
          <a:solidFill>
            <a:srgbClr val="142006"/>
          </a:solidFill>
          <a:ln w="381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43984" y="2304288"/>
            <a:ext cx="274320" cy="274320"/>
          </a:xfrm>
          <a:prstGeom prst="rect">
            <a:avLst/>
          </a:prstGeom>
          <a:noFill/>
        </p:spPr>
        <p:txBody>
          <a:bodyPr wrap="square">
            <a:spAutoFit/>
          </a:bodyPr>
          <a:lstStyle/>
          <a:p>
            <a:pPr algn="ctr"/>
            <a:r>
              <a:rPr sz="900" b="1" i="0">
                <a:solidFill>
                  <a:srgbClr val="FFE500"/>
                </a:solidFill>
                <a:latin typeface="Calibri"/>
              </a:rPr>
              <a:t>✓</a:t>
            </a:r>
          </a:p>
        </p:txBody>
      </p:sp>
      <p:sp>
        <p:nvSpPr>
          <p:cNvPr id="36" name="TextBox 35"/>
          <p:cNvSpPr txBox="1"/>
          <p:nvPr/>
        </p:nvSpPr>
        <p:spPr>
          <a:xfrm>
            <a:off x="4773168" y="2340864"/>
            <a:ext cx="4023360" cy="237744"/>
          </a:xfrm>
          <a:prstGeom prst="rect">
            <a:avLst/>
          </a:prstGeom>
          <a:noFill/>
        </p:spPr>
        <p:txBody>
          <a:bodyPr wrap="square">
            <a:spAutoFit/>
          </a:bodyPr>
          <a:lstStyle/>
          <a:p>
            <a:pPr algn="l"/>
            <a:r>
              <a:rPr sz="950" b="0" i="0">
                <a:solidFill>
                  <a:srgbClr val="CCCCCC"/>
                </a:solidFill>
                <a:latin typeface="Calibri"/>
              </a:rPr>
              <a:t>Custom 38mm watch (Pocket Pebble)</a:t>
            </a:r>
          </a:p>
        </p:txBody>
      </p:sp>
      <p:sp>
        <p:nvSpPr>
          <p:cNvPr id="37" name="Rectangle 36"/>
          <p:cNvSpPr/>
          <p:nvPr/>
        </p:nvSpPr>
        <p:spPr>
          <a:xfrm>
            <a:off x="4443984" y="2633472"/>
            <a:ext cx="274320" cy="274320"/>
          </a:xfrm>
          <a:prstGeom prst="rect">
            <a:avLst/>
          </a:prstGeom>
          <a:solidFill>
            <a:srgbClr val="142006"/>
          </a:solidFill>
          <a:ln w="381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43984" y="2633472"/>
            <a:ext cx="274320" cy="274320"/>
          </a:xfrm>
          <a:prstGeom prst="rect">
            <a:avLst/>
          </a:prstGeom>
          <a:noFill/>
        </p:spPr>
        <p:txBody>
          <a:bodyPr wrap="square">
            <a:spAutoFit/>
          </a:bodyPr>
          <a:lstStyle/>
          <a:p>
            <a:pPr algn="ctr"/>
            <a:r>
              <a:rPr sz="900" b="1" i="0">
                <a:solidFill>
                  <a:srgbClr val="FF2D78"/>
                </a:solidFill>
                <a:latin typeface="Calibri"/>
              </a:rPr>
              <a:t>✓</a:t>
            </a:r>
          </a:p>
        </p:txBody>
      </p:sp>
      <p:sp>
        <p:nvSpPr>
          <p:cNvPr id="39" name="TextBox 38"/>
          <p:cNvSpPr txBox="1"/>
          <p:nvPr/>
        </p:nvSpPr>
        <p:spPr>
          <a:xfrm>
            <a:off x="4773168" y="2670048"/>
            <a:ext cx="4023360" cy="237744"/>
          </a:xfrm>
          <a:prstGeom prst="rect">
            <a:avLst/>
          </a:prstGeom>
          <a:noFill/>
        </p:spPr>
        <p:txBody>
          <a:bodyPr wrap="square">
            <a:spAutoFit/>
          </a:bodyPr>
          <a:lstStyle/>
          <a:p>
            <a:pPr algn="l"/>
            <a:r>
              <a:rPr sz="950" b="0" i="0">
                <a:solidFill>
                  <a:srgbClr val="CCCCCC"/>
                </a:solidFill>
                <a:latin typeface="Calibri"/>
              </a:rPr>
              <a:t>Password-only pitch website (live)</a:t>
            </a:r>
          </a:p>
        </p:txBody>
      </p:sp>
      <p:sp>
        <p:nvSpPr>
          <p:cNvPr id="40" name="Rectangle 39"/>
          <p:cNvSpPr/>
          <p:nvPr/>
        </p:nvSpPr>
        <p:spPr>
          <a:xfrm>
            <a:off x="4443984" y="2962656"/>
            <a:ext cx="274320" cy="274320"/>
          </a:xfrm>
          <a:prstGeom prst="rect">
            <a:avLst/>
          </a:prstGeom>
          <a:solidFill>
            <a:srgbClr val="142006"/>
          </a:solidFill>
          <a:ln w="381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43984" y="2962656"/>
            <a:ext cx="274320" cy="274320"/>
          </a:xfrm>
          <a:prstGeom prst="rect">
            <a:avLst/>
          </a:prstGeom>
          <a:noFill/>
        </p:spPr>
        <p:txBody>
          <a:bodyPr wrap="square">
            <a:spAutoFit/>
          </a:bodyPr>
          <a:lstStyle/>
          <a:p>
            <a:pPr algn="ctr"/>
            <a:r>
              <a:rPr sz="900" b="1" i="0">
                <a:solidFill>
                  <a:srgbClr val="FF2D78"/>
                </a:solidFill>
                <a:latin typeface="Calibri"/>
              </a:rPr>
              <a:t>✓</a:t>
            </a:r>
          </a:p>
        </p:txBody>
      </p:sp>
      <p:sp>
        <p:nvSpPr>
          <p:cNvPr id="42" name="TextBox 41"/>
          <p:cNvSpPr txBox="1"/>
          <p:nvPr/>
        </p:nvSpPr>
        <p:spPr>
          <a:xfrm>
            <a:off x="4773168" y="2999232"/>
            <a:ext cx="4023360" cy="237744"/>
          </a:xfrm>
          <a:prstGeom prst="rect">
            <a:avLst/>
          </a:prstGeom>
          <a:noFill/>
        </p:spPr>
        <p:txBody>
          <a:bodyPr wrap="square">
            <a:spAutoFit/>
          </a:bodyPr>
          <a:lstStyle/>
          <a:p>
            <a:pPr algn="l"/>
            <a:r>
              <a:rPr sz="950" b="0" i="0">
                <a:solidFill>
                  <a:srgbClr val="CCCCCC"/>
                </a:solidFill>
                <a:latin typeface="Calibri"/>
              </a:rPr>
              <a:t>Modular snap system (mag + POM hybrid)</a:t>
            </a:r>
          </a:p>
        </p:txBody>
      </p:sp>
      <p:sp>
        <p:nvSpPr>
          <p:cNvPr id="43" name="Rectangle 42"/>
          <p:cNvSpPr/>
          <p:nvPr/>
        </p:nvSpPr>
        <p:spPr>
          <a:xfrm>
            <a:off x="4443984" y="3291840"/>
            <a:ext cx="274320" cy="274320"/>
          </a:xfrm>
          <a:prstGeom prst="rect">
            <a:avLst/>
          </a:prstGeom>
          <a:solidFill>
            <a:srgbClr val="142006"/>
          </a:solidFill>
          <a:ln w="381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43984" y="3291840"/>
            <a:ext cx="274320" cy="274320"/>
          </a:xfrm>
          <a:prstGeom prst="rect">
            <a:avLst/>
          </a:prstGeom>
          <a:noFill/>
        </p:spPr>
        <p:txBody>
          <a:bodyPr wrap="square">
            <a:spAutoFit/>
          </a:bodyPr>
          <a:lstStyle/>
          <a:p>
            <a:pPr algn="ctr"/>
            <a:r>
              <a:rPr sz="900" b="1" i="0">
                <a:solidFill>
                  <a:srgbClr val="FFFFFF"/>
                </a:solidFill>
                <a:latin typeface="Calibri"/>
              </a:rPr>
              <a:t>✓</a:t>
            </a:r>
          </a:p>
        </p:txBody>
      </p:sp>
      <p:sp>
        <p:nvSpPr>
          <p:cNvPr id="45" name="TextBox 44"/>
          <p:cNvSpPr txBox="1"/>
          <p:nvPr/>
        </p:nvSpPr>
        <p:spPr>
          <a:xfrm>
            <a:off x="4773168" y="3328416"/>
            <a:ext cx="4023360" cy="237744"/>
          </a:xfrm>
          <a:prstGeom prst="rect">
            <a:avLst/>
          </a:prstGeom>
          <a:noFill/>
        </p:spPr>
        <p:txBody>
          <a:bodyPr wrap="square">
            <a:spAutoFit/>
          </a:bodyPr>
          <a:lstStyle/>
          <a:p>
            <a:pPr algn="l"/>
            <a:r>
              <a:rPr sz="950" b="0" i="0">
                <a:solidFill>
                  <a:srgbClr val="CCCCCC"/>
                </a:solidFill>
                <a:latin typeface="Calibri"/>
              </a:rPr>
              <a:t>Technical spec sheets</a:t>
            </a:r>
          </a:p>
        </p:txBody>
      </p:sp>
      <p:sp>
        <p:nvSpPr>
          <p:cNvPr id="46" name="Rectangle 45"/>
          <p:cNvSpPr/>
          <p:nvPr/>
        </p:nvSpPr>
        <p:spPr>
          <a:xfrm>
            <a:off x="4443984" y="3621024"/>
            <a:ext cx="274320" cy="274320"/>
          </a:xfrm>
          <a:prstGeom prst="rect">
            <a:avLst/>
          </a:prstGeom>
          <a:solidFill>
            <a:srgbClr val="142006"/>
          </a:solidFill>
          <a:ln w="381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43984" y="3621024"/>
            <a:ext cx="274320" cy="274320"/>
          </a:xfrm>
          <a:prstGeom prst="rect">
            <a:avLst/>
          </a:prstGeom>
          <a:noFill/>
        </p:spPr>
        <p:txBody>
          <a:bodyPr wrap="square">
            <a:spAutoFit/>
          </a:bodyPr>
          <a:lstStyle/>
          <a:p>
            <a:pPr algn="ctr"/>
            <a:r>
              <a:rPr sz="900" b="1" i="0">
                <a:solidFill>
                  <a:srgbClr val="FFFFFF"/>
                </a:solidFill>
                <a:latin typeface="Calibri"/>
              </a:rPr>
              <a:t>✓</a:t>
            </a:r>
          </a:p>
        </p:txBody>
      </p:sp>
      <p:sp>
        <p:nvSpPr>
          <p:cNvPr id="48" name="TextBox 47"/>
          <p:cNvSpPr txBox="1"/>
          <p:nvPr/>
        </p:nvSpPr>
        <p:spPr>
          <a:xfrm>
            <a:off x="4773168" y="3657600"/>
            <a:ext cx="4023360" cy="237744"/>
          </a:xfrm>
          <a:prstGeom prst="rect">
            <a:avLst/>
          </a:prstGeom>
          <a:noFill/>
        </p:spPr>
        <p:txBody>
          <a:bodyPr wrap="square">
            <a:spAutoFit/>
          </a:bodyPr>
          <a:lstStyle/>
          <a:p>
            <a:pPr algn="l"/>
            <a:r>
              <a:rPr sz="950" b="0" i="0">
                <a:solidFill>
                  <a:srgbClr val="CCCCCC"/>
                </a:solidFill>
                <a:latin typeface="Calibri"/>
              </a:rPr>
              <a:t>Full pitch deck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28016"/>
            <a:ext cx="1188720" cy="256032"/>
          </a:xfrm>
          <a:prstGeom prst="rect">
            <a:avLst/>
          </a:prstGeom>
          <a:noFill/>
        </p:spPr>
        <p:txBody>
          <a:bodyPr wrap="square">
            <a:spAutoFit/>
          </a:bodyPr>
          <a:lstStyle/>
          <a:p>
            <a:pPr algn="r"/>
            <a:r>
              <a:rPr sz="700" b="1" i="0">
                <a:solidFill>
                  <a:srgbClr val="C6F135"/>
                </a:solidFill>
                <a:latin typeface="Courier New"/>
              </a:rPr>
              <a:t>SLIDE 09</a:t>
            </a:r>
          </a:p>
        </p:txBody>
      </p:sp>
      <p:sp>
        <p:nvSpPr>
          <p:cNvPr id="6" name="TextBox 5"/>
          <p:cNvSpPr txBox="1"/>
          <p:nvPr/>
        </p:nvSpPr>
        <p:spPr>
          <a:xfrm>
            <a:off x="8229600" y="4791456"/>
            <a:ext cx="822960" cy="274320"/>
          </a:xfrm>
          <a:prstGeom prst="rect">
            <a:avLst/>
          </a:prstGeom>
          <a:noFill/>
        </p:spPr>
        <p:txBody>
          <a:bodyPr wrap="square">
            <a:spAutoFit/>
          </a:bodyPr>
          <a:lstStyle/>
          <a:p>
            <a:pPr algn="r"/>
            <a:r>
              <a:rPr sz="800" b="1" i="0">
                <a:solidFill>
                  <a:srgbClr val="C8A84B"/>
                </a:solidFill>
                <a:latin typeface="Courier New"/>
              </a:rPr>
              <a:t>ivi</a:t>
            </a:r>
          </a:p>
        </p:txBody>
      </p:sp>
      <p:sp>
        <p:nvSpPr>
          <p:cNvPr id="7" name="Rectangle 6"/>
          <p:cNvSpPr/>
          <p:nvPr/>
        </p:nvSpPr>
        <p:spPr>
          <a:xfrm>
            <a:off x="54864" y="5084064"/>
            <a:ext cx="8180222" cy="54864"/>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35086" y="5084064"/>
            <a:ext cx="908913" cy="5486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9 / 10</a:t>
            </a:r>
          </a:p>
        </p:txBody>
      </p:sp>
      <p:sp>
        <p:nvSpPr>
          <p:cNvPr id="10" name="TextBox 9"/>
          <p:cNvSpPr txBox="1"/>
          <p:nvPr/>
        </p:nvSpPr>
        <p:spPr>
          <a:xfrm>
            <a:off x="219456" y="182880"/>
            <a:ext cx="6400800" cy="384048"/>
          </a:xfrm>
          <a:prstGeom prst="rect">
            <a:avLst/>
          </a:prstGeom>
          <a:noFill/>
        </p:spPr>
        <p:txBody>
          <a:bodyPr wrap="square">
            <a:spAutoFit/>
          </a:bodyPr>
          <a:lstStyle/>
          <a:p>
            <a:pPr algn="l"/>
            <a:r>
              <a:rPr sz="2200" b="1" i="0">
                <a:solidFill>
                  <a:srgbClr val="C6F135"/>
                </a:solidFill>
                <a:latin typeface="League Spartan"/>
              </a:rPr>
              <a:t>ROADMAP &amp; WHAT WE NEED</a:t>
            </a:r>
          </a:p>
        </p:txBody>
      </p:sp>
      <p:sp>
        <p:nvSpPr>
          <p:cNvPr id="11" name="TextBox 10"/>
          <p:cNvSpPr txBox="1"/>
          <p:nvPr/>
        </p:nvSpPr>
        <p:spPr>
          <a:xfrm>
            <a:off x="219456" y="566928"/>
            <a:ext cx="6858000" cy="292608"/>
          </a:xfrm>
          <a:prstGeom prst="rect">
            <a:avLst/>
          </a:prstGeom>
          <a:noFill/>
        </p:spPr>
        <p:txBody>
          <a:bodyPr wrap="square">
            <a:spAutoFit/>
          </a:bodyPr>
          <a:lstStyle/>
          <a:p>
            <a:pPr algn="l"/>
            <a:r>
              <a:rPr sz="800" b="0" i="0">
                <a:solidFill>
                  <a:srgbClr val="888888"/>
                </a:solidFill>
                <a:latin typeface="Courier New"/>
              </a:rPr>
              <a:t>Where are you going, and what will IVI help us achieve?</a:t>
            </a:r>
          </a:p>
        </p:txBody>
      </p:sp>
      <p:sp>
        <p:nvSpPr>
          <p:cNvPr id="12" name="Rectangle 11"/>
          <p:cNvSpPr/>
          <p:nvPr/>
        </p:nvSpPr>
        <p:spPr>
          <a:xfrm>
            <a:off x="164592" y="932688"/>
            <a:ext cx="2834640" cy="1883664"/>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64592" y="932688"/>
            <a:ext cx="2834640" cy="365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005840"/>
            <a:ext cx="2651760" cy="201168"/>
          </a:xfrm>
          <a:prstGeom prst="rect">
            <a:avLst/>
          </a:prstGeom>
          <a:noFill/>
        </p:spPr>
        <p:txBody>
          <a:bodyPr wrap="square">
            <a:spAutoFit/>
          </a:bodyPr>
          <a:lstStyle/>
          <a:p>
            <a:pPr algn="l"/>
            <a:r>
              <a:rPr sz="700" b="1" i="0">
                <a:solidFill>
                  <a:srgbClr val="C6F135"/>
                </a:solidFill>
                <a:latin typeface="Courier New"/>
              </a:rPr>
              <a:t>Month 1–2</a:t>
            </a:r>
          </a:p>
        </p:txBody>
      </p:sp>
      <p:sp>
        <p:nvSpPr>
          <p:cNvPr id="15" name="TextBox 14"/>
          <p:cNvSpPr txBox="1"/>
          <p:nvPr/>
        </p:nvSpPr>
        <p:spPr>
          <a:xfrm>
            <a:off x="274320" y="1225296"/>
            <a:ext cx="2633472" cy="329184"/>
          </a:xfrm>
          <a:prstGeom prst="rect">
            <a:avLst/>
          </a:prstGeom>
          <a:noFill/>
        </p:spPr>
        <p:txBody>
          <a:bodyPr wrap="square">
            <a:spAutoFit/>
          </a:bodyPr>
          <a:lstStyle/>
          <a:p>
            <a:pPr algn="l"/>
            <a:r>
              <a:rPr sz="1300" b="1" i="0">
                <a:solidFill>
                  <a:srgbClr val="FFFFFF"/>
                </a:solidFill>
                <a:latin typeface="League Spartan"/>
              </a:rPr>
              <a:t>Finalise Batch 01 Production</a:t>
            </a:r>
          </a:p>
        </p:txBody>
      </p:sp>
      <p:sp>
        <p:nvSpPr>
          <p:cNvPr id="16" name="TextBox 15"/>
          <p:cNvSpPr txBox="1"/>
          <p:nvPr/>
        </p:nvSpPr>
        <p:spPr>
          <a:xfrm>
            <a:off x="274320" y="1572768"/>
            <a:ext cx="2633472" cy="1152144"/>
          </a:xfrm>
          <a:prstGeom prst="rect">
            <a:avLst/>
          </a:prstGeom>
          <a:noFill/>
        </p:spPr>
        <p:txBody>
          <a:bodyPr wrap="square">
            <a:spAutoFit/>
          </a:bodyPr>
          <a:lstStyle/>
          <a:p>
            <a:pPr algn="l"/>
            <a:r>
              <a:rPr sz="900" b="0" i="0">
                <a:solidFill>
                  <a:srgbClr val="AAAAAA"/>
                </a:solidFill>
                <a:latin typeface="Calibri"/>
              </a:rPr>
              <a:t>Complete all 100 units across 4 modules. QC every piece. Confirm thermochromic activation on all units.</a:t>
            </a:r>
          </a:p>
        </p:txBody>
      </p:sp>
      <p:sp>
        <p:nvSpPr>
          <p:cNvPr id="17" name="Rectangle 16"/>
          <p:cNvSpPr/>
          <p:nvPr/>
        </p:nvSpPr>
        <p:spPr>
          <a:xfrm>
            <a:off x="3108960" y="932688"/>
            <a:ext cx="2834640" cy="1883664"/>
          </a:xfrm>
          <a:prstGeom prst="rect">
            <a:avLst/>
          </a:prstGeom>
          <a:solidFill>
            <a:srgbClr val="1A1A1A"/>
          </a:solidFill>
          <a:ln w="635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08960" y="932688"/>
            <a:ext cx="2834640" cy="36576"/>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18688" y="1005840"/>
            <a:ext cx="2651760" cy="201168"/>
          </a:xfrm>
          <a:prstGeom prst="rect">
            <a:avLst/>
          </a:prstGeom>
          <a:noFill/>
        </p:spPr>
        <p:txBody>
          <a:bodyPr wrap="square">
            <a:spAutoFit/>
          </a:bodyPr>
          <a:lstStyle/>
          <a:p>
            <a:pPr algn="l"/>
            <a:r>
              <a:rPr sz="700" b="1" i="0">
                <a:solidFill>
                  <a:srgbClr val="FFE500"/>
                </a:solidFill>
                <a:latin typeface="Courier New"/>
              </a:rPr>
              <a:t>Month 3–4</a:t>
            </a:r>
          </a:p>
        </p:txBody>
      </p:sp>
      <p:sp>
        <p:nvSpPr>
          <p:cNvPr id="20" name="TextBox 19"/>
          <p:cNvSpPr txBox="1"/>
          <p:nvPr/>
        </p:nvSpPr>
        <p:spPr>
          <a:xfrm>
            <a:off x="3218688" y="1225296"/>
            <a:ext cx="2633472" cy="329184"/>
          </a:xfrm>
          <a:prstGeom prst="rect">
            <a:avLst/>
          </a:prstGeom>
          <a:noFill/>
        </p:spPr>
        <p:txBody>
          <a:bodyPr wrap="square">
            <a:spAutoFit/>
          </a:bodyPr>
          <a:lstStyle/>
          <a:p>
            <a:pPr algn="l"/>
            <a:r>
              <a:rPr sz="1300" b="1" i="0">
                <a:solidFill>
                  <a:srgbClr val="FFFFFF"/>
                </a:solidFill>
                <a:latin typeface="League Spartan"/>
              </a:rPr>
              <a:t>Execute the Drop</a:t>
            </a:r>
          </a:p>
        </p:txBody>
      </p:sp>
      <p:sp>
        <p:nvSpPr>
          <p:cNvPr id="21" name="TextBox 20"/>
          <p:cNvSpPr txBox="1"/>
          <p:nvPr/>
        </p:nvSpPr>
        <p:spPr>
          <a:xfrm>
            <a:off x="3218688" y="1572768"/>
            <a:ext cx="2633472" cy="1152144"/>
          </a:xfrm>
          <a:prstGeom prst="rect">
            <a:avLst/>
          </a:prstGeom>
          <a:noFill/>
        </p:spPr>
        <p:txBody>
          <a:bodyPr wrap="square">
            <a:spAutoFit/>
          </a:bodyPr>
          <a:lstStyle/>
          <a:p>
            <a:pPr algn="l"/>
            <a:r>
              <a:rPr sz="900" b="0" i="0">
                <a:solidFill>
                  <a:srgbClr val="AAAAAA"/>
                </a:solidFill>
                <a:latin typeface="Calibri"/>
              </a:rPr>
              <a:t>Password-only launch. 100 units at ₹6,500. Real-time unit counter. Sell or don't — we find out on drop day.</a:t>
            </a:r>
          </a:p>
        </p:txBody>
      </p:sp>
      <p:sp>
        <p:nvSpPr>
          <p:cNvPr id="22" name="Rectangle 21"/>
          <p:cNvSpPr/>
          <p:nvPr/>
        </p:nvSpPr>
        <p:spPr>
          <a:xfrm>
            <a:off x="6053328" y="932688"/>
            <a:ext cx="2834640" cy="1883664"/>
          </a:xfrm>
          <a:prstGeom prst="rect">
            <a:avLst/>
          </a:prstGeom>
          <a:solidFill>
            <a:srgbClr val="1A1A1A"/>
          </a:solidFill>
          <a:ln w="6350">
            <a:solidFill>
              <a:srgbClr val="FF2D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53328" y="932688"/>
            <a:ext cx="2834640" cy="36576"/>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63056" y="1005840"/>
            <a:ext cx="2651760" cy="201168"/>
          </a:xfrm>
          <a:prstGeom prst="rect">
            <a:avLst/>
          </a:prstGeom>
          <a:noFill/>
        </p:spPr>
        <p:txBody>
          <a:bodyPr wrap="square">
            <a:spAutoFit/>
          </a:bodyPr>
          <a:lstStyle/>
          <a:p>
            <a:pPr algn="l"/>
            <a:r>
              <a:rPr sz="700" b="1" i="0">
                <a:solidFill>
                  <a:srgbClr val="FF2D78"/>
                </a:solidFill>
                <a:latin typeface="Courier New"/>
              </a:rPr>
              <a:t>Month 5–6</a:t>
            </a:r>
          </a:p>
        </p:txBody>
      </p:sp>
      <p:sp>
        <p:nvSpPr>
          <p:cNvPr id="25" name="TextBox 24"/>
          <p:cNvSpPr txBox="1"/>
          <p:nvPr/>
        </p:nvSpPr>
        <p:spPr>
          <a:xfrm>
            <a:off x="6163056" y="1225296"/>
            <a:ext cx="2633472" cy="329184"/>
          </a:xfrm>
          <a:prstGeom prst="rect">
            <a:avLst/>
          </a:prstGeom>
          <a:noFill/>
        </p:spPr>
        <p:txBody>
          <a:bodyPr wrap="square">
            <a:spAutoFit/>
          </a:bodyPr>
          <a:lstStyle/>
          <a:p>
            <a:pPr algn="l"/>
            <a:r>
              <a:rPr sz="1300" b="1" i="0">
                <a:solidFill>
                  <a:srgbClr val="FFFFFF"/>
                </a:solidFill>
                <a:latin typeface="League Spartan"/>
              </a:rPr>
              <a:t>Analyse &amp; Plan Batch 02</a:t>
            </a:r>
          </a:p>
        </p:txBody>
      </p:sp>
      <p:sp>
        <p:nvSpPr>
          <p:cNvPr id="26" name="TextBox 25"/>
          <p:cNvSpPr txBox="1"/>
          <p:nvPr/>
        </p:nvSpPr>
        <p:spPr>
          <a:xfrm>
            <a:off x="6163056" y="1572768"/>
            <a:ext cx="2633472" cy="1152144"/>
          </a:xfrm>
          <a:prstGeom prst="rect">
            <a:avLst/>
          </a:prstGeom>
          <a:noFill/>
        </p:spPr>
        <p:txBody>
          <a:bodyPr wrap="square">
            <a:spAutoFit/>
          </a:bodyPr>
          <a:lstStyle/>
          <a:p>
            <a:pPr algn="l"/>
            <a:r>
              <a:rPr sz="900" b="0" i="0">
                <a:solidFill>
                  <a:srgbClr val="AAAAAA"/>
                </a:solidFill>
                <a:latin typeface="Calibri"/>
              </a:rPr>
              <a:t>Review: what sold fastest, what feedback came in, what failed. File design protection. Brief Batch 02 with improvements.</a:t>
            </a:r>
          </a:p>
        </p:txBody>
      </p:sp>
      <p:sp>
        <p:nvSpPr>
          <p:cNvPr id="27" name="TextBox 26"/>
          <p:cNvSpPr txBox="1"/>
          <p:nvPr/>
        </p:nvSpPr>
        <p:spPr>
          <a:xfrm>
            <a:off x="3108960" y="1682496"/>
            <a:ext cx="91440" cy="310896"/>
          </a:xfrm>
          <a:prstGeom prst="rect">
            <a:avLst/>
          </a:prstGeom>
          <a:noFill/>
        </p:spPr>
        <p:txBody>
          <a:bodyPr wrap="square">
            <a:spAutoFit/>
          </a:bodyPr>
          <a:lstStyle/>
          <a:p>
            <a:pPr algn="ctr"/>
            <a:r>
              <a:rPr sz="1400" b="0" i="0">
                <a:solidFill>
                  <a:srgbClr val="444444"/>
                </a:solidFill>
                <a:latin typeface="Calibri"/>
              </a:rPr>
              <a:t>→</a:t>
            </a:r>
          </a:p>
        </p:txBody>
      </p:sp>
      <p:sp>
        <p:nvSpPr>
          <p:cNvPr id="28" name="TextBox 27"/>
          <p:cNvSpPr txBox="1"/>
          <p:nvPr/>
        </p:nvSpPr>
        <p:spPr>
          <a:xfrm>
            <a:off x="6053328" y="1682496"/>
            <a:ext cx="91440" cy="310896"/>
          </a:xfrm>
          <a:prstGeom prst="rect">
            <a:avLst/>
          </a:prstGeom>
          <a:noFill/>
        </p:spPr>
        <p:txBody>
          <a:bodyPr wrap="square">
            <a:spAutoFit/>
          </a:bodyPr>
          <a:lstStyle/>
          <a:p>
            <a:pPr algn="ctr"/>
            <a:r>
              <a:rPr sz="1400" b="0" i="0">
                <a:solidFill>
                  <a:srgbClr val="444444"/>
                </a:solidFill>
                <a:latin typeface="Calibri"/>
              </a:rPr>
              <a:t>→</a:t>
            </a:r>
          </a:p>
        </p:txBody>
      </p:sp>
      <p:sp>
        <p:nvSpPr>
          <p:cNvPr id="29" name="Rectangle 28"/>
          <p:cNvSpPr/>
          <p:nvPr/>
        </p:nvSpPr>
        <p:spPr>
          <a:xfrm>
            <a:off x="164592" y="2926080"/>
            <a:ext cx="5212080" cy="1591056"/>
          </a:xfrm>
          <a:prstGeom prst="rect">
            <a:avLst/>
          </a:prstGeom>
          <a:solidFill>
            <a:srgbClr val="14140A"/>
          </a:solidFill>
          <a:ln w="1016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2926080"/>
            <a:ext cx="5212080" cy="365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2999232"/>
            <a:ext cx="3657600" cy="219456"/>
          </a:xfrm>
          <a:prstGeom prst="rect">
            <a:avLst/>
          </a:prstGeom>
          <a:noFill/>
        </p:spPr>
        <p:txBody>
          <a:bodyPr wrap="square">
            <a:spAutoFit/>
          </a:bodyPr>
          <a:lstStyle/>
          <a:p>
            <a:pPr algn="l"/>
            <a:r>
              <a:rPr sz="750" b="1" i="0">
                <a:solidFill>
                  <a:srgbClr val="C6F135"/>
                </a:solidFill>
                <a:latin typeface="Courier New"/>
              </a:rPr>
              <a:t>WHAT WE WANT FROM IVI</a:t>
            </a:r>
          </a:p>
        </p:txBody>
      </p:sp>
      <p:sp>
        <p:nvSpPr>
          <p:cNvPr id="32" name="Rectangle 31"/>
          <p:cNvSpPr/>
          <p:nvPr/>
        </p:nvSpPr>
        <p:spPr>
          <a:xfrm>
            <a:off x="256032" y="3255264"/>
            <a:ext cx="73152" cy="256032"/>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0624" y="3273552"/>
            <a:ext cx="4846320" cy="256032"/>
          </a:xfrm>
          <a:prstGeom prst="rect">
            <a:avLst/>
          </a:prstGeom>
          <a:noFill/>
        </p:spPr>
        <p:txBody>
          <a:bodyPr wrap="square">
            <a:spAutoFit/>
          </a:bodyPr>
          <a:lstStyle/>
          <a:p>
            <a:pPr algn="l"/>
            <a:r>
              <a:rPr sz="850" b="0" i="0">
                <a:solidFill>
                  <a:srgbClr val="CCCCCC"/>
                </a:solidFill>
                <a:latin typeface="Calibri"/>
              </a:rPr>
              <a:t>Manufacturing network — Chennai-based garment + textile partners for Batch 02 scale-up</a:t>
            </a:r>
          </a:p>
        </p:txBody>
      </p:sp>
      <p:sp>
        <p:nvSpPr>
          <p:cNvPr id="34" name="Rectangle 33"/>
          <p:cNvSpPr/>
          <p:nvPr/>
        </p:nvSpPr>
        <p:spPr>
          <a:xfrm>
            <a:off x="256032" y="3566160"/>
            <a:ext cx="73152" cy="256032"/>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0624" y="3584448"/>
            <a:ext cx="4846320" cy="256032"/>
          </a:xfrm>
          <a:prstGeom prst="rect">
            <a:avLst/>
          </a:prstGeom>
          <a:noFill/>
        </p:spPr>
        <p:txBody>
          <a:bodyPr wrap="square">
            <a:spAutoFit/>
          </a:bodyPr>
          <a:lstStyle/>
          <a:p>
            <a:pPr algn="l"/>
            <a:r>
              <a:rPr sz="850" b="0" i="0">
                <a:solidFill>
                  <a:srgbClr val="CCCCCC"/>
                </a:solidFill>
                <a:latin typeface="Calibri"/>
              </a:rPr>
              <a:t>Mentorship in D2C brand strategy — how to build a product cult, not just a product</a:t>
            </a:r>
          </a:p>
        </p:txBody>
      </p:sp>
      <p:sp>
        <p:nvSpPr>
          <p:cNvPr id="36" name="Rectangle 35"/>
          <p:cNvSpPr/>
          <p:nvPr/>
        </p:nvSpPr>
        <p:spPr>
          <a:xfrm>
            <a:off x="256032" y="3877056"/>
            <a:ext cx="73152"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 y="3895344"/>
            <a:ext cx="4846320" cy="256032"/>
          </a:xfrm>
          <a:prstGeom prst="rect">
            <a:avLst/>
          </a:prstGeom>
          <a:noFill/>
        </p:spPr>
        <p:txBody>
          <a:bodyPr wrap="square">
            <a:spAutoFit/>
          </a:bodyPr>
          <a:lstStyle/>
          <a:p>
            <a:pPr algn="l"/>
            <a:r>
              <a:rPr sz="850" b="0" i="0">
                <a:solidFill>
                  <a:srgbClr val="CCCCCC"/>
                </a:solidFill>
                <a:latin typeface="Calibri"/>
              </a:rPr>
              <a:t>Legal guidance on design IP — protecting the fold mechanism and thermochromic system</a:t>
            </a:r>
          </a:p>
        </p:txBody>
      </p:sp>
      <p:sp>
        <p:nvSpPr>
          <p:cNvPr id="38" name="Rectangle 37"/>
          <p:cNvSpPr/>
          <p:nvPr/>
        </p:nvSpPr>
        <p:spPr>
          <a:xfrm>
            <a:off x="256032" y="4187952"/>
            <a:ext cx="73152" cy="256032"/>
          </a:xfrm>
          <a:prstGeom prst="rect">
            <a:avLst/>
          </a:prstGeom>
          <a:solidFill>
            <a:srgbClr val="FF2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 y="4206240"/>
            <a:ext cx="4846320" cy="256032"/>
          </a:xfrm>
          <a:prstGeom prst="rect">
            <a:avLst/>
          </a:prstGeom>
          <a:noFill/>
        </p:spPr>
        <p:txBody>
          <a:bodyPr wrap="square">
            <a:spAutoFit/>
          </a:bodyPr>
          <a:lstStyle/>
          <a:p>
            <a:pPr algn="l"/>
            <a:r>
              <a:rPr sz="850" b="0" i="0">
                <a:solidFill>
                  <a:srgbClr val="CCCCCC"/>
                </a:solidFill>
                <a:latin typeface="Calibri"/>
              </a:rPr>
              <a:t>Access to fashion / retail industry network for distribution conversations post-Batch 01</a:t>
            </a:r>
          </a:p>
        </p:txBody>
      </p:sp>
      <p:sp>
        <p:nvSpPr>
          <p:cNvPr id="40" name="Rectangle 39"/>
          <p:cNvSpPr/>
          <p:nvPr/>
        </p:nvSpPr>
        <p:spPr>
          <a:xfrm>
            <a:off x="5541264" y="2926080"/>
            <a:ext cx="3419856" cy="1591056"/>
          </a:xfrm>
          <a:prstGeom prst="rect">
            <a:avLst/>
          </a:prstGeom>
          <a:solidFill>
            <a:srgbClr val="1A1A1A"/>
          </a:solidFill>
          <a:ln w="10160">
            <a:solidFill>
              <a:srgbClr val="FF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41264" y="2926080"/>
            <a:ext cx="3419856" cy="36576"/>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50992" y="2999232"/>
            <a:ext cx="3200400" cy="219456"/>
          </a:xfrm>
          <a:prstGeom prst="rect">
            <a:avLst/>
          </a:prstGeom>
          <a:noFill/>
        </p:spPr>
        <p:txBody>
          <a:bodyPr wrap="square">
            <a:spAutoFit/>
          </a:bodyPr>
          <a:lstStyle/>
          <a:p>
            <a:pPr algn="l"/>
            <a:r>
              <a:rPr sz="750" b="1" i="0">
                <a:solidFill>
                  <a:srgbClr val="FFE500"/>
                </a:solidFill>
                <a:latin typeface="Courier New"/>
              </a:rPr>
              <a:t>FUNDING SOUGHT</a:t>
            </a:r>
          </a:p>
        </p:txBody>
      </p:sp>
      <p:sp>
        <p:nvSpPr>
          <p:cNvPr id="43" name="TextBox 42"/>
          <p:cNvSpPr txBox="1"/>
          <p:nvPr/>
        </p:nvSpPr>
        <p:spPr>
          <a:xfrm>
            <a:off x="5650992" y="3255264"/>
            <a:ext cx="3200400" cy="274320"/>
          </a:xfrm>
          <a:prstGeom prst="rect">
            <a:avLst/>
          </a:prstGeom>
          <a:noFill/>
        </p:spPr>
        <p:txBody>
          <a:bodyPr wrap="square">
            <a:spAutoFit/>
          </a:bodyPr>
          <a:lstStyle/>
          <a:p>
            <a:pPr algn="l"/>
            <a:r>
              <a:rPr sz="1600" b="1" i="0">
                <a:solidFill>
                  <a:srgbClr val="FFFFFF"/>
                </a:solidFill>
                <a:latin typeface="League Spartan"/>
              </a:rPr>
              <a:t>Open to discussion.</a:t>
            </a:r>
          </a:p>
        </p:txBody>
      </p:sp>
      <p:sp>
        <p:nvSpPr>
          <p:cNvPr id="44" name="TextBox 43"/>
          <p:cNvSpPr txBox="1"/>
          <p:nvPr/>
        </p:nvSpPr>
        <p:spPr>
          <a:xfrm>
            <a:off x="5650992" y="3566160"/>
            <a:ext cx="3200400" cy="822960"/>
          </a:xfrm>
          <a:prstGeom prst="rect">
            <a:avLst/>
          </a:prstGeom>
          <a:noFill/>
        </p:spPr>
        <p:txBody>
          <a:bodyPr wrap="square">
            <a:spAutoFit/>
          </a:bodyPr>
          <a:lstStyle/>
          <a:p>
            <a:pPr algn="l"/>
            <a:r>
              <a:rPr sz="850" b="0" i="0">
                <a:solidFill>
                  <a:srgbClr val="AAAAAA"/>
                </a:solidFill>
                <a:latin typeface="Calibri"/>
              </a:rPr>
              <a:t>Primary ask is mentorship and network access, not capital at this stage. If ISB DLabs funding is available, it would be deployed toward Batch 02 tooling, IP filing, and brand marketing.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5138928"/>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4864"/>
          </a:xfrm>
          <a:prstGeom prst="rect">
            <a:avLst/>
          </a:prstGeom>
          <a:solidFill>
            <a:srgbClr val="1313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 y="201168"/>
            <a:ext cx="5943600" cy="2560320"/>
          </a:xfrm>
          <a:prstGeom prst="rect">
            <a:avLst/>
          </a:prstGeom>
          <a:noFill/>
        </p:spPr>
        <p:txBody>
          <a:bodyPr wrap="square">
            <a:spAutoFit/>
          </a:bodyPr>
          <a:lstStyle/>
          <a:p>
            <a:pPr algn="l"/>
            <a:r>
              <a:rPr sz="5200" b="1" i="0">
                <a:solidFill>
                  <a:srgbClr val="FFFFFF"/>
                </a:solidFill>
                <a:latin typeface="League Spartan"/>
              </a:rPr>
              <a:t>ONE GARMENT.
FOUR MODES.
NOTHING LIKE IT.</a:t>
            </a:r>
          </a:p>
        </p:txBody>
      </p:sp>
      <p:sp>
        <p:nvSpPr>
          <p:cNvPr id="6" name="Rectangle 5"/>
          <p:cNvSpPr/>
          <p:nvPr/>
        </p:nvSpPr>
        <p:spPr>
          <a:xfrm>
            <a:off x="237744" y="2724912"/>
            <a:ext cx="3200400" cy="365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37744" y="2834640"/>
            <a:ext cx="5486400" cy="475488"/>
          </a:xfrm>
          <a:prstGeom prst="rect">
            <a:avLst/>
          </a:prstGeom>
          <a:noFill/>
        </p:spPr>
        <p:txBody>
          <a:bodyPr wrap="square">
            <a:spAutoFit/>
          </a:bodyPr>
          <a:lstStyle/>
          <a:p>
            <a:pPr algn="l"/>
            <a:r>
              <a:rPr sz="1200" b="0" i="0">
                <a:solidFill>
                  <a:srgbClr val="888888"/>
                </a:solidFill>
                <a:latin typeface="Calibri"/>
              </a:rPr>
              <a:t>If you are building the next generation of Indian consumer products, this is what one looks like.</a:t>
            </a:r>
          </a:p>
        </p:txBody>
      </p:sp>
      <p:sp>
        <p:nvSpPr>
          <p:cNvPr id="8" name="Rectangle 7"/>
          <p:cNvSpPr/>
          <p:nvPr/>
        </p:nvSpPr>
        <p:spPr>
          <a:xfrm>
            <a:off x="237744" y="3438144"/>
            <a:ext cx="4114800" cy="1316736"/>
          </a:xfrm>
          <a:prstGeom prst="rect">
            <a:avLst/>
          </a:prstGeom>
          <a:solidFill>
            <a:srgbClr val="1A1A1A"/>
          </a:solidFill>
          <a:ln w="6350">
            <a:solidFill>
              <a:srgbClr val="C6F1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37744" y="3438144"/>
            <a:ext cx="4114800" cy="36576"/>
          </a:xfrm>
          <a:prstGeom prst="rect">
            <a:avLst/>
          </a:prstGeom>
          <a:solidFill>
            <a:srgbClr val="C6F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 y="3511296"/>
            <a:ext cx="3840480" cy="219456"/>
          </a:xfrm>
          <a:prstGeom prst="rect">
            <a:avLst/>
          </a:prstGeom>
          <a:noFill/>
        </p:spPr>
        <p:txBody>
          <a:bodyPr wrap="square">
            <a:spAutoFit/>
          </a:bodyPr>
          <a:lstStyle/>
          <a:p>
            <a:pPr algn="l"/>
            <a:r>
              <a:rPr sz="750" b="1" i="0">
                <a:solidFill>
                  <a:srgbClr val="C6F135"/>
                </a:solidFill>
                <a:latin typeface="Courier New"/>
              </a:rPr>
              <a:t>GET IN TOUCH</a:t>
            </a:r>
          </a:p>
        </p:txBody>
      </p:sp>
      <p:sp>
        <p:nvSpPr>
          <p:cNvPr id="11" name="TextBox 10"/>
          <p:cNvSpPr txBox="1"/>
          <p:nvPr/>
        </p:nvSpPr>
        <p:spPr>
          <a:xfrm>
            <a:off x="347472" y="3767328"/>
            <a:ext cx="731520" cy="256032"/>
          </a:xfrm>
          <a:prstGeom prst="rect">
            <a:avLst/>
          </a:prstGeom>
          <a:noFill/>
        </p:spPr>
        <p:txBody>
          <a:bodyPr wrap="square">
            <a:spAutoFit/>
          </a:bodyPr>
          <a:lstStyle/>
          <a:p>
            <a:pPr algn="l"/>
            <a:r>
              <a:rPr sz="800" b="1" i="0">
                <a:solidFill>
                  <a:srgbClr val="C6F135"/>
                </a:solidFill>
                <a:latin typeface="Courier New"/>
              </a:rPr>
              <a:t>Startup:</a:t>
            </a:r>
          </a:p>
        </p:txBody>
      </p:sp>
      <p:sp>
        <p:nvSpPr>
          <p:cNvPr id="12" name="TextBox 11"/>
          <p:cNvSpPr txBox="1"/>
          <p:nvPr/>
        </p:nvSpPr>
        <p:spPr>
          <a:xfrm>
            <a:off x="1115568" y="3767328"/>
            <a:ext cx="3108960" cy="256032"/>
          </a:xfrm>
          <a:prstGeom prst="rect">
            <a:avLst/>
          </a:prstGeom>
          <a:noFill/>
        </p:spPr>
        <p:txBody>
          <a:bodyPr wrap="square">
            <a:spAutoFit/>
          </a:bodyPr>
          <a:lstStyle/>
          <a:p>
            <a:pPr algn="l"/>
            <a:r>
              <a:rPr sz="900" b="0" i="0">
                <a:solidFill>
                  <a:srgbClr val="CCCCCC"/>
                </a:solidFill>
                <a:latin typeface="Calibri"/>
              </a:rPr>
              <a:t>NUUL — NotTheBestPlaceToBuyStuff</a:t>
            </a:r>
          </a:p>
        </p:txBody>
      </p:sp>
      <p:sp>
        <p:nvSpPr>
          <p:cNvPr id="13" name="TextBox 12"/>
          <p:cNvSpPr txBox="1"/>
          <p:nvPr/>
        </p:nvSpPr>
        <p:spPr>
          <a:xfrm>
            <a:off x="347472" y="4041648"/>
            <a:ext cx="731520" cy="256032"/>
          </a:xfrm>
          <a:prstGeom prst="rect">
            <a:avLst/>
          </a:prstGeom>
          <a:noFill/>
        </p:spPr>
        <p:txBody>
          <a:bodyPr wrap="square">
            <a:spAutoFit/>
          </a:bodyPr>
          <a:lstStyle/>
          <a:p>
            <a:pPr algn="l"/>
            <a:r>
              <a:rPr sz="800" b="1" i="0">
                <a:solidFill>
                  <a:srgbClr val="C6F135"/>
                </a:solidFill>
                <a:latin typeface="Courier New"/>
              </a:rPr>
              <a:t>Founder:</a:t>
            </a:r>
          </a:p>
        </p:txBody>
      </p:sp>
      <p:sp>
        <p:nvSpPr>
          <p:cNvPr id="14" name="TextBox 13"/>
          <p:cNvSpPr txBox="1"/>
          <p:nvPr/>
        </p:nvSpPr>
        <p:spPr>
          <a:xfrm>
            <a:off x="1115568" y="4041648"/>
            <a:ext cx="3108960" cy="256032"/>
          </a:xfrm>
          <a:prstGeom prst="rect">
            <a:avLst/>
          </a:prstGeom>
          <a:noFill/>
        </p:spPr>
        <p:txBody>
          <a:bodyPr wrap="square">
            <a:spAutoFit/>
          </a:bodyPr>
          <a:lstStyle/>
          <a:p>
            <a:pPr algn="l"/>
            <a:r>
              <a:rPr sz="900" b="0" i="0">
                <a:solidFill>
                  <a:srgbClr val="CCCCCC"/>
                </a:solidFill>
                <a:latin typeface="Calibri"/>
              </a:rPr>
              <a:t>[ Your Name &amp; Email ]</a:t>
            </a:r>
          </a:p>
        </p:txBody>
      </p:sp>
      <p:sp>
        <p:nvSpPr>
          <p:cNvPr id="15" name="TextBox 14"/>
          <p:cNvSpPr txBox="1"/>
          <p:nvPr/>
        </p:nvSpPr>
        <p:spPr>
          <a:xfrm>
            <a:off x="347472" y="4315968"/>
            <a:ext cx="731520" cy="256032"/>
          </a:xfrm>
          <a:prstGeom prst="rect">
            <a:avLst/>
          </a:prstGeom>
          <a:noFill/>
        </p:spPr>
        <p:txBody>
          <a:bodyPr wrap="square">
            <a:spAutoFit/>
          </a:bodyPr>
          <a:lstStyle/>
          <a:p>
            <a:pPr algn="l"/>
            <a:r>
              <a:rPr sz="800" b="1" i="0">
                <a:solidFill>
                  <a:srgbClr val="C6F135"/>
                </a:solidFill>
                <a:latin typeface="Courier New"/>
              </a:rPr>
              <a:t>Website:</a:t>
            </a:r>
          </a:p>
        </p:txBody>
      </p:sp>
      <p:sp>
        <p:nvSpPr>
          <p:cNvPr id="16" name="TextBox 15"/>
          <p:cNvSpPr txBox="1"/>
          <p:nvPr/>
        </p:nvSpPr>
        <p:spPr>
          <a:xfrm>
            <a:off x="1115568" y="4315968"/>
            <a:ext cx="3108960" cy="256032"/>
          </a:xfrm>
          <a:prstGeom prst="rect">
            <a:avLst/>
          </a:prstGeom>
          <a:noFill/>
        </p:spPr>
        <p:txBody>
          <a:bodyPr wrap="square">
            <a:spAutoFit/>
          </a:bodyPr>
          <a:lstStyle/>
          <a:p>
            <a:pPr algn="l"/>
            <a:r>
              <a:rPr sz="900" b="0" i="0">
                <a:solidFill>
                  <a:srgbClr val="CCCCCC"/>
                </a:solidFill>
                <a:latin typeface="Calibri"/>
              </a:rPr>
              <a:t>chipper-biscochitos-48c023.netlify.app</a:t>
            </a:r>
          </a:p>
        </p:txBody>
      </p:sp>
      <p:sp>
        <p:nvSpPr>
          <p:cNvPr id="17" name="TextBox 16"/>
          <p:cNvSpPr txBox="1"/>
          <p:nvPr/>
        </p:nvSpPr>
        <p:spPr>
          <a:xfrm>
            <a:off x="347472" y="4590288"/>
            <a:ext cx="731520" cy="256032"/>
          </a:xfrm>
          <a:prstGeom prst="rect">
            <a:avLst/>
          </a:prstGeom>
          <a:noFill/>
        </p:spPr>
        <p:txBody>
          <a:bodyPr wrap="square">
            <a:spAutoFit/>
          </a:bodyPr>
          <a:lstStyle/>
          <a:p>
            <a:pPr algn="l"/>
            <a:r>
              <a:rPr sz="800" b="1" i="0">
                <a:solidFill>
                  <a:srgbClr val="C6F135"/>
                </a:solidFill>
                <a:latin typeface="Courier New"/>
              </a:rPr>
              <a:t>Deck date:</a:t>
            </a:r>
          </a:p>
        </p:txBody>
      </p:sp>
      <p:sp>
        <p:nvSpPr>
          <p:cNvPr id="18" name="TextBox 17"/>
          <p:cNvSpPr txBox="1"/>
          <p:nvPr/>
        </p:nvSpPr>
        <p:spPr>
          <a:xfrm>
            <a:off x="1115568" y="4590288"/>
            <a:ext cx="3108960" cy="256032"/>
          </a:xfrm>
          <a:prstGeom prst="rect">
            <a:avLst/>
          </a:prstGeom>
          <a:noFill/>
        </p:spPr>
        <p:txBody>
          <a:bodyPr wrap="square">
            <a:spAutoFit/>
          </a:bodyPr>
          <a:lstStyle/>
          <a:p>
            <a:pPr algn="l"/>
            <a:r>
              <a:rPr sz="900" b="0" i="0">
                <a:solidFill>
                  <a:srgbClr val="CCCCCC"/>
                </a:solidFill>
                <a:latin typeface="Calibri"/>
              </a:rPr>
              <a:t>June 2025</a:t>
            </a:r>
          </a:p>
        </p:txBody>
      </p:sp>
      <p:sp>
        <p:nvSpPr>
          <p:cNvPr id="19" name="Rectangle 18"/>
          <p:cNvSpPr/>
          <p:nvPr/>
        </p:nvSpPr>
        <p:spPr>
          <a:xfrm>
            <a:off x="6400800" y="731520"/>
            <a:ext cx="2560320" cy="4023360"/>
          </a:xfrm>
          <a:prstGeom prst="rect">
            <a:avLst/>
          </a:prstGeom>
          <a:solidFill>
            <a:srgbClr val="101010"/>
          </a:solidFill>
          <a:ln w="63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841248"/>
            <a:ext cx="2377440" cy="219456"/>
          </a:xfrm>
          <a:prstGeom prst="rect">
            <a:avLst/>
          </a:prstGeom>
          <a:noFill/>
        </p:spPr>
        <p:txBody>
          <a:bodyPr wrap="square">
            <a:spAutoFit/>
          </a:bodyPr>
          <a:lstStyle/>
          <a:p>
            <a:pPr algn="l"/>
            <a:r>
              <a:rPr sz="700" b="1" i="0">
                <a:solidFill>
                  <a:srgbClr val="C6F135"/>
                </a:solidFill>
                <a:latin typeface="Courier New"/>
              </a:rPr>
              <a:t>BATCH 01 SUMMARY</a:t>
            </a:r>
          </a:p>
        </p:txBody>
      </p:sp>
      <p:sp>
        <p:nvSpPr>
          <p:cNvPr id="21" name="TextBox 20"/>
          <p:cNvSpPr txBox="1"/>
          <p:nvPr/>
        </p:nvSpPr>
        <p:spPr>
          <a:xfrm>
            <a:off x="6492240" y="1115568"/>
            <a:ext cx="2377440" cy="329184"/>
          </a:xfrm>
          <a:prstGeom prst="rect">
            <a:avLst/>
          </a:prstGeom>
          <a:noFill/>
        </p:spPr>
        <p:txBody>
          <a:bodyPr wrap="square">
            <a:spAutoFit/>
          </a:bodyPr>
          <a:lstStyle/>
          <a:p>
            <a:pPr algn="ctr"/>
            <a:r>
              <a:rPr sz="2200" b="1" i="0">
                <a:solidFill>
                  <a:srgbClr val="C6F135"/>
                </a:solidFill>
                <a:latin typeface="League Spartan"/>
              </a:rPr>
              <a:t>100</a:t>
            </a:r>
          </a:p>
        </p:txBody>
      </p:sp>
      <p:sp>
        <p:nvSpPr>
          <p:cNvPr id="22" name="TextBox 21"/>
          <p:cNvSpPr txBox="1"/>
          <p:nvPr/>
        </p:nvSpPr>
        <p:spPr>
          <a:xfrm>
            <a:off x="6492240" y="1444752"/>
            <a:ext cx="2377440" cy="182880"/>
          </a:xfrm>
          <a:prstGeom prst="rect">
            <a:avLst/>
          </a:prstGeom>
          <a:noFill/>
        </p:spPr>
        <p:txBody>
          <a:bodyPr wrap="square">
            <a:spAutoFit/>
          </a:bodyPr>
          <a:lstStyle/>
          <a:p>
            <a:pPr algn="ctr"/>
            <a:r>
              <a:rPr sz="650" b="1" i="0">
                <a:solidFill>
                  <a:srgbClr val="888888"/>
                </a:solidFill>
                <a:latin typeface="Courier New"/>
              </a:rPr>
              <a:t>Pieces</a:t>
            </a:r>
          </a:p>
        </p:txBody>
      </p:sp>
      <p:sp>
        <p:nvSpPr>
          <p:cNvPr id="23" name="Rectangle 22"/>
          <p:cNvSpPr/>
          <p:nvPr/>
        </p:nvSpPr>
        <p:spPr>
          <a:xfrm>
            <a:off x="6949440" y="1645920"/>
            <a:ext cx="1463040" cy="1828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1700784"/>
            <a:ext cx="2377440" cy="329184"/>
          </a:xfrm>
          <a:prstGeom prst="rect">
            <a:avLst/>
          </a:prstGeom>
          <a:noFill/>
        </p:spPr>
        <p:txBody>
          <a:bodyPr wrap="square">
            <a:spAutoFit/>
          </a:bodyPr>
          <a:lstStyle/>
          <a:p>
            <a:pPr algn="ctr"/>
            <a:r>
              <a:rPr sz="2200" b="1" i="0">
                <a:solidFill>
                  <a:srgbClr val="FFFFFF"/>
                </a:solidFill>
                <a:latin typeface="League Spartan"/>
              </a:rPr>
              <a:t>₹6,500</a:t>
            </a:r>
          </a:p>
        </p:txBody>
      </p:sp>
      <p:sp>
        <p:nvSpPr>
          <p:cNvPr id="25" name="TextBox 24"/>
          <p:cNvSpPr txBox="1"/>
          <p:nvPr/>
        </p:nvSpPr>
        <p:spPr>
          <a:xfrm>
            <a:off x="6492240" y="2029968"/>
            <a:ext cx="2377440" cy="182880"/>
          </a:xfrm>
          <a:prstGeom prst="rect">
            <a:avLst/>
          </a:prstGeom>
          <a:noFill/>
        </p:spPr>
        <p:txBody>
          <a:bodyPr wrap="square">
            <a:spAutoFit/>
          </a:bodyPr>
          <a:lstStyle/>
          <a:p>
            <a:pPr algn="ctr"/>
            <a:r>
              <a:rPr sz="650" b="1" i="0">
                <a:solidFill>
                  <a:srgbClr val="888888"/>
                </a:solidFill>
                <a:latin typeface="Courier New"/>
              </a:rPr>
              <a:t>Per Unit</a:t>
            </a:r>
          </a:p>
        </p:txBody>
      </p:sp>
      <p:sp>
        <p:nvSpPr>
          <p:cNvPr id="26" name="Rectangle 25"/>
          <p:cNvSpPr/>
          <p:nvPr/>
        </p:nvSpPr>
        <p:spPr>
          <a:xfrm>
            <a:off x="6949440" y="2231136"/>
            <a:ext cx="1463040" cy="1828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2286000"/>
            <a:ext cx="2377440" cy="329184"/>
          </a:xfrm>
          <a:prstGeom prst="rect">
            <a:avLst/>
          </a:prstGeom>
          <a:noFill/>
        </p:spPr>
        <p:txBody>
          <a:bodyPr wrap="square">
            <a:spAutoFit/>
          </a:bodyPr>
          <a:lstStyle/>
          <a:p>
            <a:pPr algn="ctr"/>
            <a:r>
              <a:rPr sz="2200" b="1" i="0">
                <a:solidFill>
                  <a:srgbClr val="FFE500"/>
                </a:solidFill>
                <a:latin typeface="League Spartan"/>
              </a:rPr>
              <a:t>57%+</a:t>
            </a:r>
          </a:p>
        </p:txBody>
      </p:sp>
      <p:sp>
        <p:nvSpPr>
          <p:cNvPr id="28" name="TextBox 27"/>
          <p:cNvSpPr txBox="1"/>
          <p:nvPr/>
        </p:nvSpPr>
        <p:spPr>
          <a:xfrm>
            <a:off x="6492240" y="2615184"/>
            <a:ext cx="2377440" cy="182880"/>
          </a:xfrm>
          <a:prstGeom prst="rect">
            <a:avLst/>
          </a:prstGeom>
          <a:noFill/>
        </p:spPr>
        <p:txBody>
          <a:bodyPr wrap="square">
            <a:spAutoFit/>
          </a:bodyPr>
          <a:lstStyle/>
          <a:p>
            <a:pPr algn="ctr"/>
            <a:r>
              <a:rPr sz="650" b="1" i="0">
                <a:solidFill>
                  <a:srgbClr val="888888"/>
                </a:solidFill>
                <a:latin typeface="Courier New"/>
              </a:rPr>
              <a:t>Gross Margin</a:t>
            </a:r>
          </a:p>
        </p:txBody>
      </p:sp>
      <p:sp>
        <p:nvSpPr>
          <p:cNvPr id="29" name="Rectangle 28"/>
          <p:cNvSpPr/>
          <p:nvPr/>
        </p:nvSpPr>
        <p:spPr>
          <a:xfrm>
            <a:off x="6949440" y="2816352"/>
            <a:ext cx="1463040" cy="1828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2871216"/>
            <a:ext cx="2377440" cy="329184"/>
          </a:xfrm>
          <a:prstGeom prst="rect">
            <a:avLst/>
          </a:prstGeom>
          <a:noFill/>
        </p:spPr>
        <p:txBody>
          <a:bodyPr wrap="square">
            <a:spAutoFit/>
          </a:bodyPr>
          <a:lstStyle/>
          <a:p>
            <a:pPr algn="ctr"/>
            <a:r>
              <a:rPr sz="2200" b="1" i="0">
                <a:solidFill>
                  <a:srgbClr val="FF2D78"/>
                </a:solidFill>
                <a:latin typeface="League Spartan"/>
              </a:rPr>
              <a:t>4</a:t>
            </a:r>
          </a:p>
        </p:txBody>
      </p:sp>
      <p:sp>
        <p:nvSpPr>
          <p:cNvPr id="31" name="TextBox 30"/>
          <p:cNvSpPr txBox="1"/>
          <p:nvPr/>
        </p:nvSpPr>
        <p:spPr>
          <a:xfrm>
            <a:off x="6492240" y="3200400"/>
            <a:ext cx="2377440" cy="182880"/>
          </a:xfrm>
          <a:prstGeom prst="rect">
            <a:avLst/>
          </a:prstGeom>
          <a:noFill/>
        </p:spPr>
        <p:txBody>
          <a:bodyPr wrap="square">
            <a:spAutoFit/>
          </a:bodyPr>
          <a:lstStyle/>
          <a:p>
            <a:pPr algn="ctr"/>
            <a:r>
              <a:rPr sz="650" b="1" i="0">
                <a:solidFill>
                  <a:srgbClr val="888888"/>
                </a:solidFill>
                <a:latin typeface="Courier New"/>
              </a:rPr>
              <a:t>Modes</a:t>
            </a:r>
          </a:p>
        </p:txBody>
      </p:sp>
      <p:sp>
        <p:nvSpPr>
          <p:cNvPr id="32" name="Rectangle 31"/>
          <p:cNvSpPr/>
          <p:nvPr/>
        </p:nvSpPr>
        <p:spPr>
          <a:xfrm>
            <a:off x="6949440" y="3401568"/>
            <a:ext cx="1463040" cy="1828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3456432"/>
            <a:ext cx="2377440" cy="329184"/>
          </a:xfrm>
          <a:prstGeom prst="rect">
            <a:avLst/>
          </a:prstGeom>
          <a:noFill/>
        </p:spPr>
        <p:txBody>
          <a:bodyPr wrap="square">
            <a:spAutoFit/>
          </a:bodyPr>
          <a:lstStyle/>
          <a:p>
            <a:pPr algn="ctr"/>
            <a:r>
              <a:rPr sz="2200" b="1" i="0">
                <a:solidFill>
                  <a:srgbClr val="FFFFFF"/>
                </a:solidFill>
                <a:latin typeface="League Spartan"/>
              </a:rPr>
              <a:t>Chennai</a:t>
            </a:r>
          </a:p>
        </p:txBody>
      </p:sp>
      <p:sp>
        <p:nvSpPr>
          <p:cNvPr id="34" name="TextBox 33"/>
          <p:cNvSpPr txBox="1"/>
          <p:nvPr/>
        </p:nvSpPr>
        <p:spPr>
          <a:xfrm>
            <a:off x="6492240" y="3785616"/>
            <a:ext cx="2377440" cy="182880"/>
          </a:xfrm>
          <a:prstGeom prst="rect">
            <a:avLst/>
          </a:prstGeom>
          <a:noFill/>
        </p:spPr>
        <p:txBody>
          <a:bodyPr wrap="square">
            <a:spAutoFit/>
          </a:bodyPr>
          <a:lstStyle/>
          <a:p>
            <a:pPr algn="ctr"/>
            <a:r>
              <a:rPr sz="650" b="1" i="0">
                <a:solidFill>
                  <a:srgbClr val="888888"/>
                </a:solidFill>
                <a:latin typeface="Courier New"/>
              </a:rPr>
              <a:t>Made In</a:t>
            </a:r>
          </a:p>
        </p:txBody>
      </p:sp>
      <p:sp>
        <p:nvSpPr>
          <p:cNvPr id="35" name="Rectangle 34"/>
          <p:cNvSpPr/>
          <p:nvPr/>
        </p:nvSpPr>
        <p:spPr>
          <a:xfrm>
            <a:off x="6949440" y="3986784"/>
            <a:ext cx="1463040" cy="1828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4041648"/>
            <a:ext cx="2377440" cy="329184"/>
          </a:xfrm>
          <a:prstGeom prst="rect">
            <a:avLst/>
          </a:prstGeom>
          <a:noFill/>
        </p:spPr>
        <p:txBody>
          <a:bodyPr wrap="square">
            <a:spAutoFit/>
          </a:bodyPr>
          <a:lstStyle/>
          <a:p>
            <a:pPr algn="ctr"/>
            <a:r>
              <a:rPr sz="2200" b="1" i="0">
                <a:solidFill>
                  <a:srgbClr val="C6F135"/>
                </a:solidFill>
                <a:latin typeface="League Spartan"/>
              </a:rPr>
              <a:t>2025</a:t>
            </a:r>
          </a:p>
        </p:txBody>
      </p:sp>
      <p:sp>
        <p:nvSpPr>
          <p:cNvPr id="37" name="TextBox 36"/>
          <p:cNvSpPr txBox="1"/>
          <p:nvPr/>
        </p:nvSpPr>
        <p:spPr>
          <a:xfrm>
            <a:off x="6492240" y="4370832"/>
            <a:ext cx="2377440" cy="182880"/>
          </a:xfrm>
          <a:prstGeom prst="rect">
            <a:avLst/>
          </a:prstGeom>
          <a:noFill/>
        </p:spPr>
        <p:txBody>
          <a:bodyPr wrap="square">
            <a:spAutoFit/>
          </a:bodyPr>
          <a:lstStyle/>
          <a:p>
            <a:pPr algn="ctr"/>
            <a:r>
              <a:rPr sz="650" b="1" i="0">
                <a:solidFill>
                  <a:srgbClr val="888888"/>
                </a:solidFill>
                <a:latin typeface="Courier New"/>
              </a:rPr>
              <a:t>Launch Year</a:t>
            </a:r>
          </a:p>
        </p:txBody>
      </p:sp>
      <p:sp>
        <p:nvSpPr>
          <p:cNvPr id="38" name="Rectangle 37"/>
          <p:cNvSpPr/>
          <p:nvPr/>
        </p:nvSpPr>
        <p:spPr>
          <a:xfrm>
            <a:off x="6949440" y="4572000"/>
            <a:ext cx="1463040" cy="1828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21040" y="4773168"/>
            <a:ext cx="731520" cy="274320"/>
          </a:xfrm>
          <a:prstGeom prst="rect">
            <a:avLst/>
          </a:prstGeom>
          <a:noFill/>
        </p:spPr>
        <p:txBody>
          <a:bodyPr wrap="square">
            <a:spAutoFit/>
          </a:bodyPr>
          <a:lstStyle/>
          <a:p>
            <a:pPr algn="r"/>
            <a:r>
              <a:rPr sz="800" b="1" i="0">
                <a:solidFill>
                  <a:srgbClr val="C8A84B"/>
                </a:solidFill>
                <a:latin typeface="Courier New"/>
              </a:rPr>
              <a:t>ivi</a:t>
            </a:r>
          </a:p>
        </p:txBody>
      </p:sp>
      <p:sp>
        <p:nvSpPr>
          <p:cNvPr id="40" name="TextBox 39"/>
          <p:cNvSpPr txBox="1"/>
          <p:nvPr/>
        </p:nvSpPr>
        <p:spPr>
          <a:xfrm>
            <a:off x="164592" y="4791456"/>
            <a:ext cx="914400" cy="256032"/>
          </a:xfrm>
          <a:prstGeom prst="rect">
            <a:avLst/>
          </a:prstGeom>
          <a:noFill/>
        </p:spPr>
        <p:txBody>
          <a:bodyPr wrap="square">
            <a:spAutoFit/>
          </a:bodyPr>
          <a:lstStyle/>
          <a:p>
            <a:pPr algn="l"/>
            <a:r>
              <a:rPr sz="700" b="1" i="0">
                <a:solidFill>
                  <a:srgbClr val="888888"/>
                </a:solidFill>
                <a:latin typeface="Courier New"/>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