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0" y="0"/>
            <a:ext cx="3474720" cy="310896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0" y="0"/>
            <a:ext cx="3474720" cy="3108960"/>
          </a:xfrm>
          <a:prstGeom prst="rect">
            <a:avLst/>
          </a:prstGeom>
          <a:solidFill>
            <a:srgbClr val="02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457200" cy="5138928"/>
          </a:xfrm>
          <a:prstGeom prst="rect">
            <a:avLst/>
          </a:prstGeom>
          <a:solidFill>
            <a:srgbClr val="142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05856" y="0"/>
            <a:ext cx="54864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" y="256032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0" b="1" i="0">
                <a:solidFill>
                  <a:srgbClr val="C6F135"/>
                </a:solidFill>
                <a:latin typeface="League Spartan"/>
              </a:rPr>
              <a:t>NUUL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" y="193852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ourier New"/>
              </a:rPr>
              <a:t>NotTheBestPlaceToBuyStuff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" y="230428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League Spartan"/>
              </a:rPr>
              <a:t>One garment. Four modes. Nothing like it exists.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" y="2743200"/>
            <a:ext cx="3474720" cy="36576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" y="2816352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B"/>
                </a:solidFill>
                <a:latin typeface="Courier New"/>
              </a:rPr>
              <a:t>Cohort 5  |  Application Pitch Deck</a:t>
            </a:r>
          </a:p>
          <a:p>
            <a:pPr algn="l"/>
          </a:p>
          <a:p>
            <a:pPr algn="l"/>
            <a:r>
              <a:rPr sz="950" b="0">
                <a:solidFill>
                  <a:srgbClr val="AAAAAA"/>
                </a:solidFill>
                <a:latin typeface="Courier New"/>
              </a:rPr>
              <a:t>Founder:  [ Your Name ]</a:t>
            </a:r>
          </a:p>
          <a:p>
            <a:pPr algn="l"/>
            <a:r>
              <a:rPr sz="950" b="0">
                <a:solidFill>
                  <a:srgbClr val="AAAAAA"/>
                </a:solidFill>
                <a:latin typeface="Courier New"/>
              </a:rPr>
              <a:t>Domain:   D2C / Fashion-Tech / Wearable Systems</a:t>
            </a:r>
          </a:p>
          <a:p>
            <a:pPr algn="l"/>
            <a:r>
              <a:rPr sz="950" b="0">
                <a:solidFill>
                  <a:srgbClr val="AAAAAA"/>
                </a:solidFill>
                <a:latin typeface="Courier New"/>
              </a:rPr>
              <a:t>Stage:    Prototype / Pre-Revenue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League Spartan"/>
              </a:rPr>
              <a:t>BATCH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8736" y="6766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ourier New"/>
              </a:rPr>
              <a:t>— Limited Run Drop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8736" y="950976"/>
            <a:ext cx="301752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88736" y="1042415"/>
            <a:ext cx="1444752" cy="932688"/>
          </a:xfrm>
          <a:prstGeom prst="rect">
            <a:avLst/>
          </a:prstGeom>
          <a:solidFill>
            <a:srgbClr val="1A2606"/>
          </a:solidFill>
          <a:ln w="9525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8736" y="1133855"/>
            <a:ext cx="1444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6F135"/>
                </a:solidFill>
                <a:latin typeface="League Spartan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1700783"/>
            <a:ext cx="1444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777777"/>
                </a:solidFill>
                <a:latin typeface="Courier New"/>
              </a:rPr>
              <a:t>PIECES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24928" y="1042415"/>
            <a:ext cx="1444752" cy="932688"/>
          </a:xfrm>
          <a:prstGeom prst="rect">
            <a:avLst/>
          </a:prstGeom>
          <a:solidFill>
            <a:srgbClr val="22061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8" y="1133855"/>
            <a:ext cx="1444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League Spartan"/>
              </a:rPr>
              <a:t>₹6,500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1700783"/>
            <a:ext cx="1444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777777"/>
                </a:solidFill>
                <a:latin typeface="Courier New"/>
              </a:rPr>
              <a:t>SELL PRICE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88736" y="2066543"/>
            <a:ext cx="1444752" cy="932688"/>
          </a:xfrm>
          <a:prstGeom prst="rect">
            <a:avLst/>
          </a:prstGeom>
          <a:solidFill>
            <a:srgbClr val="221E00"/>
          </a:solidFill>
          <a:ln w="9525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2157983"/>
            <a:ext cx="1444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E500"/>
                </a:solidFill>
                <a:latin typeface="League Spartan"/>
              </a:rPr>
              <a:t>57%+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8736" y="2724911"/>
            <a:ext cx="1444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777777"/>
                </a:solidFill>
                <a:latin typeface="Courier New"/>
              </a:rPr>
              <a:t>GROSS MARGIN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4928" y="2066543"/>
            <a:ext cx="1444752" cy="932688"/>
          </a:xfrm>
          <a:prstGeom prst="rect">
            <a:avLst/>
          </a:prstGeom>
          <a:solidFill>
            <a:srgbClr val="220610"/>
          </a:solidFill>
          <a:ln w="9525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4928" y="2157983"/>
            <a:ext cx="1444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2D78"/>
                </a:solidFill>
                <a:latin typeface="League Spartan"/>
              </a:rPr>
              <a:t>4 Modes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2724911"/>
            <a:ext cx="1444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777777"/>
                </a:solidFill>
                <a:latin typeface="Courier New"/>
              </a:rPr>
              <a:t>ONE GARMENT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91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A84B"/>
                </a:solidFill>
                <a:latin typeface="Courier New"/>
              </a:rPr>
              <a:t>ivi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" y="5084064"/>
            <a:ext cx="907084" cy="54864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0236" y="5084064"/>
            <a:ext cx="8163763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" y="4809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77777"/>
                </a:solidFill>
                <a:latin typeface="Courier New"/>
              </a:rPr>
              <a:t>1 /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09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A84B"/>
                </a:solidFill>
                <a:latin typeface="Courier New"/>
              </a:rPr>
              <a:t>ivi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8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2286000" cy="5138928"/>
          </a:xfrm>
          <a:prstGeom prst="rect">
            <a:avLst/>
          </a:prstGeom>
          <a:solidFill>
            <a:srgbClr val="22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4864" cy="5138928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5138928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09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2D78"/>
                </a:solidFill>
                <a:latin typeface="Courier New"/>
              </a:rPr>
              <a:t>SLIDE 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" y="5084064"/>
            <a:ext cx="1814169" cy="54864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87321" y="5084064"/>
            <a:ext cx="7256678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4809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77777"/>
                </a:solidFill>
                <a:latin typeface="Courier New"/>
              </a:rPr>
              <a:t>2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809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A84B"/>
                </a:solidFill>
                <a:latin typeface="Courier New"/>
              </a:rPr>
              <a:t>ivi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" y="109728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2D78"/>
                </a:solidFill>
                <a:latin typeface="League Spartan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" y="5120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ourier New"/>
              </a:rPr>
              <a:t>What pain point are you solving, and who feels it most?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" y="822960"/>
            <a:ext cx="6547104" cy="566928"/>
          </a:xfrm>
          <a:prstGeom prst="rect">
            <a:avLst/>
          </a:prstGeom>
          <a:solidFill>
            <a:srgbClr val="220610"/>
          </a:solidFill>
          <a:ln w="1016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914400"/>
            <a:ext cx="6309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eague Spartan"/>
              </a:rPr>
              <a:t>Fashion-forward Indian consumers spend ₹8,000+ on four separate items — just not this smartly.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" y="1481328"/>
            <a:ext cx="1463040" cy="749808"/>
          </a:xfrm>
          <a:prstGeom prst="rect">
            <a:avLst/>
          </a:prstGeom>
          <a:solidFill>
            <a:srgbClr val="1C1C1C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" y="1536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6F135"/>
                </a:solidFill>
                <a:latin typeface="League Spartan"/>
              </a:rPr>
              <a:t>₹2–3K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" y="1883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77777"/>
                </a:solidFill>
                <a:latin typeface="Courier New"/>
              </a:rPr>
              <a:t>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1481328"/>
            <a:ext cx="1463040" cy="749808"/>
          </a:xfrm>
          <a:prstGeom prst="rect">
            <a:avLst/>
          </a:prstGeom>
          <a:solidFill>
            <a:srgbClr val="1C1C1C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1536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E500"/>
                </a:solidFill>
                <a:latin typeface="League Spartan"/>
              </a:rPr>
              <a:t>₹1–2K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1883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77777"/>
                </a:solidFill>
                <a:latin typeface="Courier New"/>
              </a:rPr>
              <a:t>Wallet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36976" y="1481328"/>
            <a:ext cx="1463040" cy="749808"/>
          </a:xfrm>
          <a:prstGeom prst="rect">
            <a:avLst/>
          </a:prstGeom>
          <a:solidFill>
            <a:srgbClr val="1C1C1C"/>
          </a:solidFill>
          <a:ln w="635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6976" y="1536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2D78"/>
                </a:solidFill>
                <a:latin typeface="League Spartan"/>
              </a:rPr>
              <a:t>₹1–2K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1883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77777"/>
                </a:solidFill>
                <a:latin typeface="Courier New"/>
              </a:rPr>
              <a:t>T-Shirt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36592" y="1481328"/>
            <a:ext cx="1463040" cy="749808"/>
          </a:xfrm>
          <a:prstGeom prst="rect">
            <a:avLst/>
          </a:prstGeom>
          <a:solidFill>
            <a:srgbClr val="1C1C1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1536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League Spartan"/>
              </a:rPr>
              <a:t>₹1–2K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1883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77777"/>
                </a:solidFill>
                <a:latin typeface="Courier New"/>
              </a:rPr>
              <a:t>Utility Bag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6276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6F135"/>
                </a:solidFill>
                <a:latin typeface="League Spartan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55664" y="1481328"/>
            <a:ext cx="329184" cy="749808"/>
          </a:xfrm>
          <a:prstGeom prst="rect">
            <a:avLst/>
          </a:prstGeom>
          <a:solidFill>
            <a:srgbClr val="1A2606"/>
          </a:solidFill>
          <a:ln w="1524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1536192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6F135"/>
                </a:solidFill>
                <a:latin typeface="Courier New"/>
              </a:rPr>
              <a:t>₹6,500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188366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C6F135"/>
                </a:solidFill>
                <a:latin typeface="Courier New"/>
              </a:rPr>
              <a:t>NUUL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" y="2340864"/>
            <a:ext cx="2157984" cy="1316736"/>
          </a:xfrm>
          <a:prstGeom prst="rect">
            <a:avLst/>
          </a:prstGeom>
          <a:solidFill>
            <a:srgbClr val="1C1C1C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7744" y="2340864"/>
            <a:ext cx="45720" cy="1316736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2432304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👤  WHO FEELS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2688336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CCCCCC"/>
                </a:solidFill>
                <a:latin typeface="Calibri"/>
              </a:rPr>
              <a:t>Urban Indian consumer, 18–30, fashion-forward, style-conscious. Buys 4 separate items with zero integration between them.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2340864"/>
            <a:ext cx="2157984" cy="1316736"/>
          </a:xfrm>
          <a:prstGeom prst="rect">
            <a:avLst/>
          </a:prstGeom>
          <a:solidFill>
            <a:srgbClr val="1C1C1C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68880" y="2340864"/>
            <a:ext cx="45720" cy="131673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78608" y="2432304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📊  HOW BIG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78608" y="2688336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CCCCCC"/>
                </a:solidFill>
                <a:latin typeface="Calibri"/>
              </a:rPr>
              <a:t>₹5K–9K spent per person on disconnected items. India premium apparel market: ₹2.5L Cr+ growing 12% YoY.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0016" y="2340864"/>
            <a:ext cx="2157984" cy="1316736"/>
          </a:xfrm>
          <a:prstGeom prst="rect">
            <a:avLst/>
          </a:prstGeom>
          <a:solidFill>
            <a:srgbClr val="1C1C1C"/>
          </a:solidFill>
          <a:ln w="635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0016" y="2340864"/>
            <a:ext cx="45720" cy="131673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9744" y="2432304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2D78"/>
                </a:solidFill>
                <a:latin typeface="Courier New"/>
              </a:rPr>
              <a:t>🔍  HOW DISCOVERED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744" y="2688336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CCCCCC"/>
                </a:solidFill>
                <a:latin typeface="Calibri"/>
              </a:rPr>
              <a:t>Built from personal frustration. No Indian brand combined thermochromic aesthetics + modular carry + accessory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8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38928"/>
          </a:xfrm>
          <a:prstGeom prst="rect">
            <a:avLst/>
          </a:prstGeom>
          <a:solidFill>
            <a:srgbClr val="1A2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19856" y="0"/>
            <a:ext cx="54864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09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C6F135"/>
                </a:solidFill>
                <a:latin typeface="Courier New"/>
              </a:rPr>
              <a:t>SLIDE 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" y="5084064"/>
            <a:ext cx="2721254" cy="54864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94406" y="5084064"/>
            <a:ext cx="6349593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4809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77777"/>
                </a:solidFill>
                <a:latin typeface="Courier New"/>
              </a:rPr>
              <a:t>3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809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A84B"/>
                </a:solidFill>
                <a:latin typeface="Courier New"/>
              </a:rPr>
              <a:t>ivi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" y="109728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6F135"/>
                </a:solidFill>
                <a:latin typeface="League Spartan"/>
              </a:rPr>
              <a:t>YOUR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" y="5120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ourier New"/>
              </a:rPr>
              <a:t>What are you building, and how does it solve the problem?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" y="822960"/>
            <a:ext cx="8668512" cy="493776"/>
          </a:xfrm>
          <a:prstGeom prst="rect">
            <a:avLst/>
          </a:prstGeom>
          <a:solidFill>
            <a:srgbClr val="1A2606"/>
          </a:solidFill>
          <a:ln w="1016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896112"/>
            <a:ext cx="8485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League Spartan"/>
              </a:rPr>
              <a:t>NUUL 01 — a single modular garment that is T-shirt, carry bag, wallet, and watch carrier. Simultaneously.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" y="1426464"/>
            <a:ext cx="2816352" cy="2176272"/>
          </a:xfrm>
          <a:prstGeom prst="rect">
            <a:avLst/>
          </a:prstGeom>
          <a:solidFill>
            <a:srgbClr val="1C1C1C"/>
          </a:solidFill>
          <a:ln w="762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7744" y="1426464"/>
            <a:ext cx="2816352" cy="457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151790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6F135"/>
                </a:solidFill>
                <a:latin typeface="League Spartan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1572768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6F135"/>
                </a:solidFill>
                <a:latin typeface="League Spartan"/>
              </a:rPr>
              <a:t>WEAR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1938528"/>
            <a:ext cx="261518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Put it on. T-shirt with built-in watch pocket, front wallet patch (NUUL embroidered, hides a 2-card wallet), and a structured back panel with ghost-print design underneath.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45536" y="1426464"/>
            <a:ext cx="2816352" cy="2176272"/>
          </a:xfrm>
          <a:prstGeom prst="rect">
            <a:avLst/>
          </a:prstGeom>
          <a:solidFill>
            <a:srgbClr val="1C1C1C"/>
          </a:solidFill>
          <a:ln w="762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45536" y="1426464"/>
            <a:ext cx="2816352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55264" y="151790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E500"/>
                </a:solidFill>
                <a:latin typeface="League Spartan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3904" y="1572768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E500"/>
                </a:solidFill>
                <a:latin typeface="League Spartan"/>
              </a:rPr>
              <a:t>STEP OUTSIDE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5264" y="1938528"/>
            <a:ext cx="261518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Thermochromic coating reacts to body heat + sunlight at 31°C. Hidden design reveals front and back simultaneously. Customer discovers it post-purchase — no explanation needed.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1426464"/>
            <a:ext cx="2816352" cy="2176272"/>
          </a:xfrm>
          <a:prstGeom prst="rect">
            <a:avLst/>
          </a:prstGeom>
          <a:solidFill>
            <a:srgbClr val="1C1C1C"/>
          </a:solidFill>
          <a:ln w="762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53328" y="1426464"/>
            <a:ext cx="2816352" cy="457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151790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2D78"/>
                </a:solidFill>
                <a:latin typeface="League Spartan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6" y="1572768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78"/>
                </a:solidFill>
                <a:latin typeface="League Spartan"/>
              </a:rPr>
              <a:t>DETACH &amp; CARRY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6" y="1938528"/>
            <a:ext cx="261518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Unsnap the back panel. One fold. Gussets expand. POM snaps close the bag. 40cm × 23cm × 3cm carry bag — watch pocket built in. Zero extra hardware.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" y="3730752"/>
            <a:ext cx="8668512" cy="566928"/>
          </a:xfrm>
          <a:prstGeom prst="rect">
            <a:avLst/>
          </a:prstGeom>
          <a:solidFill>
            <a:srgbClr val="12121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3785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THE 4 MODES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0784" y="37856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6F135"/>
                </a:solidFill>
                <a:latin typeface="League Spartan"/>
              </a:rPr>
              <a:t>WEAR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11296" y="37856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E500"/>
                </a:solidFill>
                <a:latin typeface="League Spartan"/>
              </a:rPr>
              <a:t>BAG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1808" y="37856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2D78"/>
                </a:solidFill>
                <a:latin typeface="League Spartan"/>
              </a:rPr>
              <a:t>ART 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7856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League Spartan"/>
              </a:rPr>
              <a:t>GHOST PRINT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200400" cy="5138928"/>
          </a:xfrm>
          <a:prstGeom prst="rect">
            <a:avLst/>
          </a:prstGeom>
          <a:solidFill>
            <a:srgbClr val="2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54864" cy="5138928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5138928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09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E500"/>
                </a:solidFill>
                <a:latin typeface="Courier New"/>
              </a:rPr>
              <a:t>SLIDE 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" y="5084064"/>
            <a:ext cx="3628339" cy="54864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1491" y="5084064"/>
            <a:ext cx="5442508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4809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77777"/>
                </a:solidFill>
                <a:latin typeface="Courier New"/>
              </a:rPr>
              <a:t>4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809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A84B"/>
                </a:solidFill>
                <a:latin typeface="Courier New"/>
              </a:rPr>
              <a:t>ivi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" y="109728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E500"/>
                </a:solidFill>
                <a:latin typeface="League Spartan"/>
              </a:rPr>
              <a:t>MARKET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" y="5120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ourier New"/>
              </a:rPr>
              <a:t>How large is the market you are going after?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" y="822960"/>
            <a:ext cx="1883664" cy="1572768"/>
          </a:xfrm>
          <a:prstGeom prst="rect">
            <a:avLst/>
          </a:prstGeom>
          <a:solidFill>
            <a:srgbClr val="1C1C1C"/>
          </a:solidFill>
          <a:ln w="762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4" y="822960"/>
            <a:ext cx="1883664" cy="457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914400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6F135"/>
                </a:solidFill>
                <a:latin typeface="League Spartan"/>
              </a:rPr>
              <a:t>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13350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League Spartan"/>
              </a:rPr>
              <a:t>₹2.5L Cr+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1719072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alibri"/>
              </a:rPr>
              <a:t>India Premium Apparel Market — growing 12% YoY (Redseer 2024)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822960"/>
            <a:ext cx="1883664" cy="1572768"/>
          </a:xfrm>
          <a:prstGeom prst="rect">
            <a:avLst/>
          </a:prstGeom>
          <a:solidFill>
            <a:srgbClr val="1C1C1C"/>
          </a:solidFill>
          <a:ln w="762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822960"/>
            <a:ext cx="1883664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914400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E500"/>
                </a:solidFill>
                <a:latin typeface="League Spartan"/>
              </a:rPr>
              <a:t>SAM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13350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League Spartan"/>
              </a:rPr>
              <a:t>₹15,000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1719072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alibri"/>
              </a:rPr>
              <a:t>Urban streetwear &amp; utility fashion, 18–30, top-8 metros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51376" y="822960"/>
            <a:ext cx="1883664" cy="1572768"/>
          </a:xfrm>
          <a:prstGeom prst="rect">
            <a:avLst/>
          </a:prstGeom>
          <a:solidFill>
            <a:srgbClr val="1C1C1C"/>
          </a:solidFill>
          <a:ln w="762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51376" y="822960"/>
            <a:ext cx="1883664" cy="457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4" y="914400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2D78"/>
                </a:solidFill>
                <a:latin typeface="League Spartan"/>
              </a:rPr>
              <a:t>SOM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1104" y="13350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League Spartan"/>
              </a:rPr>
              <a:t>₹65L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1104" y="1719072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alibri"/>
              </a:rPr>
              <a:t>Batch 01: 100 units × ₹6,500. Scale via limited drops each season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" y="2505456"/>
            <a:ext cx="5650992" cy="292608"/>
          </a:xfrm>
          <a:prstGeom prst="rect">
            <a:avLst/>
          </a:prstGeom>
          <a:solidFill>
            <a:srgbClr val="221E00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56032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E500"/>
                </a:solidFill>
                <a:latin typeface="Courier New"/>
              </a:rPr>
              <a:t>WHY NOW?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" y="2907791"/>
            <a:ext cx="54864" cy="2743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294436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Gen-Z demands utility AND aesthetics in a single product — not a compromise.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" y="3255263"/>
            <a:ext cx="54864" cy="2743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329183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No Indian brand has shipped thermochromic + modular carry + accessory integration.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" y="3602735"/>
            <a:ext cx="54864" cy="2743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63931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India streetwear is exploding — Batch 01 enters a gap, not a crowd.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" y="3950207"/>
            <a:ext cx="54864" cy="2743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98678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"Make in India" premium moment — Chennai manufacture gives full supply chain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solidFill>
            <a:srgbClr val="1A2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9144000" cy="457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09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C6F135"/>
                </a:solidFill>
                <a:latin typeface="Courier New"/>
              </a:rPr>
              <a:t>SLIDE 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" y="5084064"/>
            <a:ext cx="4535424" cy="54864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08576" y="5084064"/>
            <a:ext cx="4535424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4809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77777"/>
                </a:solidFill>
                <a:latin typeface="Courier New"/>
              </a:rPr>
              <a:t>5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809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A84B"/>
                </a:solidFill>
                <a:latin typeface="Courier New"/>
              </a:rPr>
              <a:t>ivi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" y="109728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6F135"/>
                </a:solidFill>
                <a:latin typeface="League Spartan"/>
              </a:rPr>
              <a:t>TRACTION &amp;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" y="5120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ourier New"/>
              </a:rPr>
              <a:t>What have you built, tested, or sold so far?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" y="822960"/>
            <a:ext cx="1682496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" y="896112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Idea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93392" y="822960"/>
            <a:ext cx="1682496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3392" y="896112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Research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822960"/>
            <a:ext cx="1682496" cy="457200"/>
          </a:xfrm>
          <a:prstGeom prst="rect">
            <a:avLst/>
          </a:prstGeom>
          <a:solidFill>
            <a:srgbClr val="1A2606"/>
          </a:solidFill>
          <a:ln w="190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896112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F135"/>
                </a:solidFill>
                <a:latin typeface="League Spartan"/>
              </a:rPr>
              <a:t>Prototype/MVP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822960"/>
            <a:ext cx="1682496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4688" y="896112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Pilot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0336" y="822960"/>
            <a:ext cx="1682496" cy="457200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896112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Early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1316736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6F135"/>
                </a:solidFill>
                <a:latin typeface="Courier New"/>
              </a:rPr>
              <a:t>▲ Current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" y="1645920"/>
            <a:ext cx="2706624" cy="822960"/>
          </a:xfrm>
          <a:prstGeom prst="rect">
            <a:avLst/>
          </a:prstGeom>
          <a:solidFill>
            <a:srgbClr val="1A2606"/>
          </a:solidFill>
          <a:ln w="9525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" y="1737360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6F135"/>
                </a:solidFill>
                <a:latin typeface="League Spartan"/>
              </a:rPr>
              <a:t>Pre-Revenue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" y="2194560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777777"/>
                </a:solidFill>
                <a:latin typeface="Courier New"/>
              </a:rPr>
              <a:t>REVENUE / GMV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645920"/>
            <a:ext cx="2706624" cy="822960"/>
          </a:xfrm>
          <a:prstGeom prst="rect">
            <a:avLst/>
          </a:prstGeom>
          <a:solidFill>
            <a:srgbClr val="221E00"/>
          </a:solidFill>
          <a:ln w="9525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1737360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E500"/>
                </a:solidFill>
                <a:latin typeface="League Spartan"/>
              </a:rPr>
              <a:t>10 Spots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2194560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777777"/>
                </a:solidFill>
                <a:latin typeface="Courier New"/>
              </a:rPr>
              <a:t>₹1K DEPOSIT PRE-BOOK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97296" y="1645920"/>
            <a:ext cx="2706624" cy="822960"/>
          </a:xfrm>
          <a:prstGeom prst="rect">
            <a:avLst/>
          </a:prstGeom>
          <a:solidFill>
            <a:srgbClr val="220610"/>
          </a:solidFill>
          <a:ln w="9525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97296" y="1737360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2D78"/>
                </a:solidFill>
                <a:latin typeface="League Spartan"/>
              </a:rPr>
              <a:t>4 / 4 Built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7296" y="2194560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777777"/>
                </a:solidFill>
                <a:latin typeface="Courier New"/>
              </a:rPr>
              <a:t>MODULES COMPLETE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" y="2615184"/>
            <a:ext cx="2706624" cy="1225296"/>
          </a:xfrm>
          <a:prstGeom prst="rect">
            <a:avLst/>
          </a:prstGeom>
          <a:solidFill>
            <a:srgbClr val="1C1C1C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7744" y="2615184"/>
            <a:ext cx="45720" cy="1225296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270662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✅  WHAT WE BUILT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2962656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CCCCCC"/>
                </a:solidFill>
                <a:latin typeface="Calibri"/>
              </a:rPr>
              <a:t>Working prototype across all 4 modules: thermochromic T-shirt, fold-to-bag back panel, front wallet patch, embedded 38mm watch pocket.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2615184"/>
            <a:ext cx="2706624" cy="1225296"/>
          </a:xfrm>
          <a:prstGeom prst="rect">
            <a:avLst/>
          </a:prstGeom>
          <a:solidFill>
            <a:srgbClr val="1C1C1C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17520" y="2615184"/>
            <a:ext cx="45720" cy="122529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27248" y="270662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💡  WHAT WE LEARNED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27248" y="2962656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CCCCCC"/>
                </a:solidFill>
                <a:latin typeface="Calibri"/>
              </a:rPr>
              <a:t>Thermochromic activation confirmed at 31°C. Fold-to-bag mechanism reliable. Magnetic + POM hybrid attachment holds through repeated cycles.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97296" y="2615184"/>
            <a:ext cx="2706624" cy="1225296"/>
          </a:xfrm>
          <a:prstGeom prst="rect">
            <a:avLst/>
          </a:prstGeom>
          <a:solidFill>
            <a:srgbClr val="1C1C1C"/>
          </a:solidFill>
          <a:ln w="635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97296" y="2615184"/>
            <a:ext cx="45720" cy="122529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07024" y="270662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2D78"/>
                </a:solidFill>
                <a:latin typeface="Courier New"/>
              </a:rPr>
              <a:t>🔄  WHAT WE CHANGED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7024" y="2962656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CCCCCC"/>
                </a:solidFill>
                <a:latin typeface="Calibri"/>
              </a:rPr>
              <a:t>Switched hook-and-loop to POM snap + neodymium hybrid for cleaner open/close. Added finger-release flaps that look like design elements.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" y="3913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PRE-BOOKING MODEL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" y="4187952"/>
            <a:ext cx="2011680" cy="457200"/>
          </a:xfrm>
          <a:prstGeom prst="rect">
            <a:avLst/>
          </a:prstGeom>
          <a:solidFill>
            <a:srgbClr val="1C1C1C"/>
          </a:solidFill>
          <a:ln w="63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" y="420624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77777"/>
                </a:solidFill>
                <a:latin typeface="League Spartan"/>
              </a:rPr>
              <a:t>T-3W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420624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Microsite live
+ email capture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22575" y="4187952"/>
            <a:ext cx="2011680" cy="457200"/>
          </a:xfrm>
          <a:prstGeom prst="rect">
            <a:avLst/>
          </a:prstGeom>
          <a:solidFill>
            <a:srgbClr val="1C1C1C"/>
          </a:solidFill>
          <a:ln w="63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22575" y="420624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77777"/>
                </a:solidFill>
                <a:latin typeface="League Spartan"/>
              </a:rPr>
              <a:t>T-2W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80943" y="420624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First signal:
thermochromic clip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7406" y="4187952"/>
            <a:ext cx="2011680" cy="457200"/>
          </a:xfrm>
          <a:prstGeom prst="rect">
            <a:avLst/>
          </a:prstGeom>
          <a:solidFill>
            <a:srgbClr val="1C1C1C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7406" y="420624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6F135"/>
                </a:solidFill>
                <a:latin typeface="League Spartan"/>
              </a:rPr>
              <a:t>T-1W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65774" y="420624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Pre-booking OPENS
10 spots · ₹1,000 deposit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37" y="4187952"/>
            <a:ext cx="2011680" cy="457200"/>
          </a:xfrm>
          <a:prstGeom prst="rect">
            <a:avLst/>
          </a:prstGeom>
          <a:solidFill>
            <a:srgbClr val="1C1C1C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37" y="420624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E500"/>
                </a:solidFill>
                <a:latin typeface="League Spartan"/>
              </a:rPr>
              <a:t>DROP
DAY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50605" y="420624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Pay ₹5,500 balance
90 units go 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4114800" cy="5138928"/>
          </a:xfrm>
          <a:prstGeom prst="rect">
            <a:avLst/>
          </a:prstGeom>
          <a:solidFill>
            <a:srgbClr val="1A2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54864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09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C6F135"/>
                </a:solidFill>
                <a:latin typeface="Courier New"/>
              </a:rPr>
              <a:t>SLIDE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" y="5084064"/>
            <a:ext cx="5442508" cy="54864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15660" y="5084064"/>
            <a:ext cx="3628339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4809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77777"/>
                </a:solidFill>
                <a:latin typeface="Courier New"/>
              </a:rPr>
              <a:t>6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809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A84B"/>
                </a:solidFill>
                <a:latin typeface="Courier New"/>
              </a:rPr>
              <a:t>ivi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" y="109728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6F135"/>
                </a:solidFill>
                <a:latin typeface="League Spartan"/>
              </a:rPr>
              <a:t>BUSINESS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" y="5120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ourier New"/>
              </a:rPr>
              <a:t>How do you make money? Is it sustainable?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" y="822960"/>
            <a:ext cx="4645152" cy="969264"/>
          </a:xfrm>
          <a:prstGeom prst="rect">
            <a:avLst/>
          </a:prstGeom>
          <a:solidFill>
            <a:srgbClr val="1C1C1C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4" y="822960"/>
            <a:ext cx="45720" cy="969264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914400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💰  REVENUE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1170432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CCCCCC"/>
                </a:solidFill>
                <a:latin typeface="Calibri"/>
              </a:rPr>
              <a:t>D2C limited drops. 100 pieces. 10 pre-book spots open at T-1W — ₹1,000 deposit secures your unit. Balance of ₹5,500 due on drop day. Remaining 90 units go live on drop day. No restock unless the batch earns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" y="1865375"/>
            <a:ext cx="4645152" cy="859536"/>
          </a:xfrm>
          <a:prstGeom prst="rect">
            <a:avLst/>
          </a:prstGeom>
          <a:solidFill>
            <a:srgbClr val="1C1C1C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" y="1865375"/>
            <a:ext cx="45720" cy="85953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1956815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🎯  WHO PAYS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221284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CCCCCC"/>
                </a:solidFill>
                <a:latin typeface="Calibri"/>
              </a:rPr>
              <a:t>Fashion-forward Indian consumer, 18–30, urban, style-conscious. Values exclusivity. Direct-to-consumer — no retail intermediary, full margin stays in-brand.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" y="2816352"/>
            <a:ext cx="4645152" cy="292608"/>
          </a:xfrm>
          <a:prstGeom prst="rect">
            <a:avLst/>
          </a:prstGeom>
          <a:solidFill>
            <a:srgbClr val="121212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87121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UNIT ECONOMICS — BATCH 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" y="3182112"/>
            <a:ext cx="4645152" cy="347472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2369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  <a:latin typeface="Calibri"/>
              </a:rPr>
              <a:t>Production Cost / 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6976" y="323697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League Spartan"/>
              </a:rPr>
              <a:t>₹2,500–₹3,000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" y="3547872"/>
            <a:ext cx="4645152" cy="347472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36027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  <a:latin typeface="Calibri"/>
              </a:rPr>
              <a:t>Sell Price / Unit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6" y="360273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League Spartan"/>
              </a:rPr>
              <a:t>₹6,500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" y="3913632"/>
            <a:ext cx="4645152" cy="347472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96849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  <a:latin typeface="Calibri"/>
              </a:rPr>
              <a:t>Gross Margin / Unit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36976" y="39684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6F135"/>
                </a:solidFill>
                <a:latin typeface="League Spartan"/>
              </a:rPr>
              <a:t>~57%+ (₹3,500–₹4,000)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" y="4279392"/>
            <a:ext cx="4645152" cy="347472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43342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  <a:latin typeface="Calibri"/>
              </a:rPr>
              <a:t>Batch 01 Revenue (100u)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6976" y="433425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E500"/>
                </a:solidFill>
                <a:latin typeface="League Spartan"/>
              </a:rPr>
              <a:t>₹6,50,000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" y="4645152"/>
            <a:ext cx="4645152" cy="347472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470001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  <a:latin typeface="Calibri"/>
              </a:rPr>
              <a:t>Batch 01 Gross 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36976" y="470001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6F135"/>
                </a:solidFill>
                <a:latin typeface="League Spartan"/>
              </a:rPr>
              <a:t>₹3,50,000–₹4,00,000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30368" y="822960"/>
            <a:ext cx="3621024" cy="1773936"/>
          </a:xfrm>
          <a:prstGeom prst="rect">
            <a:avLst/>
          </a:prstGeom>
          <a:solidFill>
            <a:srgbClr val="1C1C1C"/>
          </a:solidFill>
          <a:ln w="635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30368" y="822960"/>
            <a:ext cx="45720" cy="177393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0096" y="914400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2D78"/>
                </a:solidFill>
                <a:latin typeface="Courier New"/>
              </a:rPr>
              <a:t>📈  PATH TO PROFITABILITY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0096" y="1170432"/>
            <a:ext cx="34564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CCCCCC"/>
                </a:solidFill>
                <a:latin typeface="Calibri"/>
              </a:rPr>
              <a:t>Batch 01 is the proof of concept. 100 units. If it sells out: Batch 02 drops with the same scarcity model.</a:t>
            </a:r>
          </a:p>
          <a:p>
            <a:pPr algn="l">
              <a:lnSpc>
                <a:spcPts val="1400"/>
              </a:lnSpc>
            </a:pPr>
          </a:p>
          <a:p>
            <a:pPr algn="l">
              <a:lnSpc>
                <a:spcPts val="1400"/>
              </a:lnSpc>
            </a:pPr>
            <a:r>
              <a:rPr sz="950" b="0">
                <a:solidFill>
                  <a:srgbClr val="CCCCCC"/>
                </a:solidFill>
                <a:latin typeface="Calibri"/>
              </a:rPr>
              <a:t>Scale driver: drop cadence + community. Each sold-out batch funds the next. No retail. No markdown. No leftover stock.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30368" y="2670048"/>
            <a:ext cx="3621024" cy="1243584"/>
          </a:xfrm>
          <a:prstGeom prst="rect">
            <a:avLst/>
          </a:prstGeom>
          <a:solidFill>
            <a:srgbClr val="1C1C1C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368" y="2670048"/>
            <a:ext cx="45720" cy="1243584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0096" y="2761488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🔄  PATH TO BATCH 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0096" y="3017520"/>
            <a:ext cx="345643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CCCCCC"/>
                </a:solidFill>
                <a:latin typeface="Calibri"/>
              </a:rPr>
              <a:t>Analyse sell-through speed and feedback from Batch 01. File design IP. Brief improvements. Repeat the drop — with proof of demand behind 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1938528"/>
          </a:xfrm>
          <a:prstGeom prst="rect">
            <a:avLst/>
          </a:prstGeom>
          <a:solidFill>
            <a:srgbClr val="22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5138928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09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2D78"/>
                </a:solidFill>
                <a:latin typeface="Courier New"/>
              </a:rPr>
              <a:t>SLIDE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" y="5084064"/>
            <a:ext cx="6349593" cy="54864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22745" y="5084064"/>
            <a:ext cx="2721254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4809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77777"/>
                </a:solidFill>
                <a:latin typeface="Courier New"/>
              </a:rPr>
              <a:t>7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809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A84B"/>
                </a:solidFill>
                <a:latin typeface="Courier New"/>
              </a:rPr>
              <a:t>ivi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" y="109728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2D78"/>
                </a:solidFill>
                <a:latin typeface="League Spartan"/>
              </a:rPr>
              <a:t>COMPETITION &amp; YOUR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" y="5120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ourier New"/>
              </a:rPr>
              <a:t>Who else is playing in this space, and why will you win?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" y="822960"/>
            <a:ext cx="969264" cy="493776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859536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77777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243584" y="822960"/>
            <a:ext cx="1609344" cy="493776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859536"/>
            <a:ext cx="1536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77777"/>
                </a:solidFill>
                <a:latin typeface="Calibri"/>
              </a:rPr>
              <a:t>Regular
Streetwear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9504" y="822960"/>
            <a:ext cx="1609344" cy="493776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859536"/>
            <a:ext cx="1536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77777"/>
                </a:solidFill>
                <a:latin typeface="Calibri"/>
              </a:rPr>
              <a:t>Indian
Tech Accessories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822960"/>
            <a:ext cx="1609344" cy="493776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859536"/>
            <a:ext cx="1536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77777"/>
                </a:solidFill>
                <a:latin typeface="Calibri"/>
              </a:rPr>
              <a:t>Global Modular
Fashion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822960"/>
            <a:ext cx="2523744" cy="493776"/>
          </a:xfrm>
          <a:prstGeom prst="rect">
            <a:avLst/>
          </a:prstGeom>
          <a:solidFill>
            <a:srgbClr val="1A2606"/>
          </a:solidFill>
          <a:ln w="1524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859536"/>
            <a:ext cx="2450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6F135"/>
                </a:solidFill>
                <a:latin typeface="Courier New"/>
              </a:rPr>
              <a:t>NUUL 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" y="1353312"/>
            <a:ext cx="96926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14264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alibri"/>
              </a:rPr>
              <a:t>Thermo reveal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43584" y="1353312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584" y="1408176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2D78"/>
                </a:solidFill>
                <a:latin typeface="Calibri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9504" y="1353312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9504" y="1408176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2D78"/>
                </a:solidFill>
                <a:latin typeface="Calibri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35424" y="1353312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1408176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2D78"/>
                </a:solidFill>
                <a:latin typeface="Calibri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1344" y="1353312"/>
            <a:ext cx="2523744" cy="384048"/>
          </a:xfrm>
          <a:prstGeom prst="rect">
            <a:avLst/>
          </a:prstGeom>
          <a:solidFill>
            <a:srgbClr val="1A2606"/>
          </a:solidFill>
          <a:ln w="1270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1344" y="1408176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6F135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" y="1755648"/>
            <a:ext cx="96926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alibri"/>
              </a:rPr>
              <a:t>Fold-to-bag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43584" y="1755648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584" y="181051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2D78"/>
                </a:solidFill>
                <a:latin typeface="Calibri"/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9504" y="1755648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9504" y="181051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2D78"/>
                </a:solidFill>
                <a:latin typeface="Calibri"/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35424" y="1755648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35424" y="181051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E500"/>
                </a:solidFill>
                <a:latin typeface="Calibri"/>
              </a:rPr>
              <a:t>Partial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344" y="1755648"/>
            <a:ext cx="2523744" cy="384048"/>
          </a:xfrm>
          <a:prstGeom prst="rect">
            <a:avLst/>
          </a:prstGeom>
          <a:solidFill>
            <a:srgbClr val="1A2606"/>
          </a:solidFill>
          <a:ln w="1270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81344" y="1810512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6F135"/>
                </a:solidFill>
                <a:latin typeface="Calibr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" y="2157984"/>
            <a:ext cx="96926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" y="22311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alibri"/>
              </a:rPr>
              <a:t>Watch pocket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43584" y="2157984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3584" y="2212848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2D78"/>
                </a:solidFill>
                <a:latin typeface="Calibri"/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9504" y="2157984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9504" y="2212848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2D78"/>
                </a:solidFill>
                <a:latin typeface="Calibri"/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5424" y="2157984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35424" y="2212848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2D78"/>
                </a:solidFill>
                <a:latin typeface="Calibri"/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1344" y="2157984"/>
            <a:ext cx="2523744" cy="384048"/>
          </a:xfrm>
          <a:prstGeom prst="rect">
            <a:avLst/>
          </a:prstGeom>
          <a:solidFill>
            <a:srgbClr val="1A2606"/>
          </a:solidFill>
          <a:ln w="1270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81344" y="221284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6F135"/>
                </a:solidFill>
                <a:latin typeface="Calibri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" y="2560320"/>
            <a:ext cx="96926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2608" y="2633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alibri"/>
              </a:rPr>
              <a:t>India-made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43584" y="2560320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43584" y="261518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6F135"/>
                </a:solidFill>
                <a:latin typeface="Calibri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9504" y="2560320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89504" y="261518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6F135"/>
                </a:solidFill>
                <a:latin typeface="Calibri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35424" y="2560320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35424" y="261518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2D78"/>
                </a:solidFill>
                <a:latin typeface="Calibri"/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1344" y="2560320"/>
            <a:ext cx="2523744" cy="384048"/>
          </a:xfrm>
          <a:prstGeom prst="rect">
            <a:avLst/>
          </a:prstGeom>
          <a:solidFill>
            <a:srgbClr val="1A2606"/>
          </a:solidFill>
          <a:ln w="1270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81344" y="2615184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6F135"/>
                </a:solidFill>
                <a:latin typeface="Calibri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7744" y="2962656"/>
            <a:ext cx="96926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2608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alibri"/>
              </a:rPr>
              <a:t>Price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43584" y="2962656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43584" y="301752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E500"/>
                </a:solidFill>
                <a:latin typeface="Calibri"/>
              </a:rPr>
              <a:t>₹1–2K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89504" y="2962656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89504" y="301752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E500"/>
                </a:solidFill>
                <a:latin typeface="Calibri"/>
              </a:rPr>
              <a:t>₹1–3K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35424" y="2962656"/>
            <a:ext cx="1609344" cy="38404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35424" y="301752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E500"/>
                </a:solidFill>
                <a:latin typeface="Calibri"/>
              </a:rPr>
              <a:t>₹6K+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81344" y="2962656"/>
            <a:ext cx="2523744" cy="384048"/>
          </a:xfrm>
          <a:prstGeom prst="rect">
            <a:avLst/>
          </a:prstGeom>
          <a:solidFill>
            <a:srgbClr val="1A2606"/>
          </a:solidFill>
          <a:ln w="1270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81344" y="3017520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6F135"/>
                </a:solidFill>
                <a:latin typeface="Calibri"/>
              </a:rPr>
              <a:t>₹6,500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7472" y="3273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OUR UNFAIR ADVANTAGE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7744" y="3584448"/>
            <a:ext cx="54864" cy="93268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3602736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Calibri"/>
              </a:rPr>
              <a:t>Patent-protectable fold-to-bag mechanism. No existing product replicates this.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14016" y="3584448"/>
            <a:ext cx="54864" cy="932688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42032" y="3602736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Calibri"/>
              </a:rPr>
              <a:t>Custom 38mm watch built for the garment pocket — zero crossover with any production watch.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90288" y="3584448"/>
            <a:ext cx="54864" cy="932688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18304" y="3602736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Calibri"/>
              </a:rPr>
              <a:t>Scarcity-first drops: 100 pieces, 50 pre-book spots. You have it or you do not.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0" y="3584448"/>
            <a:ext cx="54864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94576" y="3602736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Calibri"/>
              </a:rPr>
              <a:t>Solo founder as obsessed product architect. Built from personal need, not a brief.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5138928"/>
          </a:xfrm>
          <a:prstGeom prst="rect">
            <a:avLst/>
          </a:prstGeom>
          <a:solidFill>
            <a:srgbClr val="1A2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54864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09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C6F135"/>
                </a:solidFill>
                <a:latin typeface="Courier New"/>
              </a:rPr>
              <a:t>SLIDE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" y="5084064"/>
            <a:ext cx="7256678" cy="54864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29830" y="5084064"/>
            <a:ext cx="1814169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4809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77777"/>
                </a:solidFill>
                <a:latin typeface="Courier New"/>
              </a:rPr>
              <a:t>8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809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A84B"/>
                </a:solidFill>
                <a:latin typeface="Courier New"/>
              </a:rPr>
              <a:t>ivi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" y="109728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6F135"/>
                </a:solidFill>
                <a:latin typeface="League Spartan"/>
              </a:rPr>
              <a:t>THE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" y="5120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ourier New"/>
              </a:rPr>
              <a:t>Why are you the right person to build this?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" y="822960"/>
            <a:ext cx="4169663" cy="1883664"/>
          </a:xfrm>
          <a:prstGeom prst="rect">
            <a:avLst/>
          </a:prstGeom>
          <a:solidFill>
            <a:srgbClr val="1C1C1C"/>
          </a:solidFill>
          <a:ln w="1016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4" y="822960"/>
            <a:ext cx="4169663" cy="457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950976"/>
            <a:ext cx="914400" cy="914400"/>
          </a:xfrm>
          <a:prstGeom prst="rect">
            <a:avLst/>
          </a:prstGeom>
          <a:solidFill>
            <a:srgbClr val="1A2608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106070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6F135"/>
                </a:solidFill>
                <a:latin typeface="Calibri"/>
              </a:rPr>
              <a:t>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950976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Founder &amp; Product Architect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1225296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League Spartan"/>
              </a:rPr>
              <a:t>[ Your Name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1627632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77777"/>
                </a:solidFill>
                <a:latin typeface="Calibri"/>
              </a:rPr>
              <a:t>Solo founder. Chennai, India.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1956816"/>
            <a:ext cx="3913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  <a:latin typeface="Calibri"/>
              </a:rPr>
              <a:t>[ Your background — 2 lines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" y="2816352"/>
            <a:ext cx="4169663" cy="1170432"/>
          </a:xfrm>
          <a:prstGeom prst="rect">
            <a:avLst/>
          </a:prstGeom>
          <a:solidFill>
            <a:srgbClr val="121212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889503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WHY THIS FOUNDER?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163824"/>
            <a:ext cx="39136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Built entirely from personal frustration. Designed every module from first principles — no brief, no agency, no committee. The product is the pitch.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896" y="82296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BUILT SOLO — ALL OF THIS: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91456" y="1207008"/>
            <a:ext cx="256032" cy="310896"/>
          </a:xfrm>
          <a:prstGeom prst="rect">
            <a:avLst/>
          </a:prstGeom>
          <a:solidFill>
            <a:srgbClr val="1A2606"/>
          </a:solidFill>
          <a:ln w="508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91456" y="120700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F135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1243584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Thermochromic T-shirt 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91456" y="1572768"/>
            <a:ext cx="256032" cy="310896"/>
          </a:xfrm>
          <a:prstGeom prst="rect">
            <a:avLst/>
          </a:prstGeom>
          <a:solidFill>
            <a:srgbClr val="1A2606"/>
          </a:solidFill>
          <a:ln w="508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456" y="157276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F135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1609344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Fold-to-bag back panel mechanism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91456" y="1938528"/>
            <a:ext cx="256032" cy="310896"/>
          </a:xfrm>
          <a:prstGeom prst="rect">
            <a:avLst/>
          </a:prstGeom>
          <a:solidFill>
            <a:srgbClr val="1A2606"/>
          </a:solidFill>
          <a:ln w="508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193852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E500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1975104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Front patch wallet 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91456" y="2304288"/>
            <a:ext cx="256032" cy="310896"/>
          </a:xfrm>
          <a:prstGeom prst="rect">
            <a:avLst/>
          </a:prstGeom>
          <a:solidFill>
            <a:srgbClr val="1A2606"/>
          </a:solidFill>
          <a:ln w="508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1456" y="230428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E500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02352" y="2340864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Custom 38mm watch (Pocket Pebble)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91456" y="2670048"/>
            <a:ext cx="256032" cy="310896"/>
          </a:xfrm>
          <a:prstGeom prst="rect">
            <a:avLst/>
          </a:prstGeom>
          <a:solidFill>
            <a:srgbClr val="1A2606"/>
          </a:solidFill>
          <a:ln w="508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91456" y="267004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2D78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2706624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Password-only pitch website (live)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91456" y="3035808"/>
            <a:ext cx="256032" cy="310896"/>
          </a:xfrm>
          <a:prstGeom prst="rect">
            <a:avLst/>
          </a:prstGeom>
          <a:solidFill>
            <a:srgbClr val="1A2606"/>
          </a:solidFill>
          <a:ln w="508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91456" y="303580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2D78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2352" y="3072384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Modular snap system (mag + POM)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91456" y="3401568"/>
            <a:ext cx="256032" cy="310896"/>
          </a:xfrm>
          <a:prstGeom prst="rect">
            <a:avLst/>
          </a:prstGeom>
          <a:solidFill>
            <a:srgbClr val="1A260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91456" y="340156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2" y="3438144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Technical spec sheets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91456" y="3767328"/>
            <a:ext cx="256032" cy="310896"/>
          </a:xfrm>
          <a:prstGeom prst="rect">
            <a:avLst/>
          </a:prstGeom>
          <a:solidFill>
            <a:srgbClr val="1A260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91456" y="376732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2352" y="3803904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This pitch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0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9144000" cy="1645920"/>
          </a:xfrm>
          <a:prstGeom prst="rect">
            <a:avLst/>
          </a:prstGeom>
          <a:solidFill>
            <a:srgbClr val="0C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138928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E500"/>
                </a:solidFill>
                <a:latin typeface="Courier New"/>
              </a:rPr>
              <a:t>SLIDE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" y="5084064"/>
            <a:ext cx="8163763" cy="54864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36915" y="5084064"/>
            <a:ext cx="907084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" y="4809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777777"/>
                </a:solidFill>
                <a:latin typeface="Courier New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809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A84B"/>
                </a:solidFill>
                <a:latin typeface="Courier New"/>
              </a:rPr>
              <a:t>ivi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" y="109728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E500"/>
                </a:solidFill>
                <a:latin typeface="League Spartan"/>
              </a:rPr>
              <a:t>ROADMAP &amp; WHAT WE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" y="5120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Courier New"/>
              </a:rPr>
              <a:t>Where are you going, and what will IVI help us achieve?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" y="822960"/>
            <a:ext cx="2798064" cy="1993392"/>
          </a:xfrm>
          <a:prstGeom prst="rect">
            <a:avLst/>
          </a:prstGeom>
          <a:solidFill>
            <a:srgbClr val="1C1C1C"/>
          </a:solidFill>
          <a:ln w="762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7744" y="822960"/>
            <a:ext cx="2798064" cy="457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914400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Month 1–2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1152144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ague Spartan"/>
              </a:rPr>
              <a:t>Finalise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1572768"/>
            <a:ext cx="261518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Complete all 100 units. QC every module. Confirm thermochromic activation. Prepare pre-booking landing page.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27248" y="822960"/>
            <a:ext cx="2798064" cy="1993392"/>
          </a:xfrm>
          <a:prstGeom prst="rect">
            <a:avLst/>
          </a:prstGeom>
          <a:solidFill>
            <a:srgbClr val="1C1C1C"/>
          </a:solidFill>
          <a:ln w="762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27248" y="822960"/>
            <a:ext cx="2798064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6976" y="914400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Month 3–4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1152144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ague Spartan"/>
              </a:rPr>
              <a:t>Execute the Drop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6976" y="1572768"/>
            <a:ext cx="261518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Pre-booking opens — 10 spots, ₹1,000 deposit each. On drop day: pre-bookers pay ₹5,500 balance. Remaining 90 units go live. Real-time counter. We find out.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16752" y="822960"/>
            <a:ext cx="2798064" cy="1993392"/>
          </a:xfrm>
          <a:prstGeom prst="rect">
            <a:avLst/>
          </a:prstGeom>
          <a:solidFill>
            <a:srgbClr val="1C1C1C"/>
          </a:solidFill>
          <a:ln w="762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16752" y="822960"/>
            <a:ext cx="2798064" cy="457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914400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2D78"/>
                </a:solidFill>
                <a:latin typeface="Courier New"/>
              </a:rPr>
              <a:t>Month 5–6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152144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ague Spartan"/>
              </a:rPr>
              <a:t>Analyse + Batch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1572768"/>
            <a:ext cx="261518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Review sell-through speed, customer feedback. File design IP. Brief Batch 02 improvements. Repeat — with proof behind us.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" y="2926080"/>
            <a:ext cx="5212080" cy="256032"/>
          </a:xfrm>
          <a:prstGeom prst="rect">
            <a:avLst/>
          </a:prstGeom>
          <a:solidFill>
            <a:srgbClr val="120E1E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29809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WHAT WE WANT FROM IVI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" y="3291840"/>
            <a:ext cx="54864" cy="2743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310128"/>
            <a:ext cx="4956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Manufacturing network — Chennai garment + textile partners for Batch 02 scale-up.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" y="3621024"/>
            <a:ext cx="54864" cy="2743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639312"/>
            <a:ext cx="4956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Mentorship in D2C brand strategy — how to build a product cult, not just a product.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" y="3950208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968496"/>
            <a:ext cx="4956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Legal guidance on design IP — protecting fold mechanism and thermochromic system.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" y="4279392"/>
            <a:ext cx="54864" cy="2743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4297680"/>
            <a:ext cx="4956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Fashion/retail industry network access for distribution conversations post-Batch 01.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926080"/>
            <a:ext cx="3328416" cy="1682496"/>
          </a:xfrm>
          <a:prstGeom prst="rect">
            <a:avLst/>
          </a:prstGeom>
          <a:solidFill>
            <a:srgbClr val="1C1C1C"/>
          </a:solidFill>
          <a:ln w="1016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7840" y="2926080"/>
            <a:ext cx="3328416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87568" y="299923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FUNDING SOUGHT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87568" y="325526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League Spartan"/>
              </a:rPr>
              <a:t>Open to discussion.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87568" y="3621024"/>
            <a:ext cx="3108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Primary ask is mentorship + network, not capital at this stage. If ISB DLabs funding is available, it would go toward Batch 02 tooling, IP filing, and brand marketing.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3892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3840480" cy="513892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54864" cy="513892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" y="201168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80808"/>
                </a:solidFill>
                <a:latin typeface="League Spartan"/>
              </a:rPr>
              <a:t>ONE
GARMENT.
FOUR
MODES.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" y="3072384"/>
            <a:ext cx="4389120" cy="4572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31638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80808"/>
                </a:solidFill>
                <a:latin typeface="League Spartan"/>
              </a:rPr>
              <a:t>Nothing like it exists.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621024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If you are building the next generation of Indian consumer
products — this is what one looks like.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2560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GET IN TOUCH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4688" y="530352"/>
            <a:ext cx="3401568" cy="36576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65836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6F135"/>
                </a:solidFill>
                <a:latin typeface="Courier New"/>
              </a:rPr>
              <a:t>Startup: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65836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NUUL — NotTheBestPlaceToBuyStuff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4688" y="100584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6F135"/>
                </a:solidFill>
                <a:latin typeface="Courier New"/>
              </a:rPr>
              <a:t>Founder: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00584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[ Your Name ]  |  [ email@email.com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135331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6F135"/>
                </a:solidFill>
                <a:latin typeface="Courier New"/>
              </a:rPr>
              <a:t>Website: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35331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chipper-biscochitos-48c023.netlify.app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170078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6F135"/>
                </a:solidFill>
                <a:latin typeface="Courier New"/>
              </a:rPr>
              <a:t>Deck: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170078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Calibri"/>
              </a:rPr>
              <a:t>June 2025  |  IVI Cohort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4688" y="2212848"/>
            <a:ext cx="3401568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4688" y="2304288"/>
            <a:ext cx="3401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77777"/>
                </a:solidFill>
                <a:latin typeface="Courier New"/>
              </a:rPr>
              <a:t>BATCH 01 AT A GLANCE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4688" y="2615184"/>
            <a:ext cx="1645920" cy="804672"/>
          </a:xfrm>
          <a:prstGeom prst="rect">
            <a:avLst/>
          </a:prstGeom>
          <a:solidFill>
            <a:srgbClr val="1A2606"/>
          </a:solidFill>
          <a:ln w="9525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4688" y="27066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6F135"/>
                </a:solidFill>
                <a:latin typeface="League Spartan"/>
              </a:rPr>
              <a:t>100 pieces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314553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777777"/>
                </a:solidFill>
                <a:latin typeface="Courier New"/>
              </a:rPr>
              <a:t>PASSWORD-ONLY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42048" y="2615184"/>
            <a:ext cx="1645920" cy="804672"/>
          </a:xfrm>
          <a:prstGeom prst="rect">
            <a:avLst/>
          </a:prstGeom>
          <a:solidFill>
            <a:srgbClr val="22061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27066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League Spartan"/>
              </a:rPr>
              <a:t>₹6,500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314553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777777"/>
                </a:solidFill>
                <a:latin typeface="Courier New"/>
              </a:rPr>
              <a:t>SELL PRICE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04688" y="3511296"/>
            <a:ext cx="1645920" cy="804672"/>
          </a:xfrm>
          <a:prstGeom prst="rect">
            <a:avLst/>
          </a:prstGeom>
          <a:solidFill>
            <a:srgbClr val="221E00"/>
          </a:solidFill>
          <a:ln w="9525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04688" y="36027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E500"/>
                </a:solidFill>
                <a:latin typeface="League Spartan"/>
              </a:rPr>
              <a:t>57%+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4688" y="404164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777777"/>
                </a:solidFill>
                <a:latin typeface="Courier New"/>
              </a:rPr>
              <a:t>GROSS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42048" y="3511296"/>
            <a:ext cx="1645920" cy="804672"/>
          </a:xfrm>
          <a:prstGeom prst="rect">
            <a:avLst/>
          </a:prstGeom>
          <a:solidFill>
            <a:srgbClr val="220610"/>
          </a:solidFill>
          <a:ln w="9525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42048" y="36027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2D78"/>
                </a:solidFill>
                <a:latin typeface="League Spartan"/>
              </a:rPr>
              <a:t>10 spots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2048" y="404164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777777"/>
                </a:solidFill>
                <a:latin typeface="Courier New"/>
              </a:rPr>
              <a:t>₹1K DEPOSIT EACH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791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8A84B"/>
                </a:solidFill>
                <a:latin typeface="Courier New"/>
              </a:rPr>
              <a:t>ivi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" y="48097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33333"/>
                </a:solidFill>
                <a:latin typeface="Courier New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