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3200400" cy="5138928"/>
          </a:xfrm>
          <a:prstGeom prst="rect">
            <a:avLst/>
          </a:prstGeom>
          <a:solidFill>
            <a:srgbClr val="162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0"/>
            <a:ext cx="45720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256032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C6F135"/>
                </a:solidFill>
                <a:latin typeface="League Spartan"/>
              </a:rPr>
              <a:t>NUUL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9019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ourier New"/>
              </a:rPr>
              <a:t>NotTheBestPlaceToBuyStuff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212848"/>
            <a:ext cx="5577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League Spartan"/>
              </a:rPr>
              <a:t>One garment. Four modes.
Nothing like this exists in India.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2834640"/>
            <a:ext cx="3840480" cy="36576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2907792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B"/>
                </a:solidFill>
                <a:latin typeface="Courier New"/>
              </a:rPr>
              <a:t>Cohort 5  ·  Application Pitch Deck</a:t>
            </a:r>
          </a:p>
          <a:p>
            <a:pPr algn="l"/>
          </a:p>
          <a:p>
            <a:pPr algn="l"/>
            <a:r>
              <a:rPr sz="900" b="0">
                <a:solidFill>
                  <a:srgbClr val="999999"/>
                </a:solidFill>
                <a:latin typeface="Courier New"/>
              </a:rPr>
              <a:t>Founder:   [ Your Name ]</a:t>
            </a:r>
          </a:p>
          <a:p>
            <a:pPr algn="l"/>
            <a:r>
              <a:rPr sz="900" b="0">
                <a:solidFill>
                  <a:srgbClr val="999999"/>
                </a:solidFill>
                <a:latin typeface="Courier New"/>
              </a:rPr>
              <a:t>Domain:    D2C · Fashion-Tech · Wearable Systems</a:t>
            </a:r>
          </a:p>
          <a:p>
            <a:pPr algn="l"/>
            <a:r>
              <a:rPr sz="900" b="0">
                <a:solidFill>
                  <a:srgbClr val="999999"/>
                </a:solidFill>
                <a:latin typeface="Courier New"/>
              </a:rPr>
              <a:t>Stage:     Concept Design · Pre-Prototype</a:t>
            </a:r>
          </a:p>
          <a:p>
            <a:pPr algn="l"/>
            <a:r>
              <a:rPr sz="900" b="0">
                <a:solidFill>
                  <a:srgbClr val="999999"/>
                </a:solidFill>
                <a:latin typeface="Courier New"/>
              </a:rPr>
              <a:t>Location:  Chennai, India ·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2011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4 MODULES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493776"/>
            <a:ext cx="2834640" cy="859536"/>
          </a:xfrm>
          <a:prstGeom prst="rect">
            <a:avLst/>
          </a:prstGeom>
          <a:solidFill>
            <a:srgbClr val="111111"/>
          </a:solidFill>
          <a:ln w="508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852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F135"/>
                </a:solidFill>
                <a:latin typeface="League Spartan"/>
              </a:rPr>
              <a:t>BACK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89611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Folds → Carry Bag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8192" y="1389888"/>
            <a:ext cx="2834640" cy="859536"/>
          </a:xfrm>
          <a:prstGeom prst="rect">
            <a:avLst/>
          </a:prstGeom>
          <a:solidFill>
            <a:srgbClr val="111111"/>
          </a:solidFill>
          <a:ln w="508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813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E500"/>
                </a:solidFill>
                <a:latin typeface="League Spartan"/>
              </a:rPr>
              <a:t>FRONT 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79222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Unfolds → Wallet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2286000"/>
            <a:ext cx="2834640" cy="859536"/>
          </a:xfrm>
          <a:prstGeom prst="rect">
            <a:avLst/>
          </a:prstGeom>
          <a:solidFill>
            <a:srgbClr val="111111"/>
          </a:solidFill>
          <a:ln w="508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3774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78"/>
                </a:solidFill>
                <a:latin typeface="League Spartan"/>
              </a:rPr>
              <a:t>WATCH POCKET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68833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Custom 38mm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08192" y="3182112"/>
            <a:ext cx="2834640" cy="859536"/>
          </a:xfrm>
          <a:prstGeom prst="rect">
            <a:avLst/>
          </a:prstGeom>
          <a:solidFill>
            <a:srgbClr val="11111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2735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League Spartan"/>
              </a:rPr>
              <a:t>THERMO COAT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8444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Reveals at 31°C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38928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9144000" cy="1481328"/>
          </a:xfrm>
          <a:prstGeom prst="rect">
            <a:avLst/>
          </a:prstGeom>
          <a:solidFill>
            <a:srgbClr val="20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657600"/>
            <a:ext cx="914400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2801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E500"/>
                </a:solidFill>
                <a:latin typeface="League Spartan"/>
              </a:rPr>
              <a:t>FOUNDER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1206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The problem I lived before I tried to solve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822960"/>
            <a:ext cx="8778240" cy="1426464"/>
          </a:xfrm>
          <a:prstGeom prst="rect">
            <a:avLst/>
          </a:prstGeom>
          <a:solidFill>
            <a:srgbClr val="111111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822960"/>
            <a:ext cx="64008" cy="1426464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914400"/>
            <a:ext cx="8321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League Spartan"/>
              </a:rPr>
              <a:t>"I wanted one thing that does everything, looks like nothing else, and earns its price.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389888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E500"/>
                </a:solidFill>
                <a:latin typeface="League Spartan"/>
              </a:rPr>
              <a:t>No such product existed. So I started designing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749039"/>
            <a:ext cx="2121408" cy="1261872"/>
          </a:xfrm>
          <a:prstGeom prst="rect">
            <a:avLst/>
          </a:prstGeom>
          <a:solidFill>
            <a:srgbClr val="1A1A1A"/>
          </a:solidFill>
          <a:ln w="508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3749039"/>
            <a:ext cx="2121408" cy="3657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803904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2D78"/>
                </a:solidFill>
                <a:latin typeface="League Spartan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382219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2D78"/>
                </a:solidFill>
                <a:latin typeface="Courier New"/>
              </a:rPr>
              <a:t>THE FRUSTRATION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114800"/>
            <a:ext cx="2011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  <a:latin typeface="Calibri"/>
              </a:rPr>
              <a:t>Spent ₹8,000+ across watch, wallet, bag, tee — none talked to each other.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749039"/>
            <a:ext cx="2121408" cy="1261872"/>
          </a:xfrm>
          <a:prstGeom prst="rect">
            <a:avLst/>
          </a:prstGeom>
          <a:solidFill>
            <a:srgbClr val="1A1A1A"/>
          </a:solidFill>
          <a:ln w="508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40" y="3749039"/>
            <a:ext cx="2121408" cy="36576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3803904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6F135"/>
                </a:solidFill>
                <a:latin typeface="League Spartan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382219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6F135"/>
                </a:solidFill>
                <a:latin typeface="Courier New"/>
              </a:rPr>
              <a:t>THE OBSERVATION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114800"/>
            <a:ext cx="2011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  <a:latin typeface="Calibri"/>
              </a:rPr>
              <a:t>No Indian brand had combined utility + thermochromic reveal + carry system in one garment.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749039"/>
            <a:ext cx="2121408" cy="1261872"/>
          </a:xfrm>
          <a:prstGeom prst="rect">
            <a:avLst/>
          </a:prstGeom>
          <a:solidFill>
            <a:srgbClr val="1A1A1A"/>
          </a:solidFill>
          <a:ln w="508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749039"/>
            <a:ext cx="2121408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803904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E500"/>
                </a:solidFill>
                <a:latin typeface="League Spartan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2624" y="382219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E500"/>
                </a:solidFill>
                <a:latin typeface="Courier New"/>
              </a:rPr>
              <a:t>THE CONCEPT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114800"/>
            <a:ext cx="2011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  <a:latin typeface="Calibri"/>
              </a:rPr>
              <a:t>Designed a modular system from scratch. Each module solves a specific need. All connect.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3749039"/>
            <a:ext cx="2121408" cy="1261872"/>
          </a:xfrm>
          <a:prstGeom prst="rect">
            <a:avLst/>
          </a:prstGeom>
          <a:solidFill>
            <a:srgbClr val="1A1A1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3749039"/>
            <a:ext cx="2121408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803904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League Spartan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4" y="382219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ourier New"/>
              </a:rPr>
              <a:t>THE 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011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  <a:latin typeface="Calibri"/>
              </a:rPr>
              <a:t>Prototype in progress. Applying to IVI to take concept to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38928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73552"/>
            <a:ext cx="9144000" cy="1865376"/>
          </a:xfrm>
          <a:prstGeom prst="rect">
            <a:avLst/>
          </a:prstGeom>
          <a:solidFill>
            <a:srgbClr val="200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273552"/>
            <a:ext cx="9144000" cy="457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2801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2D78"/>
                </a:solidFill>
                <a:latin typeface="League Spartan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1206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Bought separately. Designed independently. Worn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786384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  <a:latin typeface="League Spartan"/>
              </a:rPr>
              <a:t>₹8,000+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029968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999"/>
                </a:solidFill>
                <a:latin typeface="Calibri"/>
              </a:rPr>
              <a:t>spent every year on four items that serve
the same person, same lifestyle, same day —
but were never designed to work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912" y="822960"/>
            <a:ext cx="969264" cy="1133856"/>
          </a:xfrm>
          <a:prstGeom prst="rect">
            <a:avLst/>
          </a:prstGeom>
          <a:solidFill>
            <a:srgbClr val="1A1A1A"/>
          </a:solidFill>
          <a:ln w="508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877824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C6F135"/>
                </a:solidFill>
                <a:latin typeface="Courier New"/>
              </a:rPr>
              <a:t>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115568"/>
            <a:ext cx="969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League Spartan"/>
              </a:rPr>
              <a:t>₹2–3K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1572768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Quality timepiece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22960"/>
            <a:ext cx="969264" cy="1133856"/>
          </a:xfrm>
          <a:prstGeom prst="rect">
            <a:avLst/>
          </a:prstGeom>
          <a:solidFill>
            <a:srgbClr val="1A1A1A"/>
          </a:solidFill>
          <a:ln w="508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877824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E500"/>
                </a:solidFill>
                <a:latin typeface="Courier New"/>
              </a:rPr>
              <a:t>WALLET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115568"/>
            <a:ext cx="969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League Spartan"/>
              </a:rPr>
              <a:t>₹1–2K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572768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Branded, everyday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59168" y="822960"/>
            <a:ext cx="969264" cy="1133856"/>
          </a:xfrm>
          <a:prstGeom prst="rect">
            <a:avLst/>
          </a:prstGeom>
          <a:solidFill>
            <a:srgbClr val="1A1A1A"/>
          </a:solidFill>
          <a:ln w="508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8" y="877824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2D78"/>
                </a:solidFill>
                <a:latin typeface="Courier New"/>
              </a:rPr>
              <a:t>T-SHIRT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115568"/>
            <a:ext cx="969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League Spartan"/>
              </a:rPr>
              <a:t>₹1–2K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1572768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Fashion-forward tee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822960"/>
            <a:ext cx="969264" cy="1133856"/>
          </a:xfrm>
          <a:prstGeom prst="rect">
            <a:avLst/>
          </a:prstGeom>
          <a:solidFill>
            <a:srgbClr val="1A1A1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877824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ourier New"/>
              </a:rPr>
              <a:t>UTILITY BAG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1115568"/>
            <a:ext cx="969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League Spartan"/>
              </a:rPr>
              <a:t>₹1–2K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1572768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Daily carry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364992"/>
            <a:ext cx="2779776" cy="1591056"/>
          </a:xfrm>
          <a:prstGeom prst="rect">
            <a:avLst/>
          </a:prstGeom>
          <a:solidFill>
            <a:srgbClr val="111111"/>
          </a:solidFill>
          <a:ln w="508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3438144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2D78"/>
                </a:solidFill>
                <a:latin typeface="Courier New"/>
              </a:rPr>
              <a:t>ZERO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" y="3712463"/>
            <a:ext cx="257860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Four products. No shared design language. No system.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35808" y="3364992"/>
            <a:ext cx="2779776" cy="1591056"/>
          </a:xfrm>
          <a:prstGeom prst="rect">
            <a:avLst/>
          </a:prstGeom>
          <a:solidFill>
            <a:srgbClr val="111111"/>
          </a:solidFill>
          <a:ln w="508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5536" y="3438144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ZERO MODULARITY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5536" y="3712463"/>
            <a:ext cx="257860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Each item locked to one function. Can't adapt.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88736" y="3364992"/>
            <a:ext cx="2779776" cy="1591056"/>
          </a:xfrm>
          <a:prstGeom prst="rect">
            <a:avLst/>
          </a:prstGeom>
          <a:solidFill>
            <a:srgbClr val="111111"/>
          </a:solidFill>
          <a:ln w="508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98464" y="3438144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ZERO SURPRISE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98464" y="3712463"/>
            <a:ext cx="257860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What you buy is what you get. Always.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2801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999999"/>
                </a:solidFill>
                <a:latin typeface="League Spartan"/>
              </a:rPr>
              <a:t>WHY EXISTING SOLUTIONS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51206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Every alternative solves one thing and ignores the rest.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822960"/>
            <a:ext cx="5303520" cy="40050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822960"/>
            <a:ext cx="27432" cy="400507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25496"/>
            <a:ext cx="530352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0118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55555"/>
                </a:solidFill>
                <a:latin typeface="Courier New"/>
              </a:rPr>
              <a:t>UTILITY INTEGRATION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737360"/>
            <a:ext cx="548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555555"/>
                </a:solidFill>
                <a:latin typeface="Courier New"/>
              </a:rPr>
              <a:t>FASHION
CREDIBILITY
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914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High fashion
Low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914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High fashion
High utility
← THE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16936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Low fashion
Low utility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16936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Low fashion
High utility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1328" y="1298448"/>
            <a:ext cx="146304" cy="146304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64208" y="131673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2D78"/>
                </a:solidFill>
                <a:latin typeface="Calibri"/>
              </a:rPr>
              <a:t>Regular
Streetwear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8768" y="3209544"/>
            <a:ext cx="146304" cy="146304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1648" y="32278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E500"/>
                </a:solidFill>
                <a:latin typeface="Calibri"/>
              </a:rPr>
              <a:t>Tech
Wearables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64208" y="3483864"/>
            <a:ext cx="146304" cy="14630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47088" y="35021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Premium
Bags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2029968"/>
            <a:ext cx="146304" cy="14630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204825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Global Modular
Fashion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4336" y="1225296"/>
            <a:ext cx="292608" cy="29260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1280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F135"/>
                </a:solidFill>
                <a:latin typeface="League Spartan"/>
              </a:rPr>
              <a:t>NUUL 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82296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99999"/>
                </a:solidFill>
                <a:latin typeface="Courier New"/>
              </a:rPr>
              <a:t>THE 4 FAILURES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1115568"/>
            <a:ext cx="54864" cy="67665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1170432"/>
            <a:ext cx="23225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2D78"/>
                </a:solidFill>
                <a:latin typeface="Courier New"/>
              </a:rPr>
              <a:t>Regular streetwear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1426464"/>
            <a:ext cx="2322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Looks good. Carries nothing.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883664"/>
            <a:ext cx="54864" cy="67665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8544" y="1938528"/>
            <a:ext cx="23225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Tech wearables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8544" y="2194560"/>
            <a:ext cx="2322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Functional. Zero fashion cred.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651760"/>
            <a:ext cx="54864" cy="67665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38544" y="2706624"/>
            <a:ext cx="23225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99999"/>
                </a:solidFill>
                <a:latin typeface="Courier New"/>
              </a:rPr>
              <a:t>Premium bags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8544" y="2962656"/>
            <a:ext cx="2322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Great carry. Not wearable.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3419856"/>
            <a:ext cx="54864" cy="676656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38544" y="3474720"/>
            <a:ext cx="23225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Global modular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8544" y="3730752"/>
            <a:ext cx="2322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Exists abroad. ₹20K+. Not for India.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4008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2801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C6F135"/>
                </a:solidFill>
                <a:latin typeface="League Spartan"/>
              </a:rPr>
              <a:t>NUUL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1206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One garment. Four connected modules. Zero redundancy.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212848"/>
            <a:ext cx="1463040" cy="658368"/>
          </a:xfrm>
          <a:prstGeom prst="rect">
            <a:avLst/>
          </a:prstGeom>
          <a:solidFill>
            <a:srgbClr val="162204"/>
          </a:solidFill>
          <a:ln w="1270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267712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6F135"/>
                </a:solidFill>
                <a:latin typeface="League Spartan"/>
              </a:rPr>
              <a:t>NUUL 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859536"/>
            <a:ext cx="2304288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859536"/>
            <a:ext cx="2304288" cy="45720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950976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F135"/>
                </a:solidFill>
                <a:latin typeface="League Spartan"/>
              </a:rPr>
              <a:t>BACK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225296"/>
            <a:ext cx="2121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E500"/>
                </a:solidFill>
                <a:latin typeface="Courier New"/>
              </a:rPr>
              <a:t>→ Carry Bag · Laptop Sleeve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481328"/>
            <a:ext cx="21214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  <a:latin typeface="Calibri"/>
              </a:rPr>
              <a:t>EVA foam + PP core
40cm × 23cm × 3cm bag
N52 magnet + POM snap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55264"/>
            <a:ext cx="2304288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55264"/>
            <a:ext cx="2304288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34670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E500"/>
                </a:solidFill>
                <a:latin typeface="League Spartan"/>
              </a:rPr>
              <a:t>FRONT 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621024"/>
            <a:ext cx="2121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6F135"/>
                </a:solidFill>
                <a:latin typeface="Courier New"/>
              </a:rPr>
              <a:t>→ Two-Card Wallet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877056"/>
            <a:ext cx="21214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  <a:latin typeface="Calibri"/>
              </a:rPr>
              <a:t>NUUL embroidered
Unfolds in 3 seconds
Hidden thermochromic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859536"/>
            <a:ext cx="2304288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859536"/>
            <a:ext cx="2304288" cy="457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950976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78"/>
                </a:solidFill>
                <a:latin typeface="League Spartan"/>
              </a:rPr>
              <a:t>WATCH POCKET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1225296"/>
            <a:ext cx="2121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6F135"/>
                </a:solidFill>
                <a:latin typeface="Courier New"/>
              </a:rPr>
              <a:t>→ Custom 38mm Carrier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1481328"/>
            <a:ext cx="21214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  <a:latin typeface="Calibri"/>
              </a:rPr>
              <a:t>Pocket Pebble 38
Built for this pocket
7cm TPU 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255264"/>
            <a:ext cx="2304288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3255264"/>
            <a:ext cx="2304288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8" y="334670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eague Spartan"/>
              </a:rPr>
              <a:t>THERMO COAT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3621024"/>
            <a:ext cx="2121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6F135"/>
                </a:solidFill>
                <a:latin typeface="Courier New"/>
              </a:rPr>
              <a:t>→ Hidden Design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3877056"/>
            <a:ext cx="21214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  <a:latin typeface="Calibri"/>
              </a:rPr>
              <a:t>Activates above 31°C
Front + back simultaneous
Never mentioned in marketing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88336" y="1545336"/>
            <a:ext cx="1152144" cy="228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88336" y="3941063"/>
            <a:ext cx="1152144" cy="228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0" y="1545336"/>
            <a:ext cx="1280160" cy="228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0" y="3941063"/>
            <a:ext cx="1280160" cy="228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0" y="3017520"/>
            <a:ext cx="2743200" cy="493776"/>
          </a:xfrm>
          <a:prstGeom prst="rect">
            <a:avLst/>
          </a:prstGeom>
          <a:solidFill>
            <a:srgbClr val="111111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0723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555555"/>
                </a:solidFill>
                <a:latin typeface="Courier New"/>
              </a:rPr>
              <a:t>280 GSM · PASTEL PINK · GHOST PRINT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2801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C6F135"/>
                </a:solidFill>
                <a:latin typeface="League Spartan"/>
              </a:rPr>
              <a:t>CUSTOMER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51206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What the customer actually experiences.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22960"/>
            <a:ext cx="2084831" cy="4151376"/>
          </a:xfrm>
          <a:prstGeom prst="rect">
            <a:avLst/>
          </a:prstGeom>
          <a:solidFill>
            <a:srgbClr val="1A1A1A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822960"/>
            <a:ext cx="2084831" cy="45720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896112"/>
            <a:ext cx="19019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6F135"/>
                </a:solidFill>
                <a:latin typeface="Courier New"/>
              </a:rPr>
              <a:t>FASHION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115568"/>
            <a:ext cx="19019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6F135"/>
                </a:solidFill>
                <a:latin typeface="League Spartan"/>
              </a:rPr>
              <a:t>WEAR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682496"/>
            <a:ext cx="1901951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A statement T-shirt with hidden depth. Every module adds a layer — front patch, back panel, watch. Full system. Full look.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4370832"/>
            <a:ext cx="2084831" cy="36576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9151" y="822960"/>
            <a:ext cx="2084831" cy="4151376"/>
          </a:xfrm>
          <a:prstGeom prst="rect">
            <a:avLst/>
          </a:prstGeom>
          <a:solidFill>
            <a:srgbClr val="1A1A1A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1" y="822960"/>
            <a:ext cx="2084831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79" y="896112"/>
            <a:ext cx="19019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E500"/>
                </a:solidFill>
                <a:latin typeface="Courier New"/>
              </a:rPr>
              <a:t>BAG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1115568"/>
            <a:ext cx="19019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E500"/>
                </a:solidFill>
                <a:latin typeface="League Spartan"/>
              </a:rPr>
              <a:t>CARRY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79" y="1682496"/>
            <a:ext cx="1901951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Detach the back panel. One fold. Snaps close automatically. A 40cm carry bag appears. No extra bag needed today.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9151" y="4370832"/>
            <a:ext cx="2084831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35422" y="822960"/>
            <a:ext cx="2084831" cy="4151376"/>
          </a:xfrm>
          <a:prstGeom prst="rect">
            <a:avLst/>
          </a:prstGeom>
          <a:solidFill>
            <a:srgbClr val="1A1A1A"/>
          </a:solidFill>
          <a:ln w="635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35422" y="822960"/>
            <a:ext cx="2084831" cy="457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0" y="896112"/>
            <a:ext cx="19019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2D78"/>
                </a:solidFill>
                <a:latin typeface="Courier New"/>
              </a:rPr>
              <a:t>ART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0" y="1115568"/>
            <a:ext cx="19019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2D78"/>
                </a:solidFill>
                <a:latin typeface="League Spartan"/>
              </a:rPr>
              <a:t>DISCOVER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0" y="1682496"/>
            <a:ext cx="1901951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Step into sunlight above 31°C. The thermochromic coating fades. A hidden design reveals itself — front and back simultaneously. Nobody told you. You found 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5422" y="4370832"/>
            <a:ext cx="2084831" cy="36576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11693" y="822960"/>
            <a:ext cx="2084831" cy="4151376"/>
          </a:xfrm>
          <a:prstGeom prst="rect">
            <a:avLst/>
          </a:prstGeom>
          <a:solidFill>
            <a:srgbClr val="1A1A1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11693" y="822960"/>
            <a:ext cx="2084831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1421" y="896112"/>
            <a:ext cx="19019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ourier New"/>
              </a:rPr>
              <a:t>GHOST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1421" y="1115568"/>
            <a:ext cx="19019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ague Spartan"/>
              </a:rPr>
              <a:t>COLLECT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1" y="1682496"/>
            <a:ext cx="1901951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100 pieces. Password only. Remove all modules — a quiet ghost-print tee remains. The brand as a whisper. Made to be owned, not just worn.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11693" y="4370832"/>
            <a:ext cx="2084831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38928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0"/>
            <a:ext cx="3291840" cy="5138928"/>
          </a:xfrm>
          <a:prstGeom prst="rect">
            <a:avLst/>
          </a:prstGeom>
          <a:solidFill>
            <a:srgbClr val="20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0" y="0"/>
            <a:ext cx="45720" cy="5138928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2801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E500"/>
                </a:solidFill>
                <a:latin typeface="League Spartan"/>
              </a:rPr>
              <a:t>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1206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We are not chasing the market. We are creating a niche.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841248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League Spartan"/>
              </a:rPr>
              <a:t>The gap
is real.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1579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999"/>
                </a:solidFill>
                <a:latin typeface="Calibri"/>
              </a:rPr>
              <a:t>No Indian brand has shipped a product that combines
thermochromic reveal + modular carry + accessory integration.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743200"/>
            <a:ext cx="5486400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279806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OUR CUSTOMER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072384"/>
            <a:ext cx="54864" cy="2743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31089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E500"/>
                </a:solidFill>
                <a:latin typeface="Calibri"/>
              </a:rPr>
              <a:t>18–30 years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401568"/>
            <a:ext cx="54864" cy="2743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34381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Urban India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730752"/>
            <a:ext cx="54864" cy="274320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7673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6F135"/>
                </a:solidFill>
                <a:latin typeface="Calibri"/>
              </a:rPr>
              <a:t>Fashion-forward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4059936"/>
            <a:ext cx="54864" cy="2743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40965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Spends ₹5K–9K on items that do not talk to each other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43525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ourier New"/>
              </a:rPr>
              <a:t>Note: We are not making market size claims without primary research.
Batch 01 — 100 units — is our market test.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01168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E500"/>
                </a:solidFill>
                <a:latin typeface="League Spartan"/>
              </a:rPr>
              <a:t>WHAT
WE
KNOW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536192"/>
            <a:ext cx="45720" cy="621792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1344" y="157276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6F135"/>
                </a:solidFill>
                <a:latin typeface="Courier New"/>
              </a:rPr>
              <a:t>The customer exists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We are that customer.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231136"/>
            <a:ext cx="45720" cy="6217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226771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E500"/>
                </a:solidFill>
                <a:latin typeface="Courier New"/>
              </a:rPr>
              <a:t>The gap is real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2523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Nobody else is in 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926080"/>
            <a:ext cx="457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81344" y="296265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ourier New"/>
              </a:rPr>
              <a:t>The model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32186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Limited drops proven globally.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2801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C6F135"/>
                </a:solidFill>
                <a:latin typeface="League Spartan"/>
              </a:rPr>
              <a:t>CURRENT STAGE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51206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Honest about where we are. Clear about what we have done.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22960"/>
            <a:ext cx="1426464" cy="402336"/>
          </a:xfrm>
          <a:prstGeom prst="rect">
            <a:avLst/>
          </a:prstGeom>
          <a:solidFill>
            <a:srgbClr val="162204"/>
          </a:solidFill>
          <a:ln w="508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859536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6F135"/>
                </a:solidFill>
                <a:latin typeface="Calibri"/>
              </a:rPr>
              <a:t>Idea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822960"/>
            <a:ext cx="1426464" cy="402336"/>
          </a:xfrm>
          <a:prstGeom prst="rect">
            <a:avLst/>
          </a:prstGeom>
          <a:solidFill>
            <a:srgbClr val="162204"/>
          </a:solidFill>
          <a:ln w="508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859536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6F135"/>
                </a:solidFill>
                <a:latin typeface="Calibri"/>
              </a:rPr>
              <a:t>Concept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822960"/>
            <a:ext cx="1426464" cy="402336"/>
          </a:xfrm>
          <a:prstGeom prst="rect">
            <a:avLst/>
          </a:prstGeom>
          <a:solidFill>
            <a:srgbClr val="162204"/>
          </a:solidFill>
          <a:ln w="508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859536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6F135"/>
                </a:solidFill>
                <a:latin typeface="Calibri"/>
              </a:rPr>
              <a:t>Spec &amp; Tech Sheets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822960"/>
            <a:ext cx="1426464" cy="402336"/>
          </a:xfrm>
          <a:prstGeom prst="rect">
            <a:avLst/>
          </a:prstGeom>
          <a:solidFill>
            <a:srgbClr val="201C00"/>
          </a:solidFill>
          <a:ln w="1524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859536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E500"/>
                </a:solidFill>
                <a:latin typeface="Calibri"/>
              </a:rPr>
              <a:t>Prototype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22960"/>
            <a:ext cx="1426464" cy="402336"/>
          </a:xfrm>
          <a:prstGeom prst="rect">
            <a:avLst/>
          </a:prstGeom>
          <a:solidFill>
            <a:srgbClr val="1A1A1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859536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Pilot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822960"/>
            <a:ext cx="1426464" cy="402336"/>
          </a:xfrm>
          <a:prstGeom prst="rect">
            <a:avLst/>
          </a:prstGeom>
          <a:solidFill>
            <a:srgbClr val="1A1A1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859536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Calibri"/>
              </a:rPr>
              <a:t>Batch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26187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E500"/>
                </a:solidFill>
                <a:latin typeface="Courier New"/>
              </a:rPr>
              <a:t>▲ Building now 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554480"/>
            <a:ext cx="4206240" cy="3328416"/>
          </a:xfrm>
          <a:prstGeom prst="rect">
            <a:avLst/>
          </a:prstGeom>
          <a:solidFill>
            <a:srgbClr val="111111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1554480"/>
            <a:ext cx="4206240" cy="45720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16276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WHAT EXISTS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" y="1883664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6F135"/>
                </a:solidFill>
                <a:latin typeface="Calibri"/>
              </a:rPr>
              <a:t>✓  Full concept &amp; module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" y="2176272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6F135"/>
                </a:solidFill>
                <a:latin typeface="Calibri"/>
              </a:rPr>
              <a:t>✓  Technical specification sheets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" y="2468880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6F135"/>
                </a:solidFill>
                <a:latin typeface="Calibri"/>
              </a:rPr>
              <a:t>✓  Material &amp; hardware specified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" y="2761488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6F135"/>
                </a:solidFill>
                <a:latin typeface="Calibri"/>
              </a:rPr>
              <a:t>✓  Brand identity &amp; name rationale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" y="3054096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6F135"/>
                </a:solidFill>
                <a:latin typeface="Calibri"/>
              </a:rPr>
              <a:t>✓  Password-gated pitch website (live)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" y="3346704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6F135"/>
                </a:solidFill>
                <a:latin typeface="Calibri"/>
              </a:rPr>
              <a:t>✓  Drop mechanics fully designed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" y="3639312"/>
            <a:ext cx="3986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6F135"/>
                </a:solidFill>
                <a:latin typeface="Calibri"/>
              </a:rPr>
              <a:t>✓  Prebooking model structured (10 spots @ ₹1K)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554480"/>
            <a:ext cx="4389120" cy="3328416"/>
          </a:xfrm>
          <a:prstGeom prst="rect">
            <a:avLst/>
          </a:prstGeom>
          <a:solidFill>
            <a:srgbClr val="111111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1554480"/>
            <a:ext cx="438912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162763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WHAT IVI HELPS US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1883664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E500"/>
                </a:solidFill>
                <a:latin typeface="Calibri"/>
              </a:rPr>
              <a:t>→  Physical prototype — all 4 modules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2176272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E500"/>
                </a:solidFill>
                <a:latin typeface="Calibri"/>
              </a:rPr>
              <a:t>→  Chennai manufacturer introductions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0016" y="2468880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E500"/>
                </a:solidFill>
                <a:latin typeface="Calibri"/>
              </a:rPr>
              <a:t>→  Thermochromic sourcing &amp;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0016" y="2761488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E500"/>
                </a:solidFill>
                <a:latin typeface="Calibri"/>
              </a:rPr>
              <a:t>→  Wear test with real users (target: 10)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0016" y="3054096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→  Design IP guidance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0016" y="3346704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→  D2C brand building mentorship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38928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566160"/>
            <a:ext cx="9144000" cy="1572768"/>
          </a:xfrm>
          <a:prstGeom prst="rect">
            <a:avLst/>
          </a:prstGeom>
          <a:solidFill>
            <a:srgbClr val="20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566160"/>
            <a:ext cx="914400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2801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E500"/>
                </a:solidFill>
                <a:latin typeface="League Spartan"/>
              </a:rPr>
              <a:t>ROADMAP &amp; WHY IVI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1206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Three phases. Specific asks. Not fundraising.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822960"/>
            <a:ext cx="2779776" cy="2596896"/>
          </a:xfrm>
          <a:prstGeom prst="rect">
            <a:avLst/>
          </a:prstGeom>
          <a:solidFill>
            <a:srgbClr val="1A1A1A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822960"/>
            <a:ext cx="2779776" cy="45720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896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896112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ourier New"/>
              </a:rPr>
              <a:t>Months 1–3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115214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League Spartan"/>
              </a:rPr>
              <a:t>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591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—  Build all 4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19019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—  Thermochromic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2212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—  Wear test × 10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25237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—  Refine based on feedback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72384" y="822960"/>
            <a:ext cx="2779776" cy="2596896"/>
          </a:xfrm>
          <a:prstGeom prst="rect">
            <a:avLst/>
          </a:prstGeom>
          <a:solidFill>
            <a:srgbClr val="1A1A1A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72384" y="822960"/>
            <a:ext cx="2779776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82112" y="896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896112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ourier New"/>
              </a:rPr>
              <a:t>Months 4–6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115214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League Spartan"/>
              </a:rP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2112" y="1591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—  User feedback loops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19019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—  Material finalization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112" y="2212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—  Production vendor lock-in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25237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—  File design 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61888" y="822960"/>
            <a:ext cx="2779776" cy="2596896"/>
          </a:xfrm>
          <a:prstGeom prst="rect">
            <a:avLst/>
          </a:prstGeom>
          <a:solidFill>
            <a:srgbClr val="1A1A1A"/>
          </a:solidFill>
          <a:ln w="635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61888" y="822960"/>
            <a:ext cx="2779776" cy="457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896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2D78"/>
                </a:solidFill>
                <a:latin typeface="Courier New"/>
              </a:rPr>
              <a:t>PHASE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896112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ourier New"/>
              </a:rPr>
              <a:t>Months 6–9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1616" y="115214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League Spartan"/>
              </a:rPr>
              <a:t>Batch 01 Drop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1616" y="1591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—  100 units manufactured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1616" y="19019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—  10 pre-book @ ₹1K deposit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71616" y="2212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—  Drop day: 90 units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71616" y="25237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—  Learn from sell-through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657600"/>
            <a:ext cx="5120640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371246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WHY IVI SPECIFICALLY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986784"/>
            <a:ext cx="45720" cy="256032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" y="4005072"/>
            <a:ext cx="4901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  <a:latin typeface="Calibri"/>
              </a:rPr>
              <a:t>Chennai ecosystem access — textile + garment manufacturer network for Batch 01 production.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4297680"/>
            <a:ext cx="45720" cy="25603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" y="4315968"/>
            <a:ext cx="4901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  <a:latin typeface="Calibri"/>
              </a:rPr>
              <a:t>Mentorship in D2C brand building — product cult over product launch.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4608576"/>
            <a:ext cx="45720" cy="25603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" y="4626864"/>
            <a:ext cx="4901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  <a:latin typeface="Calibri"/>
              </a:rPr>
              <a:t>Peer cohort — early-stage founders who think in systems.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4919472"/>
            <a:ext cx="45720" cy="256032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0896" y="4937760"/>
            <a:ext cx="4901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  <a:latin typeface="Calibri"/>
              </a:rPr>
              <a:t>Design IP guidance — protecting the fold mechanism before production.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3657600"/>
            <a:ext cx="3474720" cy="1426464"/>
          </a:xfrm>
          <a:prstGeom prst="rect">
            <a:avLst/>
          </a:prstGeom>
          <a:solidFill>
            <a:srgbClr val="1A1A1A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0" y="3657600"/>
            <a:ext cx="347472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96128" y="373075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FUNDING ASK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96128" y="396849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League Spartan"/>
              </a:rPr>
              <a:t>Open to discussion.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6128" y="4334256"/>
            <a:ext cx="32918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  <a:latin typeface="Calibri"/>
              </a:rPr>
              <a:t>Primary ask: mentorship + network. If funding available, it goes toward prototype tooling, material sourcing, and IP filing.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4008" cy="5138928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2801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C6F135"/>
                </a:solidFill>
                <a:latin typeface="League Spartan"/>
              </a:rPr>
              <a:t>THE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1206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ourier New"/>
              </a:rPr>
              <a:t>Why us. Why now. Why Chennai.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822960"/>
            <a:ext cx="4206240" cy="2286000"/>
          </a:xfrm>
          <a:prstGeom prst="rect">
            <a:avLst/>
          </a:prstGeom>
          <a:solidFill>
            <a:srgbClr val="1A1A1A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822960"/>
            <a:ext cx="4206240" cy="45720"/>
          </a:xfrm>
          <a:prstGeom prst="rect">
            <a:avLst/>
          </a:prstGeom>
          <a:solidFill>
            <a:srgbClr val="C6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950976"/>
            <a:ext cx="1005840" cy="1005840"/>
          </a:xfrm>
          <a:prstGeom prst="rect">
            <a:avLst/>
          </a:prstGeom>
          <a:solidFill>
            <a:srgbClr val="162204"/>
          </a:solidFill>
          <a:ln w="508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0972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6F135"/>
                </a:solidFill>
                <a:latin typeface="Calibri"/>
              </a:rPr>
              <a:t>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96926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18872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League Spartan"/>
              </a:rPr>
              <a:t>[ Your Name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60934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Product design · Concept development
Chennai,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2029968"/>
            <a:ext cx="39867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  <a:latin typeface="Calibri"/>
              </a:rPr>
              <a:t>[ Your background in 2 lines —
why you specifically are building this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822960"/>
            <a:ext cx="4206240" cy="2286000"/>
          </a:xfrm>
          <a:prstGeom prst="rect">
            <a:avLst/>
          </a:prstGeom>
          <a:solidFill>
            <a:srgbClr val="1A1A1A"/>
          </a:solidFill>
          <a:ln w="635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822960"/>
            <a:ext cx="420624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4608" y="950976"/>
            <a:ext cx="1005840" cy="1005840"/>
          </a:xfrm>
          <a:prstGeom prst="rect">
            <a:avLst/>
          </a:prstGeom>
          <a:solidFill>
            <a:srgbClr val="201C00"/>
          </a:solidFill>
          <a:ln w="508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10972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E500"/>
                </a:solidFill>
                <a:latin typeface="Calibri"/>
              </a:rPr>
              <a:t>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96926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CO-FOUNDER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118872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League Spartan"/>
              </a:rPr>
              <a:t>[ Co-Founder Name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0176" y="160934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[ Role — e.g. Operations · Manufacturing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2029968"/>
            <a:ext cx="39867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  <a:latin typeface="Calibri"/>
              </a:rPr>
              <a:t>[ Co-founder background in 2 lines —
what they bring to NUUL specifically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236976"/>
            <a:ext cx="8778240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32918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ROLE SPLIT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566160"/>
            <a:ext cx="2121408" cy="749808"/>
          </a:xfrm>
          <a:prstGeom prst="rect">
            <a:avLst/>
          </a:prstGeom>
          <a:solidFill>
            <a:srgbClr val="1A1A1A"/>
          </a:solidFill>
          <a:ln w="508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36210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6F135"/>
                </a:solidFill>
                <a:latin typeface="Courier New"/>
              </a:rPr>
              <a:t>Product &amp;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" y="387705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[ Founder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566160"/>
            <a:ext cx="2121408" cy="749808"/>
          </a:xfrm>
          <a:prstGeom prst="rect">
            <a:avLst/>
          </a:prstGeom>
          <a:solidFill>
            <a:srgbClr val="1A1A1A"/>
          </a:solidFill>
          <a:ln w="5080">
            <a:solidFill>
              <a:srgbClr val="FFE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87168" y="36210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E500"/>
                </a:solidFill>
                <a:latin typeface="Courier New"/>
              </a:rPr>
              <a:t>Manufacturing &amp; 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387705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[ Co-Founder 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566160"/>
            <a:ext cx="2121408" cy="749808"/>
          </a:xfrm>
          <a:prstGeom prst="rect">
            <a:avLst/>
          </a:prstGeom>
          <a:solidFill>
            <a:srgbClr val="1A1A1A"/>
          </a:solidFill>
          <a:ln w="508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36210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2D78"/>
                </a:solidFill>
                <a:latin typeface="Courier New"/>
              </a:rPr>
              <a:t>Brand &amp; Marketing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1728" y="387705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[ Founder 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566160"/>
            <a:ext cx="2121408" cy="749808"/>
          </a:xfrm>
          <a:prstGeom prst="rect">
            <a:avLst/>
          </a:prstGeom>
          <a:solidFill>
            <a:srgbClr val="1A1A1A"/>
          </a:solidFill>
          <a:ln w="508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288" y="36210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99999"/>
                </a:solidFill>
                <a:latin typeface="Courier New"/>
              </a:rPr>
              <a:t>Finance &amp; Strategy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387705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Calibri"/>
              </a:rPr>
              <a:t>Shared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4462272"/>
            <a:ext cx="8778240" cy="512064"/>
          </a:xfrm>
          <a:prstGeom prst="rect">
            <a:avLst/>
          </a:prstGeom>
          <a:solidFill>
            <a:srgbClr val="162204"/>
          </a:solidFill>
          <a:ln w="6350">
            <a:solidFill>
              <a:srgbClr val="C6F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" y="4517136"/>
            <a:ext cx="8558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F135"/>
                </a:solidFill>
                <a:latin typeface="League Spartan"/>
              </a:rPr>
              <a:t>"NUUL started at zero — no borrowed credibility, no external brief. That is the point."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